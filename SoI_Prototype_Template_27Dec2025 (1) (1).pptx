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5" name="Google Shape;5;n"/>
          <p:cNvSpPr txBox="1"/>
          <p:nvPr>
            <p:ph idx="3" type="hdr"/>
          </p:nvPr>
        </p:nvSpPr>
        <p:spPr>
          <a:xfrm>
            <a:off x="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 name="Google Shape;6;n"/>
          <p:cNvSpPr txBox="1"/>
          <p:nvPr>
            <p:ph idx="10" type="dt"/>
          </p:nvPr>
        </p:nvSpPr>
        <p:spPr>
          <a:xfrm>
            <a:off x="4278960" y="0"/>
            <a:ext cx="3280680" cy="534240"/>
          </a:xfrm>
          <a:prstGeom prst="rect">
            <a:avLst/>
          </a:prstGeom>
          <a:noFill/>
          <a:ln>
            <a:noFill/>
          </a:ln>
        </p:spPr>
        <p:txBody>
          <a:bodyPr anchorCtr="0" anchor="t" bIns="0" lIns="0" spcFirstLastPara="1" rIns="0" wrap="square" tIns="0">
            <a:noAutofit/>
          </a:bodyPr>
          <a:lstStyle>
            <a:lvl1pPr lvl="0" marR="0" rtl="0" algn="r">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10157400"/>
            <a:ext cx="3280680" cy="53424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 name="Shape 14"/>
        <p:cNvGrpSpPr/>
        <p:nvPr/>
      </p:nvGrpSpPr>
      <p:grpSpPr>
        <a:xfrm>
          <a:off x="0" y="0"/>
          <a:ext cx="0" cy="0"/>
          <a:chOff x="0" y="0"/>
          <a:chExt cx="0" cy="0"/>
        </a:xfrm>
      </p:grpSpPr>
      <p:sp>
        <p:nvSpPr>
          <p:cNvPr id="15" name="Google Shape;1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 name="Google Shape;16;p1:notes"/>
          <p:cNvSpPr txBox="1"/>
          <p:nvPr>
            <p:ph idx="1" type="body"/>
          </p:nvPr>
        </p:nvSpPr>
        <p:spPr>
          <a:xfrm>
            <a:off x="685800" y="4400640"/>
            <a:ext cx="5486040" cy="36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Font typeface="Arial"/>
              <a:buNone/>
            </a:pPr>
            <a:r>
              <a:t/>
            </a:r>
            <a:endParaRPr b="0" sz="1800" u="none" strike="noStrike">
              <a:solidFill>
                <a:srgbClr val="000000"/>
              </a:solidFill>
              <a:latin typeface="Arial"/>
              <a:ea typeface="Arial"/>
              <a:cs typeface="Arial"/>
              <a:sym typeface="Arial"/>
            </a:endParaRPr>
          </a:p>
        </p:txBody>
      </p:sp>
      <p:sp>
        <p:nvSpPr>
          <p:cNvPr id="17" name="Google Shape;17;p1:notes"/>
          <p:cNvSpPr txBox="1"/>
          <p:nvPr>
            <p:ph idx="12" type="sldNum"/>
          </p:nvPr>
        </p:nvSpPr>
        <p:spPr>
          <a:xfrm>
            <a:off x="3884760" y="8685360"/>
            <a:ext cx="2971440" cy="4582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 name="Google Shape;28;p2:notes"/>
          <p:cNvSpPr txBox="1"/>
          <p:nvPr>
            <p:ph idx="1" type="body"/>
          </p:nvPr>
        </p:nvSpPr>
        <p:spPr>
          <a:xfrm>
            <a:off x="685800" y="4400640"/>
            <a:ext cx="5486040" cy="36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Font typeface="Arial"/>
              <a:buNone/>
            </a:pPr>
            <a:r>
              <a:t/>
            </a:r>
            <a:endParaRPr b="0" sz="1800" u="none" strike="noStrike">
              <a:solidFill>
                <a:srgbClr val="000000"/>
              </a:solidFill>
              <a:latin typeface="Arial"/>
              <a:ea typeface="Arial"/>
              <a:cs typeface="Arial"/>
              <a:sym typeface="Arial"/>
            </a:endParaRPr>
          </a:p>
        </p:txBody>
      </p:sp>
      <p:sp>
        <p:nvSpPr>
          <p:cNvPr id="29" name="Google Shape;29;p2:notes"/>
          <p:cNvSpPr txBox="1"/>
          <p:nvPr>
            <p:ph idx="12" type="sldNum"/>
          </p:nvPr>
        </p:nvSpPr>
        <p:spPr>
          <a:xfrm>
            <a:off x="3884760" y="8685360"/>
            <a:ext cx="2971440" cy="4582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1" name="Google Shape;51;p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 name="Google Shape;76;p4:notes"/>
          <p:cNvSpPr txBox="1"/>
          <p:nvPr>
            <p:ph idx="1" type="body"/>
          </p:nvPr>
        </p:nvSpPr>
        <p:spPr>
          <a:xfrm>
            <a:off x="685800" y="4400640"/>
            <a:ext cx="5486040" cy="36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Font typeface="Arial"/>
              <a:buNone/>
            </a:pPr>
            <a:r>
              <a:t/>
            </a:r>
            <a:endParaRPr b="0" sz="1800" u="none" strike="noStrike">
              <a:solidFill>
                <a:srgbClr val="000000"/>
              </a:solidFill>
              <a:latin typeface="Arial"/>
              <a:ea typeface="Arial"/>
              <a:cs typeface="Arial"/>
              <a:sym typeface="Arial"/>
            </a:endParaRPr>
          </a:p>
        </p:txBody>
      </p:sp>
      <p:sp>
        <p:nvSpPr>
          <p:cNvPr id="77" name="Google Shape;77;p4:notes"/>
          <p:cNvSpPr txBox="1"/>
          <p:nvPr>
            <p:ph idx="12" type="sldNum"/>
          </p:nvPr>
        </p:nvSpPr>
        <p:spPr>
          <a:xfrm>
            <a:off x="3884760" y="8685360"/>
            <a:ext cx="2971440" cy="4582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 name="Google Shape;100;p5:notes"/>
          <p:cNvSpPr txBox="1"/>
          <p:nvPr>
            <p:ph idx="1" type="body"/>
          </p:nvPr>
        </p:nvSpPr>
        <p:spPr>
          <a:xfrm>
            <a:off x="685800" y="4400640"/>
            <a:ext cx="5486040" cy="36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Font typeface="Arial"/>
              <a:buNone/>
            </a:pPr>
            <a:r>
              <a:t/>
            </a:r>
            <a:endParaRPr b="0" sz="1800" u="none" strike="noStrike">
              <a:solidFill>
                <a:srgbClr val="000000"/>
              </a:solidFill>
              <a:latin typeface="Arial"/>
              <a:ea typeface="Arial"/>
              <a:cs typeface="Arial"/>
              <a:sym typeface="Arial"/>
            </a:endParaRPr>
          </a:p>
        </p:txBody>
      </p:sp>
      <p:sp>
        <p:nvSpPr>
          <p:cNvPr id="101" name="Google Shape;101;p5:notes"/>
          <p:cNvSpPr txBox="1"/>
          <p:nvPr>
            <p:ph idx="12" type="sldNum"/>
          </p:nvPr>
        </p:nvSpPr>
        <p:spPr>
          <a:xfrm>
            <a:off x="3884760" y="8685360"/>
            <a:ext cx="2971440" cy="4582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 name="Google Shape;139;p6:notes"/>
          <p:cNvSpPr txBox="1"/>
          <p:nvPr>
            <p:ph idx="1" type="body"/>
          </p:nvPr>
        </p:nvSpPr>
        <p:spPr>
          <a:xfrm>
            <a:off x="685800" y="4400640"/>
            <a:ext cx="5486040" cy="36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Font typeface="Arial"/>
              <a:buNone/>
            </a:pPr>
            <a:r>
              <a:t/>
            </a:r>
            <a:endParaRPr b="0" sz="1800" u="none" strike="noStrike">
              <a:solidFill>
                <a:srgbClr val="000000"/>
              </a:solidFill>
              <a:latin typeface="Arial"/>
              <a:ea typeface="Arial"/>
              <a:cs typeface="Arial"/>
              <a:sym typeface="Arial"/>
            </a:endParaRPr>
          </a:p>
        </p:txBody>
      </p:sp>
      <p:sp>
        <p:nvSpPr>
          <p:cNvPr id="140" name="Google Shape;140;p6:notes"/>
          <p:cNvSpPr txBox="1"/>
          <p:nvPr>
            <p:ph idx="12" type="sldNum"/>
          </p:nvPr>
        </p:nvSpPr>
        <p:spPr>
          <a:xfrm>
            <a:off x="3884760" y="8685360"/>
            <a:ext cx="2971440" cy="4582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8" name="Google Shape;168;p8:notes"/>
          <p:cNvSpPr txBox="1"/>
          <p:nvPr>
            <p:ph idx="1" type="body"/>
          </p:nvPr>
        </p:nvSpPr>
        <p:spPr>
          <a:xfrm>
            <a:off x="685800" y="4400640"/>
            <a:ext cx="5486040" cy="36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Font typeface="Arial"/>
              <a:buNone/>
            </a:pPr>
            <a:r>
              <a:t/>
            </a:r>
            <a:endParaRPr b="0" sz="1800" u="none" strike="noStrike">
              <a:solidFill>
                <a:srgbClr val="000000"/>
              </a:solidFill>
              <a:latin typeface="Arial"/>
              <a:ea typeface="Arial"/>
              <a:cs typeface="Arial"/>
              <a:sym typeface="Arial"/>
            </a:endParaRPr>
          </a:p>
        </p:txBody>
      </p:sp>
      <p:sp>
        <p:nvSpPr>
          <p:cNvPr id="169" name="Google Shape;169;p8:notes"/>
          <p:cNvSpPr txBox="1"/>
          <p:nvPr>
            <p:ph idx="12" type="sldNum"/>
          </p:nvPr>
        </p:nvSpPr>
        <p:spPr>
          <a:xfrm>
            <a:off x="3884760" y="8685360"/>
            <a:ext cx="2971440" cy="4582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 name="Google Shape;201;p9:notes"/>
          <p:cNvSpPr txBox="1"/>
          <p:nvPr>
            <p:ph idx="1" type="body"/>
          </p:nvPr>
        </p:nvSpPr>
        <p:spPr>
          <a:xfrm>
            <a:off x="685800" y="4400640"/>
            <a:ext cx="5486040" cy="36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Font typeface="Arial"/>
              <a:buNone/>
            </a:pPr>
            <a:r>
              <a:t/>
            </a:r>
            <a:endParaRPr b="0" sz="1800" u="none" strike="noStrike">
              <a:solidFill>
                <a:srgbClr val="000000"/>
              </a:solidFill>
              <a:latin typeface="Arial"/>
              <a:ea typeface="Arial"/>
              <a:cs typeface="Arial"/>
              <a:sym typeface="Arial"/>
            </a:endParaRPr>
          </a:p>
        </p:txBody>
      </p:sp>
      <p:sp>
        <p:nvSpPr>
          <p:cNvPr id="202" name="Google Shape;202;p9:notes"/>
          <p:cNvSpPr txBox="1"/>
          <p:nvPr>
            <p:ph idx="12" type="sldNum"/>
          </p:nvPr>
        </p:nvSpPr>
        <p:spPr>
          <a:xfrm>
            <a:off x="3884760" y="8685360"/>
            <a:ext cx="2971440" cy="4582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1" name="Google Shape;221;p10:notes"/>
          <p:cNvSpPr txBox="1"/>
          <p:nvPr>
            <p:ph idx="1" type="body"/>
          </p:nvPr>
        </p:nvSpPr>
        <p:spPr>
          <a:xfrm>
            <a:off x="685800" y="4400640"/>
            <a:ext cx="5486040" cy="36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Font typeface="Arial"/>
              <a:buNone/>
            </a:pPr>
            <a:r>
              <a:t/>
            </a:r>
            <a:endParaRPr b="0" sz="1800" u="none" strike="noStrike">
              <a:solidFill>
                <a:srgbClr val="000000"/>
              </a:solidFill>
              <a:latin typeface="Arial"/>
              <a:ea typeface="Arial"/>
              <a:cs typeface="Arial"/>
              <a:sym typeface="Arial"/>
            </a:endParaRPr>
          </a:p>
        </p:txBody>
      </p:sp>
      <p:sp>
        <p:nvSpPr>
          <p:cNvPr id="222" name="Google Shape;222;p10:notes"/>
          <p:cNvSpPr txBox="1"/>
          <p:nvPr>
            <p:ph idx="12" type="sldNum"/>
          </p:nvPr>
        </p:nvSpPr>
        <p:spPr>
          <a:xfrm>
            <a:off x="3884760" y="8685360"/>
            <a:ext cx="2971440" cy="4582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1" name="Google Shape;261;p11:notes"/>
          <p:cNvSpPr txBox="1"/>
          <p:nvPr>
            <p:ph idx="1" type="body"/>
          </p:nvPr>
        </p:nvSpPr>
        <p:spPr>
          <a:xfrm>
            <a:off x="685800" y="4400640"/>
            <a:ext cx="5486040" cy="36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Font typeface="Arial"/>
              <a:buNone/>
            </a:pPr>
            <a:r>
              <a:t/>
            </a:r>
            <a:endParaRPr b="0" sz="1800" u="none" strike="noStrike">
              <a:solidFill>
                <a:srgbClr val="000000"/>
              </a:solidFill>
              <a:latin typeface="Arial"/>
              <a:ea typeface="Arial"/>
              <a:cs typeface="Arial"/>
              <a:sym typeface="Arial"/>
            </a:endParaRPr>
          </a:p>
        </p:txBody>
      </p:sp>
      <p:sp>
        <p:nvSpPr>
          <p:cNvPr id="262" name="Google Shape;262;p11:notes"/>
          <p:cNvSpPr txBox="1"/>
          <p:nvPr>
            <p:ph idx="12" type="sldNum"/>
          </p:nvPr>
        </p:nvSpPr>
        <p:spPr>
          <a:xfrm>
            <a:off x="3884760" y="8685360"/>
            <a:ext cx="2971440" cy="4582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9" name="Google Shape;309;p12:notes"/>
          <p:cNvSpPr txBox="1"/>
          <p:nvPr>
            <p:ph idx="1" type="body"/>
          </p:nvPr>
        </p:nvSpPr>
        <p:spPr>
          <a:xfrm>
            <a:off x="685800" y="4400640"/>
            <a:ext cx="5486040" cy="36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Font typeface="Arial"/>
              <a:buNone/>
            </a:pPr>
            <a:r>
              <a:t/>
            </a:r>
            <a:endParaRPr b="0" sz="1800" u="none" strike="noStrike">
              <a:solidFill>
                <a:srgbClr val="000000"/>
              </a:solidFill>
              <a:latin typeface="Arial"/>
              <a:ea typeface="Arial"/>
              <a:cs typeface="Arial"/>
              <a:sym typeface="Arial"/>
            </a:endParaRPr>
          </a:p>
        </p:txBody>
      </p:sp>
      <p:sp>
        <p:nvSpPr>
          <p:cNvPr id="310" name="Google Shape;310;p12:notes"/>
          <p:cNvSpPr txBox="1"/>
          <p:nvPr>
            <p:ph idx="12" type="sldNum"/>
          </p:nvPr>
        </p:nvSpPr>
        <p:spPr>
          <a:xfrm>
            <a:off x="3884760" y="8685360"/>
            <a:ext cx="2971440" cy="4582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2" name="Google Shape;332;p13:notes"/>
          <p:cNvSpPr txBox="1"/>
          <p:nvPr>
            <p:ph idx="1" type="body"/>
          </p:nvPr>
        </p:nvSpPr>
        <p:spPr>
          <a:xfrm>
            <a:off x="685800" y="4400640"/>
            <a:ext cx="5486040" cy="36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Font typeface="Arial"/>
              <a:buNone/>
            </a:pPr>
            <a:r>
              <a:t/>
            </a:r>
            <a:endParaRPr b="0" sz="1800" u="none" strike="noStrike">
              <a:solidFill>
                <a:srgbClr val="000000"/>
              </a:solidFill>
              <a:latin typeface="Arial"/>
              <a:ea typeface="Arial"/>
              <a:cs typeface="Arial"/>
              <a:sym typeface="Arial"/>
            </a:endParaRPr>
          </a:p>
        </p:txBody>
      </p:sp>
      <p:sp>
        <p:nvSpPr>
          <p:cNvPr id="333" name="Google Shape;333;p13:notes"/>
          <p:cNvSpPr txBox="1"/>
          <p:nvPr>
            <p:ph idx="12" type="sldNum"/>
          </p:nvPr>
        </p:nvSpPr>
        <p:spPr>
          <a:xfrm>
            <a:off x="3884760" y="8685360"/>
            <a:ext cx="2971440" cy="4582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8" name="Google Shape;368;p14:notes"/>
          <p:cNvSpPr txBox="1"/>
          <p:nvPr>
            <p:ph idx="1" type="body"/>
          </p:nvPr>
        </p:nvSpPr>
        <p:spPr>
          <a:xfrm>
            <a:off x="685800" y="4400640"/>
            <a:ext cx="5486040" cy="36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Font typeface="Arial"/>
              <a:buNone/>
            </a:pPr>
            <a:r>
              <a:t/>
            </a:r>
            <a:endParaRPr b="0" sz="1800" u="none" strike="noStrike">
              <a:solidFill>
                <a:srgbClr val="000000"/>
              </a:solidFill>
              <a:latin typeface="Arial"/>
              <a:ea typeface="Arial"/>
              <a:cs typeface="Arial"/>
              <a:sym typeface="Arial"/>
            </a:endParaRPr>
          </a:p>
        </p:txBody>
      </p:sp>
      <p:sp>
        <p:nvSpPr>
          <p:cNvPr id="369" name="Google Shape;369;p14:notes"/>
          <p:cNvSpPr txBox="1"/>
          <p:nvPr>
            <p:ph idx="12" type="sldNum"/>
          </p:nvPr>
        </p:nvSpPr>
        <p:spPr>
          <a:xfrm>
            <a:off x="3884760" y="8685360"/>
            <a:ext cx="2971440" cy="4582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2" name="Google Shape;402;p15:notes"/>
          <p:cNvSpPr txBox="1"/>
          <p:nvPr>
            <p:ph idx="1" type="body"/>
          </p:nvPr>
        </p:nvSpPr>
        <p:spPr>
          <a:xfrm>
            <a:off x="685800" y="4400640"/>
            <a:ext cx="5486040" cy="36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Font typeface="Arial"/>
              <a:buNone/>
            </a:pPr>
            <a:r>
              <a:t/>
            </a:r>
            <a:endParaRPr b="0" sz="1800" u="none" strike="noStrike">
              <a:solidFill>
                <a:srgbClr val="000000"/>
              </a:solidFill>
              <a:latin typeface="Arial"/>
              <a:ea typeface="Arial"/>
              <a:cs typeface="Arial"/>
              <a:sym typeface="Arial"/>
            </a:endParaRPr>
          </a:p>
        </p:txBody>
      </p:sp>
      <p:sp>
        <p:nvSpPr>
          <p:cNvPr id="403" name="Google Shape;403;p15:notes"/>
          <p:cNvSpPr txBox="1"/>
          <p:nvPr>
            <p:ph idx="12" type="sldNum"/>
          </p:nvPr>
        </p:nvSpPr>
        <p:spPr>
          <a:xfrm>
            <a:off x="3884760" y="8685360"/>
            <a:ext cx="2971440" cy="4582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8" name="Google Shape;438;p16:notes"/>
          <p:cNvSpPr txBox="1"/>
          <p:nvPr>
            <p:ph idx="1" type="body"/>
          </p:nvPr>
        </p:nvSpPr>
        <p:spPr>
          <a:xfrm>
            <a:off x="685800" y="4400640"/>
            <a:ext cx="5486040" cy="36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Font typeface="Arial"/>
              <a:buNone/>
            </a:pPr>
            <a:r>
              <a:t/>
            </a:r>
            <a:endParaRPr b="0" sz="1800" u="none" strike="noStrike">
              <a:solidFill>
                <a:srgbClr val="000000"/>
              </a:solidFill>
              <a:latin typeface="Arial"/>
              <a:ea typeface="Arial"/>
              <a:cs typeface="Arial"/>
              <a:sym typeface="Arial"/>
            </a:endParaRPr>
          </a:p>
        </p:txBody>
      </p:sp>
      <p:sp>
        <p:nvSpPr>
          <p:cNvPr id="439" name="Google Shape;439;p16:notes"/>
          <p:cNvSpPr txBox="1"/>
          <p:nvPr>
            <p:ph idx="12" type="sldNum"/>
          </p:nvPr>
        </p:nvSpPr>
        <p:spPr>
          <a:xfrm>
            <a:off x="3884760" y="8685360"/>
            <a:ext cx="2971440" cy="4582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0" name="Google Shape;460;p17:notes"/>
          <p:cNvSpPr txBox="1"/>
          <p:nvPr>
            <p:ph idx="1" type="body"/>
          </p:nvPr>
        </p:nvSpPr>
        <p:spPr>
          <a:xfrm>
            <a:off x="685800" y="4400640"/>
            <a:ext cx="5486040" cy="36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Font typeface="Arial"/>
              <a:buNone/>
            </a:pPr>
            <a:r>
              <a:t/>
            </a:r>
            <a:endParaRPr b="0" sz="1800" u="none" strike="noStrike">
              <a:solidFill>
                <a:srgbClr val="000000"/>
              </a:solidFill>
              <a:latin typeface="Arial"/>
              <a:ea typeface="Arial"/>
              <a:cs typeface="Arial"/>
              <a:sym typeface="Arial"/>
            </a:endParaRPr>
          </a:p>
        </p:txBody>
      </p:sp>
      <p:sp>
        <p:nvSpPr>
          <p:cNvPr id="461" name="Google Shape;461;p17:notes"/>
          <p:cNvSpPr txBox="1"/>
          <p:nvPr>
            <p:ph idx="12" type="sldNum"/>
          </p:nvPr>
        </p:nvSpPr>
        <p:spPr>
          <a:xfrm>
            <a:off x="3884760" y="8685360"/>
            <a:ext cx="2971440" cy="4582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type="blank">
  <p:cSld name="BLANK">
    <p:spTree>
      <p:nvGrpSpPr>
        <p:cNvPr id="13"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2" type="sldNum"/>
          </p:nvPr>
        </p:nvSpPr>
        <p:spPr>
          <a:xfrm>
            <a:off x="10972800" y="6356350"/>
            <a:ext cx="3810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Calibri"/>
                <a:ea typeface="Calibri"/>
                <a:cs typeface="Calibri"/>
                <a:sym typeface="Calibri"/>
              </a:defRPr>
            </a:lvl1pPr>
            <a:lvl2pPr indent="0" lvl="1" marL="0" marR="0" rtl="0" algn="r">
              <a:spcBef>
                <a:spcPts val="0"/>
              </a:spcBef>
              <a:buNone/>
              <a:defRPr b="0" i="0" sz="1200" u="none" cap="none" strike="noStrike">
                <a:solidFill>
                  <a:srgbClr val="757575"/>
                </a:solidFill>
                <a:latin typeface="Calibri"/>
                <a:ea typeface="Calibri"/>
                <a:cs typeface="Calibri"/>
                <a:sym typeface="Calibri"/>
              </a:defRPr>
            </a:lvl2pPr>
            <a:lvl3pPr indent="0" lvl="2" marL="0" marR="0" rtl="0" algn="r">
              <a:spcBef>
                <a:spcPts val="0"/>
              </a:spcBef>
              <a:buNone/>
              <a:defRPr b="0" i="0" sz="1200" u="none" cap="none" strike="noStrike">
                <a:solidFill>
                  <a:srgbClr val="757575"/>
                </a:solidFill>
                <a:latin typeface="Calibri"/>
                <a:ea typeface="Calibri"/>
                <a:cs typeface="Calibri"/>
                <a:sym typeface="Calibri"/>
              </a:defRPr>
            </a:lvl3pPr>
            <a:lvl4pPr indent="0" lvl="3" marL="0" marR="0" rtl="0" algn="r">
              <a:spcBef>
                <a:spcPts val="0"/>
              </a:spcBef>
              <a:buNone/>
              <a:defRPr b="0" i="0" sz="1200" u="none" cap="none" strike="noStrike">
                <a:solidFill>
                  <a:srgbClr val="757575"/>
                </a:solidFill>
                <a:latin typeface="Calibri"/>
                <a:ea typeface="Calibri"/>
                <a:cs typeface="Calibri"/>
                <a:sym typeface="Calibri"/>
              </a:defRPr>
            </a:lvl4pPr>
            <a:lvl5pPr indent="0" lvl="4" marL="0" marR="0" rtl="0" algn="r">
              <a:spcBef>
                <a:spcPts val="0"/>
              </a:spcBef>
              <a:buNone/>
              <a:defRPr b="0" i="0" sz="1200" u="none" cap="none" strike="noStrike">
                <a:solidFill>
                  <a:srgbClr val="757575"/>
                </a:solidFill>
                <a:latin typeface="Calibri"/>
                <a:ea typeface="Calibri"/>
                <a:cs typeface="Calibri"/>
                <a:sym typeface="Calibri"/>
              </a:defRPr>
            </a:lvl5pPr>
            <a:lvl6pPr indent="0" lvl="5" marL="0" marR="0" rtl="0" algn="r">
              <a:spcBef>
                <a:spcPts val="0"/>
              </a:spcBef>
              <a:buNone/>
              <a:defRPr b="0" i="0" sz="1200" u="none" cap="none" strike="noStrike">
                <a:solidFill>
                  <a:srgbClr val="757575"/>
                </a:solidFill>
                <a:latin typeface="Calibri"/>
                <a:ea typeface="Calibri"/>
                <a:cs typeface="Calibri"/>
                <a:sym typeface="Calibri"/>
              </a:defRPr>
            </a:lvl6pPr>
            <a:lvl7pPr indent="0" lvl="6" marL="0" marR="0" rtl="0" algn="r">
              <a:spcBef>
                <a:spcPts val="0"/>
              </a:spcBef>
              <a:buNone/>
              <a:defRPr b="0" i="0" sz="1200" u="none" cap="none" strike="noStrike">
                <a:solidFill>
                  <a:srgbClr val="757575"/>
                </a:solidFill>
                <a:latin typeface="Calibri"/>
                <a:ea typeface="Calibri"/>
                <a:cs typeface="Calibri"/>
                <a:sym typeface="Calibri"/>
              </a:defRPr>
            </a:lvl7pPr>
            <a:lvl8pPr indent="0" lvl="7" marL="0" marR="0" rtl="0" algn="r">
              <a:spcBef>
                <a:spcPts val="0"/>
              </a:spcBef>
              <a:buNone/>
              <a:defRPr b="0" i="0" sz="1200" u="none" cap="none" strike="noStrike">
                <a:solidFill>
                  <a:srgbClr val="757575"/>
                </a:solidFill>
                <a:latin typeface="Calibri"/>
                <a:ea typeface="Calibri"/>
                <a:cs typeface="Calibri"/>
                <a:sym typeface="Calibri"/>
              </a:defRPr>
            </a:lvl8pPr>
            <a:lvl9pPr indent="0" lvl="8" marL="0" marR="0" rtl="0" algn="r">
              <a:spcBef>
                <a:spcPts val="0"/>
              </a:spcBef>
              <a:buNone/>
              <a:defRPr b="0" i="0" sz="1200" u="none" cap="none" strike="noStrike">
                <a:solidFill>
                  <a:srgbClr val="75757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s://quickbooks.intuit.com/global/resources/starting-a-business/how-to-start-a-business/" TargetMode="External"/><Relationship Id="rId4" Type="http://schemas.openxmlformats.org/officeDocument/2006/relationships/hyperlink" Target="https://stepbystepbusiness.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 name="Shape 18"/>
        <p:cNvGrpSpPr/>
        <p:nvPr/>
      </p:nvGrpSpPr>
      <p:grpSpPr>
        <a:xfrm>
          <a:off x="0" y="0"/>
          <a:ext cx="0" cy="0"/>
          <a:chOff x="0" y="0"/>
          <a:chExt cx="0" cy="0"/>
        </a:xfrm>
      </p:grpSpPr>
      <p:sp>
        <p:nvSpPr>
          <p:cNvPr id="19" name="Google Shape;19;p3"/>
          <p:cNvSpPr/>
          <p:nvPr/>
        </p:nvSpPr>
        <p:spPr>
          <a:xfrm>
            <a:off x="0" y="24190"/>
            <a:ext cx="12191400" cy="6857640"/>
          </a:xfrm>
          <a:prstGeom prst="rect">
            <a:avLst/>
          </a:prstGeom>
          <a:solidFill>
            <a:srgbClr val="FFFFFF"/>
          </a:solid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0" name="Google Shape;20;p3"/>
          <p:cNvSpPr/>
          <p:nvPr/>
        </p:nvSpPr>
        <p:spPr>
          <a:xfrm>
            <a:off x="0" y="0"/>
            <a:ext cx="12191400" cy="1416960"/>
          </a:xfrm>
          <a:prstGeom prst="rect">
            <a:avLst/>
          </a:prstGeom>
          <a:solidFill>
            <a:srgbClr val="0B2E4A"/>
          </a:solid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1" name="Google Shape;21;p3"/>
          <p:cNvSpPr/>
          <p:nvPr/>
        </p:nvSpPr>
        <p:spPr>
          <a:xfrm>
            <a:off x="0" y="0"/>
            <a:ext cx="200880" cy="1416960"/>
          </a:xfrm>
          <a:prstGeom prst="rect">
            <a:avLst/>
          </a:prstGeom>
          <a:solidFill>
            <a:srgbClr val="2F6FB3"/>
          </a:solid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2" name="Google Shape;22;p3"/>
          <p:cNvSpPr/>
          <p:nvPr/>
        </p:nvSpPr>
        <p:spPr>
          <a:xfrm>
            <a:off x="594360" y="320040"/>
            <a:ext cx="11002680" cy="5482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4000" u="none" strike="noStrike">
                <a:solidFill>
                  <a:srgbClr val="FFFFFF"/>
                </a:solidFill>
                <a:latin typeface="Calibri"/>
                <a:ea typeface="Calibri"/>
                <a:cs typeface="Calibri"/>
                <a:sym typeface="Calibri"/>
              </a:rPr>
              <a:t>SoI — Prototype Stage</a:t>
            </a:r>
            <a:endParaRPr b="0" sz="4000" u="none" strike="noStrike">
              <a:solidFill>
                <a:srgbClr val="000000"/>
              </a:solidFill>
              <a:latin typeface="Arial"/>
              <a:ea typeface="Arial"/>
              <a:cs typeface="Arial"/>
              <a:sym typeface="Arial"/>
            </a:endParaRPr>
          </a:p>
        </p:txBody>
      </p:sp>
      <p:sp>
        <p:nvSpPr>
          <p:cNvPr id="23" name="Google Shape;23;p3"/>
          <p:cNvSpPr/>
          <p:nvPr/>
        </p:nvSpPr>
        <p:spPr>
          <a:xfrm>
            <a:off x="594360" y="896040"/>
            <a:ext cx="11002680" cy="3654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800" u="none" strike="noStrike">
                <a:solidFill>
                  <a:srgbClr val="DCE9F7"/>
                </a:solidFill>
                <a:latin typeface="Calibri"/>
                <a:ea typeface="Calibri"/>
                <a:cs typeface="Calibri"/>
                <a:sym typeface="Calibri"/>
              </a:rPr>
              <a:t>Submission Deck Template</a:t>
            </a:r>
            <a:endParaRPr b="0" sz="1800" u="none" strike="noStrike">
              <a:solidFill>
                <a:srgbClr val="000000"/>
              </a:solidFill>
              <a:latin typeface="Arial"/>
              <a:ea typeface="Arial"/>
              <a:cs typeface="Arial"/>
              <a:sym typeface="Arial"/>
            </a:endParaRPr>
          </a:p>
        </p:txBody>
      </p:sp>
      <p:sp>
        <p:nvSpPr>
          <p:cNvPr id="24" name="Google Shape;24;p3"/>
          <p:cNvSpPr/>
          <p:nvPr/>
        </p:nvSpPr>
        <p:spPr>
          <a:xfrm>
            <a:off x="605054" y="1711250"/>
            <a:ext cx="8802600" cy="3977400"/>
          </a:xfrm>
          <a:prstGeom prst="roundRect">
            <a:avLst>
              <a:gd fmla="val 16667" name="adj"/>
            </a:avLst>
          </a:prstGeom>
          <a:solidFill>
            <a:srgbClr val="FFFFFF"/>
          </a:solidFill>
          <a:ln cap="flat" cmpd="sng" w="12700">
            <a:solidFill>
              <a:srgbClr val="E5E7EB"/>
            </a:solidFill>
            <a:prstDash val="solid"/>
            <a:round/>
            <a:headEnd len="sm" w="sm" type="none"/>
            <a:tailEnd len="sm" w="sm" type="none"/>
          </a:ln>
          <a:effectLst>
            <a:outerShdw blurRad="28080" rotWithShape="0" algn="bl" dir="2700000" dist="19855">
              <a:srgbClr val="000000">
                <a:alpha val="15686"/>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5" name="Google Shape;25;p3"/>
          <p:cNvSpPr/>
          <p:nvPr/>
        </p:nvSpPr>
        <p:spPr>
          <a:xfrm>
            <a:off x="834570" y="2116085"/>
            <a:ext cx="6071400" cy="3300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Team: </a:t>
            </a:r>
            <a:r>
              <a:rPr lang="en-US" sz="2000">
                <a:latin typeface="Times New Roman"/>
                <a:ea typeface="Times New Roman"/>
                <a:cs typeface="Times New Roman"/>
                <a:sym typeface="Times New Roman"/>
              </a:rPr>
              <a:t>Corrupt</a:t>
            </a:r>
            <a:r>
              <a:rPr lang="en-US" sz="2000">
                <a:latin typeface="Times New Roman"/>
                <a:ea typeface="Times New Roman"/>
                <a:cs typeface="Times New Roman"/>
                <a:sym typeface="Times New Roman"/>
              </a:rPr>
              <a:t> and Detect</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Team-ID: </a:t>
            </a:r>
            <a:r>
              <a:rPr lang="en-US" sz="2000">
                <a:solidFill>
                  <a:srgbClr val="242424"/>
                </a:solidFill>
                <a:latin typeface="Calibri"/>
                <a:ea typeface="Calibri"/>
                <a:cs typeface="Calibri"/>
                <a:sym typeface="Calibri"/>
              </a:rPr>
              <a:t>P-2024-28-CS-122</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Lead: Joe Daniel A</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Joshua Melvin K, Aadil M, Jaisuryan S</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Mentor:Nabin Sil   Lab Code: CS</a:t>
            </a:r>
            <a:endParaRPr sz="1600"/>
          </a:p>
          <a:p>
            <a:pPr indent="0" lvl="0" marL="0" marR="0" rtl="0" algn="l">
              <a:spcBef>
                <a:spcPts val="0"/>
              </a:spcBef>
              <a:spcAft>
                <a:spcPts val="0"/>
              </a:spcAft>
              <a:buNone/>
            </a:pPr>
            <a:r>
              <a:rPr lang="en-US" sz="2000">
                <a:solidFill>
                  <a:schemeClr val="dk1"/>
                </a:solidFill>
                <a:latin typeface="Calibri"/>
                <a:ea typeface="Calibri"/>
                <a:cs typeface="Calibri"/>
                <a:sym typeface="Calibri"/>
              </a:rPr>
              <a:t> Cohort: 2024–2028   Date: 2026-01-27</a:t>
            </a:r>
            <a:endParaRPr sz="1600"/>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 name="Shape 30"/>
        <p:cNvGrpSpPr/>
        <p:nvPr/>
      </p:nvGrpSpPr>
      <p:grpSpPr>
        <a:xfrm>
          <a:off x="0" y="0"/>
          <a:ext cx="0" cy="0"/>
          <a:chOff x="0" y="0"/>
          <a:chExt cx="0" cy="0"/>
        </a:xfrm>
      </p:grpSpPr>
      <p:sp>
        <p:nvSpPr>
          <p:cNvPr id="31" name="Google Shape;31;p4"/>
          <p:cNvSpPr/>
          <p:nvPr/>
        </p:nvSpPr>
        <p:spPr>
          <a:xfrm>
            <a:off x="0" y="0"/>
            <a:ext cx="12191400" cy="566640"/>
          </a:xfrm>
          <a:prstGeom prst="rect">
            <a:avLst/>
          </a:prstGeom>
          <a:solidFill>
            <a:srgbClr val="0B2E4A"/>
          </a:solidFill>
          <a:ln cap="flat" cmpd="sng" w="12700">
            <a:solidFill>
              <a:srgbClr val="0B2E4A"/>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2" name="Google Shape;32;p4"/>
          <p:cNvSpPr/>
          <p:nvPr/>
        </p:nvSpPr>
        <p:spPr>
          <a:xfrm>
            <a:off x="0" y="0"/>
            <a:ext cx="145800" cy="566640"/>
          </a:xfrm>
          <a:prstGeom prst="rect">
            <a:avLst/>
          </a:prstGeom>
          <a:solidFill>
            <a:srgbClr val="2F6FB3"/>
          </a:solidFill>
          <a:ln cap="flat" cmpd="sng" w="12700">
            <a:solidFill>
              <a:srgbClr val="2F6FB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3" name="Google Shape;33;p4"/>
          <p:cNvSpPr/>
          <p:nvPr/>
        </p:nvSpPr>
        <p:spPr>
          <a:xfrm>
            <a:off x="594360" y="109800"/>
            <a:ext cx="11002680" cy="319680"/>
          </a:xfrm>
          <a:prstGeom prst="rect">
            <a:avLst/>
          </a:prstGeom>
          <a:noFill/>
          <a:ln>
            <a:noFill/>
          </a:ln>
        </p:spPr>
        <p:txBody>
          <a:bodyPr anchorCtr="0" anchor="ctr" bIns="45000" lIns="90000" spcFirstLastPara="1" rIns="90000" wrap="square" tIns="45000">
            <a:noAutofit/>
          </a:bodyPr>
          <a:lstStyle/>
          <a:p>
            <a:pPr indent="0" lvl="0" marL="0" marR="0" rtl="0" algn="r">
              <a:lnSpc>
                <a:spcPct val="100000"/>
              </a:lnSpc>
              <a:spcBef>
                <a:spcPts val="0"/>
              </a:spcBef>
              <a:spcAft>
                <a:spcPts val="0"/>
              </a:spcAft>
              <a:buNone/>
            </a:pPr>
            <a:r>
              <a:rPr b="1" lang="en-US" sz="1400" u="none" strike="noStrike">
                <a:solidFill>
                  <a:srgbClr val="FFFFFF"/>
                </a:solidFill>
                <a:latin typeface="Calibri"/>
                <a:ea typeface="Calibri"/>
                <a:cs typeface="Calibri"/>
                <a:sym typeface="Calibri"/>
              </a:rPr>
              <a:t>SoI Innovation Pipeline</a:t>
            </a:r>
            <a:endParaRPr b="0" sz="1400" u="none" strike="noStrike">
              <a:solidFill>
                <a:srgbClr val="000000"/>
              </a:solidFill>
              <a:latin typeface="Arial"/>
              <a:ea typeface="Arial"/>
              <a:cs typeface="Arial"/>
              <a:sym typeface="Arial"/>
            </a:endParaRPr>
          </a:p>
        </p:txBody>
      </p:sp>
      <p:sp>
        <p:nvSpPr>
          <p:cNvPr id="34" name="Google Shape;34;p4"/>
          <p:cNvSpPr/>
          <p:nvPr/>
        </p:nvSpPr>
        <p:spPr>
          <a:xfrm>
            <a:off x="594360" y="658440"/>
            <a:ext cx="1919880" cy="292320"/>
          </a:xfrm>
          <a:prstGeom prst="roundRect">
            <a:avLst>
              <a:gd fmla="val 16667" name="adj"/>
            </a:avLst>
          </a:prstGeom>
          <a:solidFill>
            <a:srgbClr val="2F6FB3"/>
          </a:solidFill>
          <a:ln cap="flat" cmpd="sng" w="12700">
            <a:solidFill>
              <a:srgbClr val="2F6FB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5" name="Google Shape;35;p4"/>
          <p:cNvSpPr/>
          <p:nvPr/>
        </p:nvSpPr>
        <p:spPr>
          <a:xfrm>
            <a:off x="594360" y="704160"/>
            <a:ext cx="1919880" cy="2008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200" u="none" strike="noStrike">
                <a:solidFill>
                  <a:srgbClr val="FFFFFF"/>
                </a:solidFill>
                <a:latin typeface="Calibri"/>
                <a:ea typeface="Calibri"/>
                <a:cs typeface="Calibri"/>
                <a:sym typeface="Calibri"/>
              </a:rPr>
              <a:t>CONTEXT</a:t>
            </a:r>
            <a:endParaRPr b="0" sz="1200" u="none" strike="noStrike">
              <a:solidFill>
                <a:srgbClr val="000000"/>
              </a:solidFill>
              <a:latin typeface="Arial"/>
              <a:ea typeface="Arial"/>
              <a:cs typeface="Arial"/>
              <a:sym typeface="Arial"/>
            </a:endParaRPr>
          </a:p>
        </p:txBody>
      </p:sp>
      <p:sp>
        <p:nvSpPr>
          <p:cNvPr id="36" name="Google Shape;36;p4"/>
          <p:cNvSpPr/>
          <p:nvPr/>
        </p:nvSpPr>
        <p:spPr>
          <a:xfrm>
            <a:off x="594360" y="822960"/>
            <a:ext cx="11002680" cy="5482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3200" u="none" strike="noStrike">
                <a:solidFill>
                  <a:srgbClr val="111827"/>
                </a:solidFill>
                <a:latin typeface="Calibri"/>
                <a:ea typeface="Calibri"/>
                <a:cs typeface="Calibri"/>
                <a:sym typeface="Calibri"/>
              </a:rPr>
              <a:t>Problem &amp; End-User Recap</a:t>
            </a:r>
            <a:endParaRPr b="0" sz="3200" u="none" strike="noStrike">
              <a:solidFill>
                <a:srgbClr val="000000"/>
              </a:solidFill>
              <a:latin typeface="Arial"/>
              <a:ea typeface="Arial"/>
              <a:cs typeface="Arial"/>
              <a:sym typeface="Arial"/>
            </a:endParaRPr>
          </a:p>
        </p:txBody>
      </p:sp>
      <p:sp>
        <p:nvSpPr>
          <p:cNvPr id="37" name="Google Shape;37;p4"/>
          <p:cNvSpPr/>
          <p:nvPr/>
        </p:nvSpPr>
        <p:spPr>
          <a:xfrm>
            <a:off x="354275" y="1463413"/>
            <a:ext cx="10972500" cy="5005200"/>
          </a:xfrm>
          <a:prstGeom prst="roundRect">
            <a:avLst>
              <a:gd fmla="val 16667" name="adj"/>
            </a:avLst>
          </a:prstGeom>
          <a:solidFill>
            <a:srgbClr val="FFFFFF"/>
          </a:solidFill>
          <a:ln cap="flat" cmpd="sng" w="12700">
            <a:solidFill>
              <a:srgbClr val="E5E7EB"/>
            </a:solidFill>
            <a:prstDash val="solid"/>
            <a:round/>
            <a:headEnd len="sm" w="sm" type="none"/>
            <a:tailEnd len="sm" w="sm" type="none"/>
          </a:ln>
          <a:effectLst>
            <a:outerShdw blurRad="28080" rotWithShape="0" algn="bl" dir="2700000" dist="19855">
              <a:srgbClr val="000000">
                <a:alpha val="15686"/>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8" name="Google Shape;38;p4"/>
          <p:cNvSpPr/>
          <p:nvPr/>
        </p:nvSpPr>
        <p:spPr>
          <a:xfrm>
            <a:off x="850325" y="1842450"/>
            <a:ext cx="3181800" cy="1226100"/>
          </a:xfrm>
          <a:prstGeom prst="rect">
            <a:avLst/>
          </a:prstGeom>
          <a:noFill/>
          <a:ln cap="flat" cmpd="sng" w="9525">
            <a:solidFill>
              <a:srgbClr val="00000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300" u="none" strike="noStrike">
                <a:solidFill>
                  <a:srgbClr val="4B5563"/>
                </a:solidFill>
                <a:latin typeface="Calibri"/>
                <a:ea typeface="Calibri"/>
                <a:cs typeface="Calibri"/>
                <a:sym typeface="Calibri"/>
              </a:rPr>
              <a:t>Problem statement</a:t>
            </a:r>
            <a:endParaRPr b="0" sz="1300" u="none" strike="noStrike">
              <a:solidFill>
                <a:srgbClr val="000000"/>
              </a:solidFill>
              <a:latin typeface="Arial"/>
              <a:ea typeface="Arial"/>
              <a:cs typeface="Arial"/>
              <a:sym typeface="Arial"/>
            </a:endParaRPr>
          </a:p>
        </p:txBody>
      </p:sp>
      <p:sp>
        <p:nvSpPr>
          <p:cNvPr id="39" name="Google Shape;39;p4"/>
          <p:cNvSpPr/>
          <p:nvPr/>
        </p:nvSpPr>
        <p:spPr>
          <a:xfrm>
            <a:off x="4305450" y="1850050"/>
            <a:ext cx="6622500" cy="1226100"/>
          </a:xfrm>
          <a:prstGeom prst="rect">
            <a:avLst/>
          </a:prstGeom>
          <a:noFill/>
          <a:ln cap="flat" cmpd="sng" w="9525">
            <a:solidFill>
              <a:srgbClr val="00000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spcBef>
                <a:spcPts val="0"/>
              </a:spcBef>
              <a:spcAft>
                <a:spcPts val="0"/>
              </a:spcAft>
              <a:buNone/>
            </a:pPr>
            <a:r>
              <a:rPr lang="en-US" sz="1100">
                <a:solidFill>
                  <a:schemeClr val="dk1"/>
                </a:solidFill>
              </a:rPr>
              <a:t>As organizations increasingly rely on AI, the data used to train and run these models has become a primary attack vector. Malicious actors can "poison" datasets with subtle anomalies or injection attacks—such as SQLi or XSS patterns—to compromise model accuracy or create backdoors. Existing security tools often overlook data integrity at the pixel or row level, leaving models vulnerable to manipulated images or corrupted CSVs. </a:t>
            </a:r>
            <a:r>
              <a:rPr b="1" lang="en-US" sz="1100">
                <a:solidFill>
                  <a:schemeClr val="dk1"/>
                </a:solidFill>
              </a:rPr>
              <a:t>PoisonProof AI</a:t>
            </a:r>
            <a:r>
              <a:rPr lang="en-US" sz="1100">
                <a:solidFill>
                  <a:schemeClr val="dk1"/>
                </a:solidFill>
              </a:rPr>
              <a:t> provides an enterprise-grade defense by using statistical analysis (MAD/IQR), Error Level Analysis (ELA), and cryptographic verification to ensure that only clean, verified data reaches the model.</a:t>
            </a:r>
            <a:endParaRPr sz="1300">
              <a:solidFill>
                <a:srgbClr val="111827"/>
              </a:solidFill>
              <a:latin typeface="Calibri"/>
              <a:ea typeface="Calibri"/>
              <a:cs typeface="Calibri"/>
              <a:sym typeface="Calibri"/>
            </a:endParaRPr>
          </a:p>
        </p:txBody>
      </p:sp>
      <p:sp>
        <p:nvSpPr>
          <p:cNvPr id="40" name="Google Shape;40;p4"/>
          <p:cNvSpPr/>
          <p:nvPr/>
        </p:nvSpPr>
        <p:spPr>
          <a:xfrm>
            <a:off x="850325" y="3200550"/>
            <a:ext cx="3181800" cy="456900"/>
          </a:xfrm>
          <a:prstGeom prst="rect">
            <a:avLst/>
          </a:prstGeom>
          <a:noFill/>
          <a:ln cap="flat" cmpd="sng" w="9525">
            <a:solidFill>
              <a:srgbClr val="00000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300" u="none" strike="noStrike">
                <a:solidFill>
                  <a:srgbClr val="4B5563"/>
                </a:solidFill>
                <a:latin typeface="Calibri"/>
                <a:ea typeface="Calibri"/>
                <a:cs typeface="Calibri"/>
                <a:sym typeface="Calibri"/>
              </a:rPr>
              <a:t>Target end-user / context</a:t>
            </a:r>
            <a:endParaRPr b="0" sz="1300" u="none" strike="noStrike">
              <a:solidFill>
                <a:srgbClr val="000000"/>
              </a:solidFill>
              <a:latin typeface="Arial"/>
              <a:ea typeface="Arial"/>
              <a:cs typeface="Arial"/>
              <a:sym typeface="Arial"/>
            </a:endParaRPr>
          </a:p>
        </p:txBody>
      </p:sp>
      <p:sp>
        <p:nvSpPr>
          <p:cNvPr id="41" name="Google Shape;41;p4"/>
          <p:cNvSpPr/>
          <p:nvPr/>
        </p:nvSpPr>
        <p:spPr>
          <a:xfrm>
            <a:off x="4305450" y="3200550"/>
            <a:ext cx="6622500" cy="45690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200">
                <a:latin typeface="Calibri"/>
                <a:ea typeface="Calibri"/>
                <a:cs typeface="Calibri"/>
                <a:sym typeface="Calibri"/>
              </a:rPr>
              <a:t>AI Developers, Data Scientists, and Cybersecurity Teams.</a:t>
            </a:r>
            <a:endParaRPr sz="1200">
              <a:solidFill>
                <a:schemeClr val="dk1"/>
              </a:solidFill>
              <a:latin typeface="Calibri"/>
              <a:ea typeface="Calibri"/>
              <a:cs typeface="Calibri"/>
              <a:sym typeface="Calibri"/>
            </a:endParaRPr>
          </a:p>
        </p:txBody>
      </p:sp>
      <p:sp>
        <p:nvSpPr>
          <p:cNvPr id="42" name="Google Shape;42;p4"/>
          <p:cNvSpPr/>
          <p:nvPr/>
        </p:nvSpPr>
        <p:spPr>
          <a:xfrm>
            <a:off x="850250" y="3904000"/>
            <a:ext cx="3181800" cy="429600"/>
          </a:xfrm>
          <a:prstGeom prst="rect">
            <a:avLst/>
          </a:prstGeom>
          <a:noFill/>
          <a:ln cap="flat" cmpd="sng" w="9525">
            <a:solidFill>
              <a:srgbClr val="00000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300" u="none" strike="noStrike">
                <a:solidFill>
                  <a:srgbClr val="4B5563"/>
                </a:solidFill>
                <a:latin typeface="Calibri"/>
                <a:ea typeface="Calibri"/>
                <a:cs typeface="Calibri"/>
                <a:sym typeface="Calibri"/>
              </a:rPr>
              <a:t>Evidence</a:t>
            </a:r>
            <a:endParaRPr b="0" sz="1300" u="none" strike="noStrike">
              <a:solidFill>
                <a:srgbClr val="000000"/>
              </a:solidFill>
              <a:latin typeface="Arial"/>
              <a:ea typeface="Arial"/>
              <a:cs typeface="Arial"/>
              <a:sym typeface="Arial"/>
            </a:endParaRPr>
          </a:p>
        </p:txBody>
      </p:sp>
      <p:sp>
        <p:nvSpPr>
          <p:cNvPr id="43" name="Google Shape;43;p4"/>
          <p:cNvSpPr/>
          <p:nvPr/>
        </p:nvSpPr>
        <p:spPr>
          <a:xfrm>
            <a:off x="4306950" y="3876700"/>
            <a:ext cx="6633300" cy="45690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1100">
                <a:solidFill>
                  <a:schemeClr val="dk1"/>
                </a:solidFill>
              </a:rPr>
              <a:t>Real-time anomaly detection and cryptographic hashing</a:t>
            </a:r>
            <a:r>
              <a:rPr lang="en-US" sz="1100">
                <a:solidFill>
                  <a:schemeClr val="dk1"/>
                </a:solidFill>
              </a:rPr>
              <a:t> prove that datasets are free from injection attacks and manipulation before they impact production models.</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 name="Google Shape;44;p4"/>
          <p:cNvSpPr/>
          <p:nvPr/>
        </p:nvSpPr>
        <p:spPr>
          <a:xfrm>
            <a:off x="850275" y="4726475"/>
            <a:ext cx="3181800" cy="1323600"/>
          </a:xfrm>
          <a:prstGeom prst="rect">
            <a:avLst/>
          </a:prstGeom>
          <a:noFill/>
          <a:ln cap="flat" cmpd="sng" w="9525">
            <a:solidFill>
              <a:srgbClr val="00000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300" u="none" strike="noStrike">
                <a:solidFill>
                  <a:srgbClr val="4B5563"/>
                </a:solidFill>
                <a:latin typeface="Calibri"/>
                <a:ea typeface="Calibri"/>
                <a:cs typeface="Calibri"/>
                <a:sym typeface="Calibri"/>
              </a:rPr>
              <a:t>Success metric(s)</a:t>
            </a:r>
            <a:endParaRPr b="0" sz="1300" u="none" strike="noStrike">
              <a:solidFill>
                <a:srgbClr val="000000"/>
              </a:solidFill>
              <a:latin typeface="Arial"/>
              <a:ea typeface="Arial"/>
              <a:cs typeface="Arial"/>
              <a:sym typeface="Arial"/>
            </a:endParaRPr>
          </a:p>
        </p:txBody>
      </p:sp>
      <p:sp>
        <p:nvSpPr>
          <p:cNvPr id="45" name="Google Shape;45;p4"/>
          <p:cNvSpPr/>
          <p:nvPr/>
        </p:nvSpPr>
        <p:spPr>
          <a:xfrm>
            <a:off x="4312350" y="4726463"/>
            <a:ext cx="6622500" cy="1323600"/>
          </a:xfrm>
          <a:prstGeom prst="rect">
            <a:avLst/>
          </a:prstGeom>
          <a:noFill/>
          <a:ln cap="flat" cmpd="sng" w="9525">
            <a:solidFill>
              <a:srgbClr val="000000"/>
            </a:solidFill>
            <a:prstDash val="solid"/>
            <a:round/>
            <a:headEnd len="sm" w="sm" type="none"/>
            <a:tailEnd len="sm" w="sm" type="none"/>
          </a:ln>
        </p:spPr>
        <p:txBody>
          <a:bodyPr anchorCtr="0" anchor="ctr" bIns="45000" lIns="90000" spcFirstLastPara="1" rIns="90000" wrap="square" tIns="45000">
            <a:noAutofit/>
          </a:bodyPr>
          <a:lstStyle/>
          <a:p>
            <a:pPr indent="0" lvl="0" marL="0" rtl="0" algn="l">
              <a:spcBef>
                <a:spcPts val="0"/>
              </a:spcBef>
              <a:spcAft>
                <a:spcPts val="0"/>
              </a:spcAft>
              <a:buClr>
                <a:schemeClr val="dk1"/>
              </a:buClr>
              <a:buSzPts val="1100"/>
              <a:buFont typeface="Arial"/>
              <a:buNone/>
            </a:pPr>
            <a:r>
              <a:rPr lang="en-US" sz="1300">
                <a:solidFill>
                  <a:srgbClr val="111827"/>
                </a:solidFill>
                <a:latin typeface="Calibri"/>
                <a:ea typeface="Calibri"/>
                <a:cs typeface="Calibri"/>
                <a:sym typeface="Calibri"/>
              </a:rPr>
              <a:t>Reduction in false-positive/negative rates caused by poisoned data.</a:t>
            </a:r>
            <a:endParaRPr sz="1300">
              <a:solidFill>
                <a:srgbClr val="111827"/>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300">
                <a:solidFill>
                  <a:srgbClr val="111827"/>
                </a:solidFill>
                <a:latin typeface="Calibri"/>
                <a:ea typeface="Calibri"/>
                <a:cs typeface="Calibri"/>
                <a:sym typeface="Calibri"/>
              </a:rPr>
              <a:t>100% detection rate of known injection patterns (SQLi, XSS, etc.) within training sets.</a:t>
            </a:r>
            <a:endParaRPr sz="1300">
              <a:solidFill>
                <a:srgbClr val="111827"/>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300">
                <a:solidFill>
                  <a:srgbClr val="111827"/>
                </a:solidFill>
                <a:latin typeface="Calibri"/>
                <a:ea typeface="Calibri"/>
                <a:cs typeface="Calibri"/>
                <a:sym typeface="Calibri"/>
              </a:rPr>
              <a:t>Verification of model integrity using SHA-256 hash matching.</a:t>
            </a:r>
            <a:endParaRPr sz="1300">
              <a:solidFill>
                <a:srgbClr val="111827"/>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300">
                <a:solidFill>
                  <a:srgbClr val="111827"/>
                </a:solidFill>
                <a:latin typeface="Calibri"/>
                <a:ea typeface="Calibri"/>
                <a:cs typeface="Calibri"/>
                <a:sym typeface="Calibri"/>
              </a:rPr>
              <a:t>Decreased time spent on manual data cleaning through automated anomaly identification.</a:t>
            </a:r>
            <a:endParaRPr sz="1300">
              <a:solidFill>
                <a:srgbClr val="111827"/>
              </a:solidFill>
              <a:latin typeface="Calibri"/>
              <a:ea typeface="Calibri"/>
              <a:cs typeface="Calibri"/>
              <a:sym typeface="Calibri"/>
            </a:endParaRPr>
          </a:p>
          <a:p>
            <a:pPr indent="0" lvl="0" marL="0" marR="0" rtl="0" algn="l">
              <a:spcBef>
                <a:spcPts val="0"/>
              </a:spcBef>
              <a:spcAft>
                <a:spcPts val="0"/>
              </a:spcAft>
              <a:buNone/>
            </a:pPr>
            <a:r>
              <a:t/>
            </a:r>
            <a:endParaRPr sz="1300">
              <a:solidFill>
                <a:srgbClr val="111827"/>
              </a:solidFill>
              <a:latin typeface="Calibri"/>
              <a:ea typeface="Calibri"/>
              <a:cs typeface="Calibri"/>
              <a:sym typeface="Calibri"/>
            </a:endParaRPr>
          </a:p>
        </p:txBody>
      </p:sp>
      <p:sp>
        <p:nvSpPr>
          <p:cNvPr id="46" name="Google Shape;46;p4"/>
          <p:cNvSpPr/>
          <p:nvPr/>
        </p:nvSpPr>
        <p:spPr>
          <a:xfrm>
            <a:off x="0" y="6565320"/>
            <a:ext cx="12191400" cy="29232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47" name="Google Shape;47;p4"/>
          <p:cNvSpPr/>
          <p:nvPr/>
        </p:nvSpPr>
        <p:spPr>
          <a:xfrm>
            <a:off x="594360" y="6620400"/>
            <a:ext cx="11002680" cy="200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000" u="none" strike="noStrike">
                <a:solidFill>
                  <a:srgbClr val="6B7280"/>
                </a:solidFill>
                <a:latin typeface="Calibri"/>
                <a:ea typeface="Calibri"/>
                <a:cs typeface="Calibri"/>
                <a:sym typeface="Calibri"/>
              </a:rPr>
              <a:t>SoI Prototype Stage — Submission Deck</a:t>
            </a:r>
            <a:endParaRPr b="0" sz="1000" u="none" strike="noStrike">
              <a:solidFill>
                <a:srgbClr val="000000"/>
              </a:solidFill>
              <a:latin typeface="Arial"/>
              <a:ea typeface="Arial"/>
              <a:cs typeface="Arial"/>
              <a:sym typeface="Arial"/>
            </a:endParaRPr>
          </a:p>
        </p:txBody>
      </p:sp>
      <p:sp>
        <p:nvSpPr>
          <p:cNvPr id="48" name="Google Shape;48;p4"/>
          <p:cNvSpPr/>
          <p:nvPr/>
        </p:nvSpPr>
        <p:spPr>
          <a:xfrm>
            <a:off x="10940142" y="6620400"/>
            <a:ext cx="656897" cy="23724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3/23</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5"/>
          <p:cNvSpPr/>
          <p:nvPr/>
        </p:nvSpPr>
        <p:spPr>
          <a:xfrm>
            <a:off x="0" y="0"/>
            <a:ext cx="12191400" cy="566640"/>
          </a:xfrm>
          <a:prstGeom prst="rect">
            <a:avLst/>
          </a:prstGeom>
          <a:solidFill>
            <a:srgbClr val="0B2E4A"/>
          </a:solidFill>
          <a:ln cap="flat" cmpd="sng" w="12700">
            <a:solidFill>
              <a:srgbClr val="0B2E4A"/>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54" name="Google Shape;54;p5"/>
          <p:cNvSpPr/>
          <p:nvPr/>
        </p:nvSpPr>
        <p:spPr>
          <a:xfrm>
            <a:off x="0" y="0"/>
            <a:ext cx="145800" cy="566640"/>
          </a:xfrm>
          <a:prstGeom prst="rect">
            <a:avLst/>
          </a:prstGeom>
          <a:solidFill>
            <a:srgbClr val="2F6FB3"/>
          </a:solidFill>
          <a:ln cap="flat" cmpd="sng" w="12700">
            <a:solidFill>
              <a:srgbClr val="2F6FB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55" name="Google Shape;55;p5"/>
          <p:cNvSpPr/>
          <p:nvPr/>
        </p:nvSpPr>
        <p:spPr>
          <a:xfrm>
            <a:off x="594360" y="109800"/>
            <a:ext cx="11002680" cy="31968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SoI Innovation Pipeline</a:t>
            </a:r>
            <a:endParaRPr>
              <a:solidFill>
                <a:schemeClr val="lt1"/>
              </a:solidFill>
            </a:endParaRPr>
          </a:p>
        </p:txBody>
      </p:sp>
      <p:sp>
        <p:nvSpPr>
          <p:cNvPr id="56" name="Google Shape;56;p5"/>
          <p:cNvSpPr/>
          <p:nvPr/>
        </p:nvSpPr>
        <p:spPr>
          <a:xfrm>
            <a:off x="594360" y="658440"/>
            <a:ext cx="1919880" cy="292320"/>
          </a:xfrm>
          <a:prstGeom prst="roundRect">
            <a:avLst>
              <a:gd fmla="val 16667" name="adj"/>
            </a:avLst>
          </a:prstGeom>
          <a:solidFill>
            <a:srgbClr val="2F6FB3"/>
          </a:solidFill>
          <a:ln cap="flat" cmpd="sng" w="12700">
            <a:solidFill>
              <a:srgbClr val="2F6FB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57" name="Google Shape;57;p5"/>
          <p:cNvSpPr/>
          <p:nvPr/>
        </p:nvSpPr>
        <p:spPr>
          <a:xfrm>
            <a:off x="680985" y="704160"/>
            <a:ext cx="1920000" cy="20100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IDEATION</a:t>
            </a:r>
            <a:endParaRPr/>
          </a:p>
        </p:txBody>
      </p:sp>
      <p:sp>
        <p:nvSpPr>
          <p:cNvPr id="58" name="Google Shape;58;p5"/>
          <p:cNvSpPr/>
          <p:nvPr/>
        </p:nvSpPr>
        <p:spPr>
          <a:xfrm>
            <a:off x="594360" y="822960"/>
            <a:ext cx="11002680" cy="54828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Ideation Recap — Options Explored &amp; Selected Idea</a:t>
            </a:r>
            <a:endParaRPr/>
          </a:p>
        </p:txBody>
      </p:sp>
      <p:sp>
        <p:nvSpPr>
          <p:cNvPr id="59" name="Google Shape;59;p5"/>
          <p:cNvSpPr/>
          <p:nvPr/>
        </p:nvSpPr>
        <p:spPr>
          <a:xfrm>
            <a:off x="594360" y="1417320"/>
            <a:ext cx="11002800" cy="36540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From Ideation stage (ideas explored and selected for PoC).</a:t>
            </a:r>
            <a:endParaRPr/>
          </a:p>
        </p:txBody>
      </p:sp>
      <p:sp>
        <p:nvSpPr>
          <p:cNvPr id="60" name="Google Shape;60;p5"/>
          <p:cNvSpPr/>
          <p:nvPr/>
        </p:nvSpPr>
        <p:spPr>
          <a:xfrm>
            <a:off x="850320" y="1993320"/>
            <a:ext cx="10460520" cy="31968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 name="Google Shape;61;p5"/>
          <p:cNvSpPr/>
          <p:nvPr/>
        </p:nvSpPr>
        <p:spPr>
          <a:xfrm>
            <a:off x="594345" y="1927170"/>
            <a:ext cx="10460400" cy="4077600"/>
          </a:xfrm>
          <a:prstGeom prst="rect">
            <a:avLst/>
          </a:prstGeom>
          <a:noFill/>
          <a:ln>
            <a:noFill/>
          </a:ln>
        </p:spPr>
        <p:txBody>
          <a:bodyPr anchorCtr="0" anchor="t" bIns="45000" lIns="90000" spcFirstLastPara="1" rIns="90000" wrap="square" tIns="45000">
            <a:noAutofit/>
          </a:bodyPr>
          <a:lstStyle/>
          <a:p>
            <a:pPr indent="0" lvl="0" marL="0" marR="0" rtl="0" algn="l">
              <a:lnSpc>
                <a:spcPct val="110000"/>
              </a:lnSpc>
              <a:spcBef>
                <a:spcPts val="0"/>
              </a:spcBef>
              <a:spcAft>
                <a:spcPts val="0"/>
              </a:spcAft>
              <a:buNone/>
            </a:pPr>
            <a:r>
              <a:t/>
            </a:r>
            <a:endParaRPr b="0" sz="1300" u="none" strike="noStrike">
              <a:solidFill>
                <a:schemeClr val="dk1"/>
              </a:solidFill>
              <a:latin typeface="Calibri"/>
              <a:ea typeface="Calibri"/>
              <a:cs typeface="Calibri"/>
              <a:sym typeface="Calibri"/>
            </a:endParaRPr>
          </a:p>
        </p:txBody>
      </p:sp>
      <p:sp>
        <p:nvSpPr>
          <p:cNvPr id="62" name="Google Shape;62;p5"/>
          <p:cNvSpPr/>
          <p:nvPr/>
        </p:nvSpPr>
        <p:spPr>
          <a:xfrm>
            <a:off x="847181" y="2024836"/>
            <a:ext cx="3072000" cy="566700"/>
          </a:xfrm>
          <a:prstGeom prst="rect">
            <a:avLst/>
          </a:prstGeom>
          <a:noFill/>
          <a:ln cap="flat" cmpd="sng" w="9525">
            <a:solidFill>
              <a:srgbClr val="00000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Ideas explored</a:t>
            </a:r>
            <a:endParaRPr/>
          </a:p>
        </p:txBody>
      </p:sp>
      <p:sp>
        <p:nvSpPr>
          <p:cNvPr id="63" name="Google Shape;63;p5"/>
          <p:cNvSpPr/>
          <p:nvPr/>
        </p:nvSpPr>
        <p:spPr>
          <a:xfrm>
            <a:off x="4018248" y="1779098"/>
            <a:ext cx="7140458" cy="1275283"/>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4" name="Google Shape;64;p5"/>
          <p:cNvSpPr/>
          <p:nvPr/>
        </p:nvSpPr>
        <p:spPr>
          <a:xfrm>
            <a:off x="4043383" y="1980041"/>
            <a:ext cx="7160745" cy="1085065"/>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Clr>
                <a:schemeClr val="dk1"/>
              </a:buClr>
              <a:buSzPts val="1100"/>
              <a:buFont typeface="Arial"/>
              <a:buNone/>
            </a:pPr>
            <a:r>
              <a:rPr b="1" lang="en-US" sz="1200">
                <a:solidFill>
                  <a:schemeClr val="dk1"/>
                </a:solidFill>
              </a:rPr>
              <a:t>Automated Data Cleaning Tool</a:t>
            </a:r>
            <a:r>
              <a:rPr lang="en-US" sz="1200">
                <a:solidFill>
                  <a:schemeClr val="dk1"/>
                </a:solidFill>
              </a:rPr>
              <a:t>: A script to remove outliers from CSV files.</a:t>
            </a:r>
            <a:endParaRPr sz="1200">
              <a:solidFill>
                <a:schemeClr val="dk1"/>
              </a:solidFill>
            </a:endParaRPr>
          </a:p>
          <a:p>
            <a:pPr indent="0" lvl="0" marL="0" rtl="0" algn="l">
              <a:spcBef>
                <a:spcPts val="0"/>
              </a:spcBef>
              <a:spcAft>
                <a:spcPts val="0"/>
              </a:spcAft>
              <a:buClr>
                <a:schemeClr val="dk1"/>
              </a:buClr>
              <a:buSzPts val="1100"/>
              <a:buFont typeface="Arial"/>
              <a:buNone/>
            </a:pPr>
            <a:r>
              <a:rPr b="1" lang="en-US" sz="1200">
                <a:solidFill>
                  <a:schemeClr val="dk1"/>
                </a:solidFill>
              </a:rPr>
              <a:t>Image Integrity Scanner</a:t>
            </a:r>
            <a:r>
              <a:rPr lang="en-US" sz="1200">
                <a:solidFill>
                  <a:schemeClr val="dk1"/>
                </a:solidFill>
              </a:rPr>
              <a:t>: A standalone tool for detecting photo manipulation.</a:t>
            </a:r>
            <a:endParaRPr sz="1200">
              <a:solidFill>
                <a:schemeClr val="dk1"/>
              </a:solidFill>
            </a:endParaRPr>
          </a:p>
          <a:p>
            <a:pPr indent="0" lvl="0" marL="0" rtl="0" algn="l">
              <a:spcBef>
                <a:spcPts val="0"/>
              </a:spcBef>
              <a:spcAft>
                <a:spcPts val="0"/>
              </a:spcAft>
              <a:buClr>
                <a:schemeClr val="dk1"/>
              </a:buClr>
              <a:buSzPts val="1100"/>
              <a:buFont typeface="Arial"/>
              <a:buNone/>
            </a:pPr>
            <a:r>
              <a:rPr b="1" lang="en-US" sz="1200">
                <a:solidFill>
                  <a:schemeClr val="dk1"/>
                </a:solidFill>
              </a:rPr>
              <a:t>ML Model Training Monitor</a:t>
            </a:r>
            <a:r>
              <a:rPr lang="en-US" sz="1200">
                <a:solidFill>
                  <a:schemeClr val="dk1"/>
                </a:solidFill>
              </a:rPr>
              <a:t>: A dashboard to track training progress in real-time.</a:t>
            </a:r>
            <a:endParaRPr sz="1200">
              <a:solidFill>
                <a:schemeClr val="dk1"/>
              </a:solidFill>
            </a:endParaRPr>
          </a:p>
          <a:p>
            <a:pPr indent="0" lvl="0" marL="0" rtl="0" algn="l">
              <a:spcBef>
                <a:spcPts val="0"/>
              </a:spcBef>
              <a:spcAft>
                <a:spcPts val="0"/>
              </a:spcAft>
              <a:buSzPts val="1100"/>
              <a:buNone/>
            </a:pPr>
            <a:r>
              <a:rPr b="1" lang="en-US" sz="1200">
                <a:solidFill>
                  <a:schemeClr val="dk1"/>
                </a:solidFill>
              </a:rPr>
              <a:t>PoisonProof AI (Hybrid Platform)</a:t>
            </a:r>
            <a:r>
              <a:rPr lang="en-US" sz="1200">
                <a:solidFill>
                  <a:schemeClr val="dk1"/>
                </a:solidFill>
              </a:rPr>
              <a:t>: An end-to-end security platform combining data sanitization, image forensics, and secure model training.</a:t>
            </a:r>
            <a:endParaRPr sz="1200">
              <a:solidFill>
                <a:schemeClr val="dk1"/>
              </a:solidFill>
              <a:latin typeface="Calibri"/>
              <a:ea typeface="Calibri"/>
              <a:cs typeface="Calibri"/>
              <a:sym typeface="Calibri"/>
            </a:endParaRPr>
          </a:p>
        </p:txBody>
      </p:sp>
      <p:sp>
        <p:nvSpPr>
          <p:cNvPr id="65" name="Google Shape;65;p5"/>
          <p:cNvSpPr/>
          <p:nvPr/>
        </p:nvSpPr>
        <p:spPr>
          <a:xfrm>
            <a:off x="847168" y="3401278"/>
            <a:ext cx="3072000" cy="566700"/>
          </a:xfrm>
          <a:prstGeom prst="rect">
            <a:avLst/>
          </a:prstGeom>
          <a:noFill/>
          <a:ln cap="flat" cmpd="sng" w="9525">
            <a:solidFill>
              <a:srgbClr val="00000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Selected idea (taken to PoC)</a:t>
            </a:r>
            <a:endParaRPr/>
          </a:p>
        </p:txBody>
      </p:sp>
      <p:sp>
        <p:nvSpPr>
          <p:cNvPr id="66" name="Google Shape;66;p5"/>
          <p:cNvSpPr/>
          <p:nvPr/>
        </p:nvSpPr>
        <p:spPr>
          <a:xfrm>
            <a:off x="4032360" y="3249209"/>
            <a:ext cx="7154569" cy="823728"/>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1200">
                <a:solidFill>
                  <a:schemeClr val="dk1"/>
                </a:solidFill>
              </a:rPr>
              <a:t>PoisonProof AI</a:t>
            </a:r>
            <a:r>
              <a:rPr lang="en-US" sz="1200">
                <a:solidFill>
                  <a:schemeClr val="dk1"/>
                </a:solidFill>
              </a:rPr>
              <a:t> — A comprehensive security platform that provides real-time anomaly detection, automated data cleaning, and cryptographically verified ML model training with a cyber-themed interface.</a:t>
            </a:r>
            <a:endParaRPr sz="1200">
              <a:solidFill>
                <a:schemeClr val="dk1"/>
              </a:solidFill>
              <a:latin typeface="Calibri"/>
              <a:ea typeface="Calibri"/>
              <a:cs typeface="Calibri"/>
              <a:sym typeface="Calibri"/>
            </a:endParaRPr>
          </a:p>
        </p:txBody>
      </p:sp>
      <p:sp>
        <p:nvSpPr>
          <p:cNvPr id="67" name="Google Shape;67;p5"/>
          <p:cNvSpPr/>
          <p:nvPr/>
        </p:nvSpPr>
        <p:spPr>
          <a:xfrm>
            <a:off x="847231" y="4354155"/>
            <a:ext cx="3071880" cy="566640"/>
          </a:xfrm>
          <a:prstGeom prst="rect">
            <a:avLst/>
          </a:prstGeom>
          <a:noFill/>
          <a:ln cap="flat" cmpd="sng" w="9525">
            <a:solidFill>
              <a:srgbClr val="00000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Why selected (Design Thinking lenses)</a:t>
            </a:r>
            <a:endParaRPr/>
          </a:p>
        </p:txBody>
      </p:sp>
      <p:sp>
        <p:nvSpPr>
          <p:cNvPr id="68" name="Google Shape;68;p5"/>
          <p:cNvSpPr/>
          <p:nvPr/>
        </p:nvSpPr>
        <p:spPr>
          <a:xfrm>
            <a:off x="4046471" y="4225431"/>
            <a:ext cx="7154569" cy="894283"/>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rtl="0" algn="l">
              <a:spcBef>
                <a:spcPts val="0"/>
              </a:spcBef>
              <a:spcAft>
                <a:spcPts val="0"/>
              </a:spcAft>
              <a:buClr>
                <a:schemeClr val="dk1"/>
              </a:buClr>
              <a:buSzPts val="1100"/>
              <a:buFont typeface="Arial"/>
              <a:buNone/>
            </a:pPr>
            <a:r>
              <a:rPr b="1" lang="en-US" sz="1200">
                <a:solidFill>
                  <a:schemeClr val="dk1"/>
                </a:solidFill>
              </a:rPr>
              <a:t>Desirable:</a:t>
            </a:r>
            <a:r>
              <a:rPr lang="en-US" sz="1200">
                <a:solidFill>
                  <a:schemeClr val="dk1"/>
                </a:solidFill>
              </a:rPr>
              <a:t> Solves the critical pain point of AI trust and security in enterprise environments.</a:t>
            </a:r>
            <a:endParaRPr sz="1200">
              <a:solidFill>
                <a:schemeClr val="dk1"/>
              </a:solidFill>
            </a:endParaRPr>
          </a:p>
          <a:p>
            <a:pPr indent="0" lvl="0" marL="0" rtl="0" algn="l">
              <a:spcBef>
                <a:spcPts val="0"/>
              </a:spcBef>
              <a:spcAft>
                <a:spcPts val="0"/>
              </a:spcAft>
              <a:buClr>
                <a:schemeClr val="dk1"/>
              </a:buClr>
              <a:buSzPts val="1100"/>
              <a:buFont typeface="Arial"/>
              <a:buNone/>
            </a:pPr>
            <a:r>
              <a:rPr b="1" lang="en-US" sz="1200">
                <a:solidFill>
                  <a:schemeClr val="dk1"/>
                </a:solidFill>
              </a:rPr>
              <a:t>Feasible:</a:t>
            </a:r>
            <a:r>
              <a:rPr lang="en-US" sz="1200">
                <a:solidFill>
                  <a:schemeClr val="dk1"/>
                </a:solidFill>
              </a:rPr>
              <a:t> Leverages established Python libraries (Flask, Scikit-learn, OpenCV) and cryptographic standards.</a:t>
            </a:r>
            <a:endParaRPr sz="1200">
              <a:solidFill>
                <a:schemeClr val="dk1"/>
              </a:solidFill>
            </a:endParaRPr>
          </a:p>
          <a:p>
            <a:pPr indent="0" lvl="0" marL="0" rtl="0" algn="l">
              <a:spcBef>
                <a:spcPts val="0"/>
              </a:spcBef>
              <a:spcAft>
                <a:spcPts val="0"/>
              </a:spcAft>
              <a:buSzPts val="1100"/>
              <a:buNone/>
            </a:pPr>
            <a:r>
              <a:rPr b="1" lang="en-US" sz="1200">
                <a:solidFill>
                  <a:schemeClr val="dk1"/>
                </a:solidFill>
              </a:rPr>
              <a:t>Viable:</a:t>
            </a:r>
            <a:r>
              <a:rPr lang="en-US" sz="1200">
                <a:solidFill>
                  <a:schemeClr val="dk1"/>
                </a:solidFill>
              </a:rPr>
              <a:t> Scalable as an API or internal security layer for organizations handling sensitive AI data.</a:t>
            </a:r>
            <a:endParaRPr b="1" sz="1200">
              <a:latin typeface="Calibri"/>
              <a:ea typeface="Calibri"/>
              <a:cs typeface="Calibri"/>
              <a:sym typeface="Calibri"/>
            </a:endParaRPr>
          </a:p>
        </p:txBody>
      </p:sp>
      <p:sp>
        <p:nvSpPr>
          <p:cNvPr id="69" name="Google Shape;69;p5"/>
          <p:cNvSpPr/>
          <p:nvPr/>
        </p:nvSpPr>
        <p:spPr>
          <a:xfrm>
            <a:off x="847231" y="5372352"/>
            <a:ext cx="3071880" cy="566640"/>
          </a:xfrm>
          <a:prstGeom prst="rect">
            <a:avLst/>
          </a:prstGeom>
          <a:noFill/>
          <a:ln cap="flat" cmpd="sng" w="9525">
            <a:solidFill>
              <a:srgbClr val="00000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MoSCoW: Must-have features for PoC</a:t>
            </a:r>
            <a:endParaRPr/>
          </a:p>
        </p:txBody>
      </p:sp>
      <p:sp>
        <p:nvSpPr>
          <p:cNvPr id="70" name="Google Shape;70;p5"/>
          <p:cNvSpPr/>
          <p:nvPr/>
        </p:nvSpPr>
        <p:spPr>
          <a:xfrm>
            <a:off x="4018250" y="5372873"/>
            <a:ext cx="7154700" cy="66660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1200">
                <a:solidFill>
                  <a:schemeClr val="dk1"/>
                </a:solidFill>
              </a:rPr>
              <a:t>Must-Have:</a:t>
            </a:r>
            <a:r>
              <a:rPr lang="en-US" sz="1200">
                <a:solidFill>
                  <a:schemeClr val="dk1"/>
                </a:solidFill>
              </a:rPr>
              <a:t> Multi-pattern injection detection, image ELA/EXIF analysis, SSE-based live model training, and SHA-256 file verification</a:t>
            </a:r>
            <a:endParaRPr sz="1200">
              <a:solidFill>
                <a:schemeClr val="dk1"/>
              </a:solidFill>
              <a:latin typeface="Calibri"/>
              <a:ea typeface="Calibri"/>
              <a:cs typeface="Calibri"/>
              <a:sym typeface="Calibri"/>
            </a:endParaRPr>
          </a:p>
        </p:txBody>
      </p:sp>
      <p:sp>
        <p:nvSpPr>
          <p:cNvPr id="71" name="Google Shape;71;p5"/>
          <p:cNvSpPr/>
          <p:nvPr/>
        </p:nvSpPr>
        <p:spPr>
          <a:xfrm>
            <a:off x="4057494" y="4922817"/>
            <a:ext cx="7132523" cy="450067"/>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 name="Google Shape;72;p5"/>
          <p:cNvSpPr/>
          <p:nvPr/>
        </p:nvSpPr>
        <p:spPr>
          <a:xfrm>
            <a:off x="594360" y="6620400"/>
            <a:ext cx="11002680" cy="20088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SoI Prototype Stage — Submission Deck</a:t>
            </a:r>
            <a:endParaRPr/>
          </a:p>
        </p:txBody>
      </p:sp>
      <p:sp>
        <p:nvSpPr>
          <p:cNvPr id="73" name="Google Shape;73;p5"/>
          <p:cNvSpPr/>
          <p:nvPr/>
        </p:nvSpPr>
        <p:spPr>
          <a:xfrm>
            <a:off x="10867696" y="6560820"/>
            <a:ext cx="729344" cy="26010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4/23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6"/>
          <p:cNvSpPr/>
          <p:nvPr/>
        </p:nvSpPr>
        <p:spPr>
          <a:xfrm>
            <a:off x="0" y="0"/>
            <a:ext cx="12191400" cy="566640"/>
          </a:xfrm>
          <a:prstGeom prst="rect">
            <a:avLst/>
          </a:prstGeom>
          <a:solidFill>
            <a:srgbClr val="0B2E4A"/>
          </a:solidFill>
          <a:ln cap="flat" cmpd="sng" w="12700">
            <a:solidFill>
              <a:srgbClr val="0B2E4A"/>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80" name="Google Shape;80;p6"/>
          <p:cNvSpPr/>
          <p:nvPr/>
        </p:nvSpPr>
        <p:spPr>
          <a:xfrm>
            <a:off x="0" y="0"/>
            <a:ext cx="145800" cy="566640"/>
          </a:xfrm>
          <a:prstGeom prst="rect">
            <a:avLst/>
          </a:prstGeom>
          <a:solidFill>
            <a:srgbClr val="2F6FB3"/>
          </a:solidFill>
          <a:ln cap="flat" cmpd="sng" w="12700">
            <a:solidFill>
              <a:srgbClr val="2F6FB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81" name="Google Shape;81;p6"/>
          <p:cNvSpPr/>
          <p:nvPr/>
        </p:nvSpPr>
        <p:spPr>
          <a:xfrm>
            <a:off x="594360" y="109800"/>
            <a:ext cx="11002680" cy="319680"/>
          </a:xfrm>
          <a:prstGeom prst="rect">
            <a:avLst/>
          </a:prstGeom>
          <a:noFill/>
          <a:ln>
            <a:noFill/>
          </a:ln>
        </p:spPr>
        <p:txBody>
          <a:bodyPr anchorCtr="0" anchor="ctr" bIns="45000" lIns="90000" spcFirstLastPara="1" rIns="90000" wrap="square" tIns="45000">
            <a:noAutofit/>
          </a:bodyPr>
          <a:lstStyle/>
          <a:p>
            <a:pPr indent="0" lvl="0" marL="0" marR="0" rtl="0" algn="r">
              <a:lnSpc>
                <a:spcPct val="100000"/>
              </a:lnSpc>
              <a:spcBef>
                <a:spcPts val="0"/>
              </a:spcBef>
              <a:spcAft>
                <a:spcPts val="0"/>
              </a:spcAft>
              <a:buNone/>
            </a:pPr>
            <a:r>
              <a:rPr b="1" lang="en-US" sz="1400" u="none" strike="noStrike">
                <a:solidFill>
                  <a:srgbClr val="FFFFFF"/>
                </a:solidFill>
                <a:latin typeface="Calibri"/>
                <a:ea typeface="Calibri"/>
                <a:cs typeface="Calibri"/>
                <a:sym typeface="Calibri"/>
              </a:rPr>
              <a:t>SoI Innovation Pipeline</a:t>
            </a:r>
            <a:endParaRPr b="0" sz="1400" u="none" strike="noStrike">
              <a:solidFill>
                <a:srgbClr val="000000"/>
              </a:solidFill>
              <a:latin typeface="Arial"/>
              <a:ea typeface="Arial"/>
              <a:cs typeface="Arial"/>
              <a:sym typeface="Arial"/>
            </a:endParaRPr>
          </a:p>
        </p:txBody>
      </p:sp>
      <p:sp>
        <p:nvSpPr>
          <p:cNvPr id="82" name="Google Shape;82;p6"/>
          <p:cNvSpPr/>
          <p:nvPr/>
        </p:nvSpPr>
        <p:spPr>
          <a:xfrm>
            <a:off x="594360" y="658440"/>
            <a:ext cx="1919880" cy="292320"/>
          </a:xfrm>
          <a:prstGeom prst="roundRect">
            <a:avLst>
              <a:gd fmla="val 16667" name="adj"/>
            </a:avLst>
          </a:prstGeom>
          <a:solidFill>
            <a:srgbClr val="2F6FB3"/>
          </a:solidFill>
          <a:ln cap="flat" cmpd="sng" w="12700">
            <a:solidFill>
              <a:srgbClr val="2F6FB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83" name="Google Shape;83;p6"/>
          <p:cNvSpPr/>
          <p:nvPr/>
        </p:nvSpPr>
        <p:spPr>
          <a:xfrm>
            <a:off x="594360" y="704160"/>
            <a:ext cx="1919880" cy="2008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200" u="none" strike="noStrike">
                <a:solidFill>
                  <a:srgbClr val="FFFFFF"/>
                </a:solidFill>
                <a:latin typeface="Calibri"/>
                <a:ea typeface="Calibri"/>
                <a:cs typeface="Calibri"/>
                <a:sym typeface="Calibri"/>
              </a:rPr>
              <a:t>POC</a:t>
            </a:r>
            <a:endParaRPr b="0" sz="1200" u="none" strike="noStrike">
              <a:solidFill>
                <a:srgbClr val="000000"/>
              </a:solidFill>
              <a:latin typeface="Arial"/>
              <a:ea typeface="Arial"/>
              <a:cs typeface="Arial"/>
              <a:sym typeface="Arial"/>
            </a:endParaRPr>
          </a:p>
        </p:txBody>
      </p:sp>
      <p:sp>
        <p:nvSpPr>
          <p:cNvPr id="84" name="Google Shape;84;p6"/>
          <p:cNvSpPr/>
          <p:nvPr/>
        </p:nvSpPr>
        <p:spPr>
          <a:xfrm>
            <a:off x="594360" y="822960"/>
            <a:ext cx="11002680" cy="5482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3200" u="none" strike="noStrike">
                <a:solidFill>
                  <a:srgbClr val="111827"/>
                </a:solidFill>
                <a:latin typeface="Calibri"/>
                <a:ea typeface="Calibri"/>
                <a:cs typeface="Calibri"/>
                <a:sym typeface="Calibri"/>
              </a:rPr>
              <a:t>PoC Recap — What We Built &amp; Learned</a:t>
            </a:r>
            <a:endParaRPr b="0" sz="3200" u="none" strike="noStrike">
              <a:solidFill>
                <a:srgbClr val="000000"/>
              </a:solidFill>
              <a:latin typeface="Arial"/>
              <a:ea typeface="Arial"/>
              <a:cs typeface="Arial"/>
              <a:sym typeface="Arial"/>
            </a:endParaRPr>
          </a:p>
        </p:txBody>
      </p:sp>
      <p:sp>
        <p:nvSpPr>
          <p:cNvPr id="85" name="Google Shape;85;p6"/>
          <p:cNvSpPr/>
          <p:nvPr/>
        </p:nvSpPr>
        <p:spPr>
          <a:xfrm>
            <a:off x="594360" y="1417320"/>
            <a:ext cx="11002680" cy="3654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600" u="none" strike="noStrike">
                <a:solidFill>
                  <a:srgbClr val="4B5563"/>
                </a:solidFill>
                <a:latin typeface="Calibri"/>
                <a:ea typeface="Calibri"/>
                <a:cs typeface="Calibri"/>
                <a:sym typeface="Calibri"/>
              </a:rPr>
              <a:t>Summarize PoC outcomes and gaps that drive prototype.</a:t>
            </a:r>
            <a:endParaRPr b="0" sz="1600" u="none" strike="noStrike">
              <a:solidFill>
                <a:srgbClr val="000000"/>
              </a:solidFill>
              <a:latin typeface="Arial"/>
              <a:ea typeface="Arial"/>
              <a:cs typeface="Arial"/>
              <a:sym typeface="Arial"/>
            </a:endParaRPr>
          </a:p>
        </p:txBody>
      </p:sp>
      <p:sp>
        <p:nvSpPr>
          <p:cNvPr id="86" name="Google Shape;86;p6"/>
          <p:cNvSpPr/>
          <p:nvPr/>
        </p:nvSpPr>
        <p:spPr>
          <a:xfrm>
            <a:off x="594360" y="1715911"/>
            <a:ext cx="10972440" cy="4754520"/>
          </a:xfrm>
          <a:prstGeom prst="roundRect">
            <a:avLst>
              <a:gd fmla="val 16667" name="adj"/>
            </a:avLst>
          </a:prstGeom>
          <a:solidFill>
            <a:srgbClr val="FFFFFF"/>
          </a:solidFill>
          <a:ln cap="flat" cmpd="sng" w="12700">
            <a:solidFill>
              <a:srgbClr val="E5E7EB"/>
            </a:solidFill>
            <a:prstDash val="solid"/>
            <a:round/>
            <a:headEnd len="sm" w="sm" type="none"/>
            <a:tailEnd len="sm" w="sm" type="none"/>
          </a:ln>
          <a:effectLst>
            <a:outerShdw blurRad="28080" rotWithShape="0" algn="bl" dir="2700000" dist="19855">
              <a:srgbClr val="000000">
                <a:alpha val="15686"/>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87" name="Google Shape;87;p6"/>
          <p:cNvSpPr/>
          <p:nvPr/>
        </p:nvSpPr>
        <p:spPr>
          <a:xfrm>
            <a:off x="850320" y="1993320"/>
            <a:ext cx="10460520" cy="3196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600" u="none" strike="noStrike">
                <a:solidFill>
                  <a:srgbClr val="111827"/>
                </a:solidFill>
                <a:latin typeface="Calibri"/>
                <a:ea typeface="Calibri"/>
                <a:cs typeface="Calibri"/>
                <a:sym typeface="Calibri"/>
              </a:rPr>
              <a:t>PoC summary (fill)</a:t>
            </a:r>
            <a:endParaRPr b="0" sz="1600" u="none" strike="noStrike">
              <a:solidFill>
                <a:srgbClr val="000000"/>
              </a:solidFill>
              <a:latin typeface="Arial"/>
              <a:ea typeface="Arial"/>
              <a:cs typeface="Arial"/>
              <a:sym typeface="Arial"/>
            </a:endParaRPr>
          </a:p>
        </p:txBody>
      </p:sp>
      <p:sp>
        <p:nvSpPr>
          <p:cNvPr id="88" name="Google Shape;88;p6"/>
          <p:cNvSpPr/>
          <p:nvPr/>
        </p:nvSpPr>
        <p:spPr>
          <a:xfrm>
            <a:off x="850320" y="2331720"/>
            <a:ext cx="10460520" cy="4077720"/>
          </a:xfrm>
          <a:prstGeom prst="rect">
            <a:avLst/>
          </a:prstGeom>
          <a:noFill/>
          <a:ln>
            <a:noFill/>
          </a:ln>
        </p:spPr>
        <p:txBody>
          <a:bodyPr anchorCtr="0" anchor="t" bIns="45000" lIns="90000" spcFirstLastPara="1" rIns="90000" wrap="square" tIns="45000">
            <a:noAutofit/>
          </a:bodyPr>
          <a:lstStyle/>
          <a:p>
            <a:pPr indent="0" lvl="0" marL="0" marR="0" rtl="0" algn="l">
              <a:lnSpc>
                <a:spcPct val="110000"/>
              </a:lnSpc>
              <a:spcBef>
                <a:spcPts val="0"/>
              </a:spcBef>
              <a:spcAft>
                <a:spcPts val="0"/>
              </a:spcAft>
              <a:buNone/>
            </a:pPr>
            <a:r>
              <a:t/>
            </a:r>
            <a:endParaRPr b="0" sz="1300" u="none" strike="noStrike">
              <a:solidFill>
                <a:schemeClr val="dk1"/>
              </a:solidFill>
              <a:latin typeface="Calibri"/>
              <a:ea typeface="Calibri"/>
              <a:cs typeface="Calibri"/>
              <a:sym typeface="Calibri"/>
            </a:endParaRPr>
          </a:p>
        </p:txBody>
      </p:sp>
      <p:sp>
        <p:nvSpPr>
          <p:cNvPr id="89" name="Google Shape;89;p6"/>
          <p:cNvSpPr/>
          <p:nvPr/>
        </p:nvSpPr>
        <p:spPr>
          <a:xfrm>
            <a:off x="815731" y="2523592"/>
            <a:ext cx="3072000" cy="5667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300" u="none" strike="noStrike">
                <a:solidFill>
                  <a:srgbClr val="4B5563"/>
                </a:solidFill>
                <a:latin typeface="Calibri"/>
                <a:ea typeface="Calibri"/>
                <a:cs typeface="Calibri"/>
                <a:sym typeface="Calibri"/>
              </a:rPr>
              <a:t>PoC built</a:t>
            </a:r>
            <a:endParaRPr b="0" sz="1300" u="none" strike="noStrike">
              <a:solidFill>
                <a:srgbClr val="000000"/>
              </a:solidFill>
              <a:latin typeface="Arial"/>
              <a:ea typeface="Arial"/>
              <a:cs typeface="Arial"/>
              <a:sym typeface="Arial"/>
            </a:endParaRPr>
          </a:p>
        </p:txBody>
      </p:sp>
      <p:sp>
        <p:nvSpPr>
          <p:cNvPr id="90" name="Google Shape;90;p6"/>
          <p:cNvSpPr/>
          <p:nvPr/>
        </p:nvSpPr>
        <p:spPr>
          <a:xfrm>
            <a:off x="4032360" y="2393125"/>
            <a:ext cx="7239300" cy="123300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Flask-based backend with upload, scan, and result routes.</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Anomaly Engine utilizing Isolation Forest and z-score methods.</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Integrity service for SHA-256 hashing and SQLite audit logging.</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Frontend UI built with Bootstrap 5 and Chart.js for data visualization.</a:t>
            </a:r>
            <a:endParaRPr sz="1800">
              <a:latin typeface="Calibri"/>
              <a:ea typeface="Calibri"/>
              <a:cs typeface="Calibri"/>
              <a:sym typeface="Calibri"/>
            </a:endParaRPr>
          </a:p>
        </p:txBody>
      </p:sp>
      <p:sp>
        <p:nvSpPr>
          <p:cNvPr id="91" name="Google Shape;91;p6"/>
          <p:cNvSpPr/>
          <p:nvPr/>
        </p:nvSpPr>
        <p:spPr>
          <a:xfrm>
            <a:off x="847231" y="3739681"/>
            <a:ext cx="3072000" cy="5667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300" u="none" strike="noStrike">
                <a:solidFill>
                  <a:srgbClr val="4B5563"/>
                </a:solidFill>
                <a:latin typeface="Calibri"/>
                <a:ea typeface="Calibri"/>
                <a:cs typeface="Calibri"/>
                <a:sym typeface="Calibri"/>
              </a:rPr>
              <a:t>PoC focus</a:t>
            </a:r>
            <a:endParaRPr b="0" sz="1300" u="none" strike="noStrike">
              <a:solidFill>
                <a:srgbClr val="000000"/>
              </a:solidFill>
              <a:latin typeface="Arial"/>
              <a:ea typeface="Arial"/>
              <a:cs typeface="Arial"/>
              <a:sym typeface="Arial"/>
            </a:endParaRPr>
          </a:p>
        </p:txBody>
      </p:sp>
      <p:sp>
        <p:nvSpPr>
          <p:cNvPr id="92" name="Google Shape;92;p6"/>
          <p:cNvSpPr/>
          <p:nvPr/>
        </p:nvSpPr>
        <p:spPr>
          <a:xfrm>
            <a:off x="4039400" y="3727347"/>
            <a:ext cx="7225200" cy="105420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latin typeface="Calibri"/>
                <a:ea typeface="Calibri"/>
                <a:cs typeface="Calibri"/>
                <a:sym typeface="Calibri"/>
              </a:rPr>
              <a:t>To prove that a simple detector and dataset fingerprinting can reliably flag poisoned rows and produce a verifiable audit log before model training begins</a:t>
            </a:r>
            <a:endParaRPr sz="1800">
              <a:solidFill>
                <a:schemeClr val="dk1"/>
              </a:solidFill>
              <a:latin typeface="Calibri"/>
              <a:ea typeface="Calibri"/>
              <a:cs typeface="Calibri"/>
              <a:sym typeface="Calibri"/>
            </a:endParaRPr>
          </a:p>
        </p:txBody>
      </p:sp>
      <p:sp>
        <p:nvSpPr>
          <p:cNvPr id="93" name="Google Shape;93;p6"/>
          <p:cNvSpPr/>
          <p:nvPr/>
        </p:nvSpPr>
        <p:spPr>
          <a:xfrm>
            <a:off x="847231" y="5344129"/>
            <a:ext cx="3071880" cy="56664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300" u="none" strike="noStrike">
                <a:solidFill>
                  <a:srgbClr val="4B5563"/>
                </a:solidFill>
                <a:latin typeface="Calibri"/>
                <a:ea typeface="Calibri"/>
                <a:cs typeface="Calibri"/>
                <a:sym typeface="Calibri"/>
              </a:rPr>
              <a:t>Key gaps</a:t>
            </a:r>
            <a:endParaRPr b="0" sz="1300" u="none" strike="noStrike">
              <a:solidFill>
                <a:srgbClr val="000000"/>
              </a:solidFill>
              <a:latin typeface="Arial"/>
              <a:ea typeface="Arial"/>
              <a:cs typeface="Arial"/>
              <a:sym typeface="Arial"/>
            </a:endParaRPr>
          </a:p>
        </p:txBody>
      </p:sp>
      <p:sp>
        <p:nvSpPr>
          <p:cNvPr id="94" name="Google Shape;94;p6"/>
          <p:cNvSpPr/>
          <p:nvPr/>
        </p:nvSpPr>
        <p:spPr>
          <a:xfrm>
            <a:off x="4032350" y="5117003"/>
            <a:ext cx="7239300" cy="118380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Lack of a multi-detector ensemble for more sophisticated poisoning.</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No role-based access control (RBAC) or CI/CD integration.</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Limited to single-laptop/server performance; not yet ready for large-scale distributed scans.</a:t>
            </a:r>
            <a:endParaRPr sz="1800">
              <a:latin typeface="Calibri"/>
              <a:ea typeface="Calibri"/>
              <a:cs typeface="Calibri"/>
              <a:sym typeface="Calibri"/>
            </a:endParaRPr>
          </a:p>
          <a:p>
            <a:pPr indent="0" lvl="0" marL="457200" marR="0" rtl="0" algn="l">
              <a:spcBef>
                <a:spcPts val="0"/>
              </a:spcBef>
              <a:spcAft>
                <a:spcPts val="0"/>
              </a:spcAft>
              <a:buNone/>
            </a:pPr>
            <a:r>
              <a:t/>
            </a:r>
            <a:endParaRPr sz="1800">
              <a:latin typeface="Calibri"/>
              <a:ea typeface="Calibri"/>
              <a:cs typeface="Calibri"/>
              <a:sym typeface="Calibri"/>
            </a:endParaRPr>
          </a:p>
        </p:txBody>
      </p:sp>
      <p:sp>
        <p:nvSpPr>
          <p:cNvPr id="95" name="Google Shape;95;p6"/>
          <p:cNvSpPr/>
          <p:nvPr/>
        </p:nvSpPr>
        <p:spPr>
          <a:xfrm>
            <a:off x="0" y="6565320"/>
            <a:ext cx="12191400" cy="29232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96" name="Google Shape;96;p6"/>
          <p:cNvSpPr/>
          <p:nvPr/>
        </p:nvSpPr>
        <p:spPr>
          <a:xfrm>
            <a:off x="594360" y="6620400"/>
            <a:ext cx="11002680" cy="200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000" u="none" strike="noStrike">
                <a:solidFill>
                  <a:srgbClr val="6B7280"/>
                </a:solidFill>
                <a:latin typeface="Calibri"/>
                <a:ea typeface="Calibri"/>
                <a:cs typeface="Calibri"/>
                <a:sym typeface="Calibri"/>
              </a:rPr>
              <a:t>SoI Prototype Stage — Submission Deck</a:t>
            </a:r>
            <a:endParaRPr b="0" sz="1000" u="none" strike="noStrike">
              <a:solidFill>
                <a:srgbClr val="000000"/>
              </a:solidFill>
              <a:latin typeface="Arial"/>
              <a:ea typeface="Arial"/>
              <a:cs typeface="Arial"/>
              <a:sym typeface="Arial"/>
            </a:endParaRPr>
          </a:p>
        </p:txBody>
      </p:sp>
      <p:sp>
        <p:nvSpPr>
          <p:cNvPr id="97" name="Google Shape;97;p6"/>
          <p:cNvSpPr/>
          <p:nvPr/>
        </p:nvSpPr>
        <p:spPr>
          <a:xfrm>
            <a:off x="10972800" y="6620400"/>
            <a:ext cx="624240" cy="29232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5/23</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7"/>
          <p:cNvSpPr/>
          <p:nvPr/>
        </p:nvSpPr>
        <p:spPr>
          <a:xfrm>
            <a:off x="78725" y="-78750"/>
            <a:ext cx="12191400" cy="566700"/>
          </a:xfrm>
          <a:prstGeom prst="rect">
            <a:avLst/>
          </a:prstGeom>
          <a:solidFill>
            <a:srgbClr val="0B2E4A"/>
          </a:solidFill>
          <a:ln cap="flat" cmpd="sng" w="12700">
            <a:solidFill>
              <a:srgbClr val="0B2E4A"/>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04" name="Google Shape;104;p7"/>
          <p:cNvSpPr/>
          <p:nvPr/>
        </p:nvSpPr>
        <p:spPr>
          <a:xfrm>
            <a:off x="78725" y="-78750"/>
            <a:ext cx="145800" cy="566700"/>
          </a:xfrm>
          <a:prstGeom prst="rect">
            <a:avLst/>
          </a:prstGeom>
          <a:solidFill>
            <a:srgbClr val="2F6FB3"/>
          </a:solidFill>
          <a:ln cap="flat" cmpd="sng" w="12700">
            <a:solidFill>
              <a:srgbClr val="2F6FB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05" name="Google Shape;105;p7"/>
          <p:cNvSpPr/>
          <p:nvPr/>
        </p:nvSpPr>
        <p:spPr>
          <a:xfrm>
            <a:off x="673085" y="31050"/>
            <a:ext cx="11002800" cy="319800"/>
          </a:xfrm>
          <a:prstGeom prst="rect">
            <a:avLst/>
          </a:prstGeom>
          <a:noFill/>
          <a:ln>
            <a:noFill/>
          </a:ln>
        </p:spPr>
        <p:txBody>
          <a:bodyPr anchorCtr="0" anchor="ctr" bIns="45000" lIns="90000" spcFirstLastPara="1" rIns="90000" wrap="square" tIns="45000">
            <a:noAutofit/>
          </a:bodyPr>
          <a:lstStyle/>
          <a:p>
            <a:pPr indent="0" lvl="0" marL="0" marR="0" rtl="0" algn="r">
              <a:lnSpc>
                <a:spcPct val="100000"/>
              </a:lnSpc>
              <a:spcBef>
                <a:spcPts val="0"/>
              </a:spcBef>
              <a:spcAft>
                <a:spcPts val="0"/>
              </a:spcAft>
              <a:buNone/>
            </a:pPr>
            <a:r>
              <a:rPr b="1" lang="en-US" sz="1400" u="none" strike="noStrike">
                <a:solidFill>
                  <a:srgbClr val="FFFFFF"/>
                </a:solidFill>
                <a:latin typeface="Calibri"/>
                <a:ea typeface="Calibri"/>
                <a:cs typeface="Calibri"/>
                <a:sym typeface="Calibri"/>
              </a:rPr>
              <a:t>SoI Innovation Pipeline</a:t>
            </a:r>
            <a:endParaRPr b="0" sz="1400" u="none" strike="noStrike">
              <a:solidFill>
                <a:srgbClr val="000000"/>
              </a:solidFill>
              <a:latin typeface="Arial"/>
              <a:ea typeface="Arial"/>
              <a:cs typeface="Arial"/>
              <a:sym typeface="Arial"/>
            </a:endParaRPr>
          </a:p>
        </p:txBody>
      </p:sp>
      <p:sp>
        <p:nvSpPr>
          <p:cNvPr id="106" name="Google Shape;106;p7"/>
          <p:cNvSpPr/>
          <p:nvPr/>
        </p:nvSpPr>
        <p:spPr>
          <a:xfrm>
            <a:off x="673085" y="579690"/>
            <a:ext cx="1920000" cy="292200"/>
          </a:xfrm>
          <a:prstGeom prst="roundRect">
            <a:avLst>
              <a:gd fmla="val 16667" name="adj"/>
            </a:avLst>
          </a:prstGeom>
          <a:solidFill>
            <a:srgbClr val="2F6FB3"/>
          </a:solidFill>
          <a:ln cap="flat" cmpd="sng" w="12700">
            <a:solidFill>
              <a:srgbClr val="2F6FB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07" name="Google Shape;107;p7"/>
          <p:cNvSpPr/>
          <p:nvPr/>
        </p:nvSpPr>
        <p:spPr>
          <a:xfrm>
            <a:off x="673085" y="625410"/>
            <a:ext cx="1920000" cy="2010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200" u="none" strike="noStrike">
                <a:solidFill>
                  <a:srgbClr val="FFFFFF"/>
                </a:solidFill>
                <a:latin typeface="Calibri"/>
                <a:ea typeface="Calibri"/>
                <a:cs typeface="Calibri"/>
                <a:sym typeface="Calibri"/>
              </a:rPr>
              <a:t>PLAN</a:t>
            </a:r>
            <a:endParaRPr b="0" sz="1200" u="none" strike="noStrike">
              <a:solidFill>
                <a:srgbClr val="000000"/>
              </a:solidFill>
              <a:latin typeface="Arial"/>
              <a:ea typeface="Arial"/>
              <a:cs typeface="Arial"/>
              <a:sym typeface="Arial"/>
            </a:endParaRPr>
          </a:p>
        </p:txBody>
      </p:sp>
      <p:sp>
        <p:nvSpPr>
          <p:cNvPr id="108" name="Google Shape;108;p7"/>
          <p:cNvSpPr/>
          <p:nvPr/>
        </p:nvSpPr>
        <p:spPr>
          <a:xfrm>
            <a:off x="673085" y="744210"/>
            <a:ext cx="11002800" cy="5484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3200" u="none" strike="noStrike">
                <a:solidFill>
                  <a:srgbClr val="111827"/>
                </a:solidFill>
                <a:latin typeface="Calibri"/>
                <a:ea typeface="Calibri"/>
                <a:cs typeface="Calibri"/>
                <a:sym typeface="Calibri"/>
              </a:rPr>
              <a:t>Prototype Objectives &amp; Success Criteria</a:t>
            </a:r>
            <a:endParaRPr b="0" sz="3200" u="none" strike="noStrike">
              <a:solidFill>
                <a:srgbClr val="000000"/>
              </a:solidFill>
              <a:latin typeface="Arial"/>
              <a:ea typeface="Arial"/>
              <a:cs typeface="Arial"/>
              <a:sym typeface="Arial"/>
            </a:endParaRPr>
          </a:p>
        </p:txBody>
      </p:sp>
      <p:sp>
        <p:nvSpPr>
          <p:cNvPr id="109" name="Google Shape;109;p7"/>
          <p:cNvSpPr/>
          <p:nvPr/>
        </p:nvSpPr>
        <p:spPr>
          <a:xfrm>
            <a:off x="673085" y="1338570"/>
            <a:ext cx="11002800" cy="3654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600" u="none" strike="noStrike">
                <a:solidFill>
                  <a:srgbClr val="4B5563"/>
                </a:solidFill>
                <a:latin typeface="Calibri"/>
                <a:ea typeface="Calibri"/>
                <a:cs typeface="Calibri"/>
                <a:sym typeface="Calibri"/>
              </a:rPr>
              <a:t>Define what “success” means and how you will test.</a:t>
            </a:r>
            <a:endParaRPr b="0" sz="1600" u="none" strike="noStrike">
              <a:solidFill>
                <a:srgbClr val="000000"/>
              </a:solidFill>
              <a:latin typeface="Arial"/>
              <a:ea typeface="Arial"/>
              <a:cs typeface="Arial"/>
              <a:sym typeface="Arial"/>
            </a:endParaRPr>
          </a:p>
        </p:txBody>
      </p:sp>
      <p:sp>
        <p:nvSpPr>
          <p:cNvPr id="110" name="Google Shape;110;p7"/>
          <p:cNvSpPr/>
          <p:nvPr/>
        </p:nvSpPr>
        <p:spPr>
          <a:xfrm>
            <a:off x="673085" y="1841490"/>
            <a:ext cx="3620400" cy="456900"/>
          </a:xfrm>
          <a:prstGeom prst="rect">
            <a:avLst/>
          </a:prstGeom>
          <a:solidFill>
            <a:srgbClr val="0B2E4A"/>
          </a:solidFill>
          <a:ln cap="flat" cmpd="sng" w="12700">
            <a:solidFill>
              <a:srgbClr val="FFFFFF"/>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sz="1500" u="none" strike="noStrike">
              <a:solidFill>
                <a:srgbClr val="FFFFFF"/>
              </a:solidFill>
            </a:endParaRPr>
          </a:p>
        </p:txBody>
      </p:sp>
      <p:sp>
        <p:nvSpPr>
          <p:cNvPr id="111" name="Google Shape;111;p7"/>
          <p:cNvSpPr/>
          <p:nvPr/>
        </p:nvSpPr>
        <p:spPr>
          <a:xfrm>
            <a:off x="782885" y="1932930"/>
            <a:ext cx="3401400" cy="310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lang="en-US" sz="1500" u="none" strike="noStrike">
                <a:solidFill>
                  <a:srgbClr val="FFFFFF"/>
                </a:solidFill>
                <a:latin typeface="Calibri"/>
                <a:ea typeface="Calibri"/>
                <a:cs typeface="Calibri"/>
                <a:sym typeface="Calibri"/>
              </a:rPr>
              <a:t>Prototype objective / risk to reduce</a:t>
            </a:r>
            <a:endParaRPr sz="1500" u="none" strike="noStrike">
              <a:solidFill>
                <a:srgbClr val="000000"/>
              </a:solidFill>
            </a:endParaRPr>
          </a:p>
        </p:txBody>
      </p:sp>
      <p:sp>
        <p:nvSpPr>
          <p:cNvPr id="112" name="Google Shape;112;p7"/>
          <p:cNvSpPr/>
          <p:nvPr/>
        </p:nvSpPr>
        <p:spPr>
          <a:xfrm>
            <a:off x="4293965" y="1841490"/>
            <a:ext cx="1755300" cy="456900"/>
          </a:xfrm>
          <a:prstGeom prst="rect">
            <a:avLst/>
          </a:prstGeom>
          <a:solidFill>
            <a:srgbClr val="0B2E4A"/>
          </a:solidFill>
          <a:ln cap="flat" cmpd="sng" w="12700">
            <a:solidFill>
              <a:srgbClr val="FFFFFF"/>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sz="1500" u="none" strike="noStrike">
              <a:solidFill>
                <a:srgbClr val="FFFFFF"/>
              </a:solidFill>
            </a:endParaRPr>
          </a:p>
        </p:txBody>
      </p:sp>
      <p:sp>
        <p:nvSpPr>
          <p:cNvPr id="113" name="Google Shape;113;p7"/>
          <p:cNvSpPr/>
          <p:nvPr/>
        </p:nvSpPr>
        <p:spPr>
          <a:xfrm>
            <a:off x="4403765" y="1932930"/>
            <a:ext cx="1535700" cy="310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lang="en-US" sz="1500" u="none" strike="noStrike">
                <a:solidFill>
                  <a:srgbClr val="FFFFFF"/>
                </a:solidFill>
                <a:latin typeface="Calibri"/>
                <a:ea typeface="Calibri"/>
                <a:cs typeface="Calibri"/>
                <a:sym typeface="Calibri"/>
              </a:rPr>
              <a:t>Metric</a:t>
            </a:r>
            <a:endParaRPr sz="1500" u="none" strike="noStrike">
              <a:solidFill>
                <a:srgbClr val="000000"/>
              </a:solidFill>
            </a:endParaRPr>
          </a:p>
        </p:txBody>
      </p:sp>
      <p:sp>
        <p:nvSpPr>
          <p:cNvPr id="114" name="Google Shape;114;p7"/>
          <p:cNvSpPr/>
          <p:nvPr/>
        </p:nvSpPr>
        <p:spPr>
          <a:xfrm>
            <a:off x="6049685" y="1841490"/>
            <a:ext cx="1974600" cy="456900"/>
          </a:xfrm>
          <a:prstGeom prst="rect">
            <a:avLst/>
          </a:prstGeom>
          <a:solidFill>
            <a:srgbClr val="0B2E4A"/>
          </a:solidFill>
          <a:ln cap="flat" cmpd="sng" w="12700">
            <a:solidFill>
              <a:srgbClr val="FFFFFF"/>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sz="1500" u="none" strike="noStrike">
              <a:solidFill>
                <a:srgbClr val="FFFFFF"/>
              </a:solidFill>
            </a:endParaRPr>
          </a:p>
        </p:txBody>
      </p:sp>
      <p:sp>
        <p:nvSpPr>
          <p:cNvPr id="115" name="Google Shape;115;p7"/>
          <p:cNvSpPr/>
          <p:nvPr/>
        </p:nvSpPr>
        <p:spPr>
          <a:xfrm>
            <a:off x="6159485" y="1932930"/>
            <a:ext cx="1755300" cy="310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lang="en-US" sz="1500" u="none" strike="noStrike">
                <a:solidFill>
                  <a:srgbClr val="FFFFFF"/>
                </a:solidFill>
                <a:latin typeface="Calibri"/>
                <a:ea typeface="Calibri"/>
                <a:cs typeface="Calibri"/>
                <a:sym typeface="Calibri"/>
              </a:rPr>
              <a:t>Target</a:t>
            </a:r>
            <a:endParaRPr sz="1500" u="none" strike="noStrike">
              <a:solidFill>
                <a:srgbClr val="000000"/>
              </a:solidFill>
            </a:endParaRPr>
          </a:p>
        </p:txBody>
      </p:sp>
      <p:sp>
        <p:nvSpPr>
          <p:cNvPr id="116" name="Google Shape;116;p7"/>
          <p:cNvSpPr/>
          <p:nvPr/>
        </p:nvSpPr>
        <p:spPr>
          <a:xfrm>
            <a:off x="8025005" y="1841490"/>
            <a:ext cx="3620400" cy="456900"/>
          </a:xfrm>
          <a:prstGeom prst="rect">
            <a:avLst/>
          </a:prstGeom>
          <a:solidFill>
            <a:srgbClr val="0B2E4A"/>
          </a:solidFill>
          <a:ln cap="flat" cmpd="sng" w="12700">
            <a:solidFill>
              <a:srgbClr val="FFFFFF"/>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sz="1500" u="none" strike="noStrike">
              <a:solidFill>
                <a:srgbClr val="FFFFFF"/>
              </a:solidFill>
            </a:endParaRPr>
          </a:p>
        </p:txBody>
      </p:sp>
      <p:sp>
        <p:nvSpPr>
          <p:cNvPr id="117" name="Google Shape;117;p7"/>
          <p:cNvSpPr/>
          <p:nvPr/>
        </p:nvSpPr>
        <p:spPr>
          <a:xfrm>
            <a:off x="8134445" y="1932930"/>
            <a:ext cx="3401400" cy="310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lang="en-US" sz="1500" u="none" strike="noStrike">
                <a:solidFill>
                  <a:srgbClr val="FFFFFF"/>
                </a:solidFill>
                <a:latin typeface="Calibri"/>
                <a:ea typeface="Calibri"/>
                <a:cs typeface="Calibri"/>
                <a:sym typeface="Calibri"/>
              </a:rPr>
              <a:t>How we will test (prototype)</a:t>
            </a:r>
            <a:endParaRPr sz="1500" u="none" strike="noStrike">
              <a:solidFill>
                <a:srgbClr val="000000"/>
              </a:solidFill>
            </a:endParaRPr>
          </a:p>
        </p:txBody>
      </p:sp>
      <p:sp>
        <p:nvSpPr>
          <p:cNvPr id="118" name="Google Shape;118;p7"/>
          <p:cNvSpPr/>
          <p:nvPr/>
        </p:nvSpPr>
        <p:spPr>
          <a:xfrm>
            <a:off x="673085" y="2298690"/>
            <a:ext cx="3620400" cy="78600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500">
                <a:solidFill>
                  <a:schemeClr val="dk1"/>
                </a:solidFill>
              </a:rPr>
              <a:t>Improve detection robustness </a:t>
            </a:r>
            <a:endParaRPr sz="1500">
              <a:solidFill>
                <a:schemeClr val="dk1"/>
              </a:solidFill>
              <a:latin typeface="Calibri"/>
              <a:ea typeface="Calibri"/>
              <a:cs typeface="Calibri"/>
              <a:sym typeface="Calibri"/>
            </a:endParaRPr>
          </a:p>
        </p:txBody>
      </p:sp>
      <p:sp>
        <p:nvSpPr>
          <p:cNvPr id="119" name="Google Shape;119;p7"/>
          <p:cNvSpPr/>
          <p:nvPr/>
        </p:nvSpPr>
        <p:spPr>
          <a:xfrm>
            <a:off x="4293965" y="2298690"/>
            <a:ext cx="1755300" cy="78600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500">
                <a:solidFill>
                  <a:schemeClr val="dk1"/>
                </a:solidFill>
                <a:latin typeface="Calibri"/>
                <a:ea typeface="Calibri"/>
                <a:cs typeface="Calibri"/>
                <a:sym typeface="Calibri"/>
              </a:rPr>
              <a:t>Precision/Recall</a:t>
            </a:r>
            <a:endParaRPr sz="1500" u="none" strike="noStrike">
              <a:solidFill>
                <a:srgbClr val="000000"/>
              </a:solidFill>
            </a:endParaRPr>
          </a:p>
        </p:txBody>
      </p:sp>
      <p:sp>
        <p:nvSpPr>
          <p:cNvPr id="120" name="Google Shape;120;p7"/>
          <p:cNvSpPr/>
          <p:nvPr/>
        </p:nvSpPr>
        <p:spPr>
          <a:xfrm>
            <a:off x="6049685" y="2298690"/>
            <a:ext cx="1974600" cy="78600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500">
                <a:solidFill>
                  <a:schemeClr val="dk1"/>
                </a:solidFill>
              </a:rPr>
              <a:t>       &gt; 0.90</a:t>
            </a:r>
            <a:endParaRPr sz="1500" u="none" strike="noStrike">
              <a:solidFill>
                <a:srgbClr val="000000"/>
              </a:solidFill>
            </a:endParaRPr>
          </a:p>
        </p:txBody>
      </p:sp>
      <p:sp>
        <p:nvSpPr>
          <p:cNvPr id="121" name="Google Shape;121;p7"/>
          <p:cNvSpPr/>
          <p:nvPr/>
        </p:nvSpPr>
        <p:spPr>
          <a:xfrm>
            <a:off x="8055255" y="2271315"/>
            <a:ext cx="3620400" cy="78600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500">
                <a:latin typeface="Calibri"/>
                <a:ea typeface="Calibri"/>
                <a:cs typeface="Calibri"/>
                <a:sym typeface="Calibri"/>
              </a:rPr>
              <a:t>Test against sophisticated "label flip" poison sets</a:t>
            </a:r>
            <a:endParaRPr sz="1500">
              <a:solidFill>
                <a:schemeClr val="dk1"/>
              </a:solidFill>
              <a:latin typeface="Calibri"/>
              <a:ea typeface="Calibri"/>
              <a:cs typeface="Calibri"/>
              <a:sym typeface="Calibri"/>
            </a:endParaRPr>
          </a:p>
        </p:txBody>
      </p:sp>
      <p:sp>
        <p:nvSpPr>
          <p:cNvPr id="122" name="Google Shape;122;p7"/>
          <p:cNvSpPr/>
          <p:nvPr/>
        </p:nvSpPr>
        <p:spPr>
          <a:xfrm>
            <a:off x="673085" y="3084930"/>
            <a:ext cx="3620400" cy="78600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500">
                <a:solidFill>
                  <a:schemeClr val="dk1"/>
                </a:solidFill>
                <a:latin typeface="Calibri"/>
                <a:ea typeface="Calibri"/>
                <a:cs typeface="Calibri"/>
                <a:sym typeface="Calibri"/>
              </a:rPr>
              <a:t>Ensure tamper-proof logging</a:t>
            </a:r>
            <a:endParaRPr sz="1500" u="none" strike="noStrike">
              <a:solidFill>
                <a:srgbClr val="000000"/>
              </a:solidFill>
            </a:endParaRPr>
          </a:p>
        </p:txBody>
      </p:sp>
      <p:sp>
        <p:nvSpPr>
          <p:cNvPr id="123" name="Google Shape;123;p7"/>
          <p:cNvSpPr/>
          <p:nvPr/>
        </p:nvSpPr>
        <p:spPr>
          <a:xfrm>
            <a:off x="4293965" y="3084930"/>
            <a:ext cx="1755300" cy="78600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500">
                <a:latin typeface="Calibri"/>
                <a:ea typeface="Calibri"/>
                <a:cs typeface="Calibri"/>
                <a:sym typeface="Calibri"/>
              </a:rPr>
              <a:t>Hash mismatch accuracy</a:t>
            </a:r>
            <a:endParaRPr sz="1500">
              <a:solidFill>
                <a:schemeClr val="dk1"/>
              </a:solidFill>
              <a:latin typeface="Calibri"/>
              <a:ea typeface="Calibri"/>
              <a:cs typeface="Calibri"/>
              <a:sym typeface="Calibri"/>
            </a:endParaRPr>
          </a:p>
        </p:txBody>
      </p:sp>
      <p:sp>
        <p:nvSpPr>
          <p:cNvPr id="124" name="Google Shape;124;p7"/>
          <p:cNvSpPr/>
          <p:nvPr/>
        </p:nvSpPr>
        <p:spPr>
          <a:xfrm>
            <a:off x="6049685" y="3084930"/>
            <a:ext cx="1974600" cy="78600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500">
                <a:solidFill>
                  <a:srgbClr val="000000"/>
                </a:solidFill>
                <a:latin typeface="Calibri"/>
                <a:ea typeface="Calibri"/>
                <a:cs typeface="Calibri"/>
                <a:sym typeface="Calibri"/>
              </a:rPr>
              <a:t>  </a:t>
            </a:r>
            <a:endParaRPr sz="1500"/>
          </a:p>
          <a:p>
            <a:pPr indent="0" lvl="0" marL="0" marR="0" rtl="0" algn="l">
              <a:spcBef>
                <a:spcPts val="0"/>
              </a:spcBef>
              <a:spcAft>
                <a:spcPts val="0"/>
              </a:spcAft>
              <a:buNone/>
            </a:pPr>
            <a:r>
              <a:rPr lang="en-US" sz="1500">
                <a:solidFill>
                  <a:srgbClr val="000000"/>
                </a:solidFill>
                <a:latin typeface="Calibri"/>
                <a:ea typeface="Calibri"/>
                <a:cs typeface="Calibri"/>
                <a:sym typeface="Calibri"/>
              </a:rPr>
              <a:t>    100% success </a:t>
            </a:r>
            <a:endParaRPr sz="1500">
              <a:solidFill>
                <a:schemeClr val="dk1"/>
              </a:solidFill>
              <a:latin typeface="Calibri"/>
              <a:ea typeface="Calibri"/>
              <a:cs typeface="Calibri"/>
              <a:sym typeface="Calibri"/>
            </a:endParaRPr>
          </a:p>
        </p:txBody>
      </p:sp>
      <p:sp>
        <p:nvSpPr>
          <p:cNvPr id="125" name="Google Shape;125;p7"/>
          <p:cNvSpPr/>
          <p:nvPr/>
        </p:nvSpPr>
        <p:spPr>
          <a:xfrm>
            <a:off x="8025005" y="3084930"/>
            <a:ext cx="3620400" cy="78600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500">
                <a:latin typeface="Calibri"/>
                <a:ea typeface="Calibri"/>
                <a:cs typeface="Calibri"/>
                <a:sym typeface="Calibri"/>
              </a:rPr>
              <a:t>Manual tampering of the audit DB to trigger alerts</a:t>
            </a:r>
            <a:endParaRPr sz="1500">
              <a:solidFill>
                <a:schemeClr val="dk1"/>
              </a:solidFill>
              <a:latin typeface="Calibri"/>
              <a:ea typeface="Calibri"/>
              <a:cs typeface="Calibri"/>
              <a:sym typeface="Calibri"/>
            </a:endParaRPr>
          </a:p>
        </p:txBody>
      </p:sp>
      <p:sp>
        <p:nvSpPr>
          <p:cNvPr id="126" name="Google Shape;126;p7"/>
          <p:cNvSpPr/>
          <p:nvPr/>
        </p:nvSpPr>
        <p:spPr>
          <a:xfrm>
            <a:off x="673085" y="3871530"/>
            <a:ext cx="3620400" cy="78600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500">
                <a:solidFill>
                  <a:schemeClr val="dk1"/>
                </a:solidFill>
              </a:rPr>
              <a:t>Reduce analysis latency</a:t>
            </a:r>
            <a:endParaRPr sz="1500">
              <a:solidFill>
                <a:schemeClr val="dk1"/>
              </a:solidFill>
              <a:latin typeface="Calibri"/>
              <a:ea typeface="Calibri"/>
              <a:cs typeface="Calibri"/>
              <a:sym typeface="Calibri"/>
            </a:endParaRPr>
          </a:p>
        </p:txBody>
      </p:sp>
      <p:sp>
        <p:nvSpPr>
          <p:cNvPr id="127" name="Google Shape;127;p7"/>
          <p:cNvSpPr/>
          <p:nvPr/>
        </p:nvSpPr>
        <p:spPr>
          <a:xfrm>
            <a:off x="4293965" y="3871530"/>
            <a:ext cx="1755300" cy="78600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500">
                <a:solidFill>
                  <a:schemeClr val="dk1"/>
                </a:solidFill>
              </a:rPr>
              <a:t>E2E processing time</a:t>
            </a:r>
            <a:endParaRPr sz="1500">
              <a:solidFill>
                <a:schemeClr val="dk1"/>
              </a:solidFill>
              <a:latin typeface="Calibri"/>
              <a:ea typeface="Calibri"/>
              <a:cs typeface="Calibri"/>
              <a:sym typeface="Calibri"/>
            </a:endParaRPr>
          </a:p>
        </p:txBody>
      </p:sp>
      <p:sp>
        <p:nvSpPr>
          <p:cNvPr id="128" name="Google Shape;128;p7"/>
          <p:cNvSpPr/>
          <p:nvPr/>
        </p:nvSpPr>
        <p:spPr>
          <a:xfrm>
            <a:off x="6049685" y="3871530"/>
            <a:ext cx="1974600" cy="78600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500">
                <a:latin typeface="Calibri"/>
                <a:ea typeface="Calibri"/>
                <a:cs typeface="Calibri"/>
                <a:sym typeface="Calibri"/>
              </a:rPr>
              <a:t>&lt; 20s for 50k rows</a:t>
            </a:r>
            <a:endParaRPr sz="1500">
              <a:solidFill>
                <a:schemeClr val="dk1"/>
              </a:solidFill>
              <a:latin typeface="Calibri"/>
              <a:ea typeface="Calibri"/>
              <a:cs typeface="Calibri"/>
              <a:sym typeface="Calibri"/>
            </a:endParaRPr>
          </a:p>
        </p:txBody>
      </p:sp>
      <p:sp>
        <p:nvSpPr>
          <p:cNvPr id="129" name="Google Shape;129;p7"/>
          <p:cNvSpPr/>
          <p:nvPr/>
        </p:nvSpPr>
        <p:spPr>
          <a:xfrm>
            <a:off x="8025005" y="3871530"/>
            <a:ext cx="3620400" cy="78600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500">
                <a:solidFill>
                  <a:schemeClr val="dk1"/>
                </a:solidFill>
                <a:latin typeface="Calibri"/>
                <a:ea typeface="Calibri"/>
                <a:cs typeface="Calibri"/>
                <a:sym typeface="Calibri"/>
              </a:rPr>
              <a:t>Benchmarking system performance with large CSVs</a:t>
            </a:r>
            <a:endParaRPr sz="1500">
              <a:solidFill>
                <a:schemeClr val="dk1"/>
              </a:solidFill>
              <a:latin typeface="Calibri"/>
              <a:ea typeface="Calibri"/>
              <a:cs typeface="Calibri"/>
              <a:sym typeface="Calibri"/>
            </a:endParaRPr>
          </a:p>
        </p:txBody>
      </p:sp>
      <p:sp>
        <p:nvSpPr>
          <p:cNvPr id="130" name="Google Shape;130;p7"/>
          <p:cNvSpPr/>
          <p:nvPr/>
        </p:nvSpPr>
        <p:spPr>
          <a:xfrm>
            <a:off x="673085" y="4657770"/>
            <a:ext cx="3620400" cy="78600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500">
                <a:solidFill>
                  <a:schemeClr val="dk1"/>
                </a:solidFill>
              </a:rPr>
              <a:t>User interface clarity </a:t>
            </a:r>
            <a:endParaRPr sz="1500">
              <a:solidFill>
                <a:schemeClr val="dk1"/>
              </a:solidFill>
              <a:latin typeface="Calibri"/>
              <a:ea typeface="Calibri"/>
              <a:cs typeface="Calibri"/>
              <a:sym typeface="Calibri"/>
            </a:endParaRPr>
          </a:p>
        </p:txBody>
      </p:sp>
      <p:sp>
        <p:nvSpPr>
          <p:cNvPr id="131" name="Google Shape;131;p7"/>
          <p:cNvSpPr/>
          <p:nvPr/>
        </p:nvSpPr>
        <p:spPr>
          <a:xfrm>
            <a:off x="4293965" y="4657770"/>
            <a:ext cx="1755300" cy="78600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500">
                <a:latin typeface="Calibri"/>
                <a:ea typeface="Calibri"/>
                <a:cs typeface="Calibri"/>
                <a:sym typeface="Calibri"/>
              </a:rPr>
              <a:t>Task completion rate</a:t>
            </a:r>
            <a:endParaRPr sz="1500">
              <a:solidFill>
                <a:schemeClr val="dk1"/>
              </a:solidFill>
              <a:latin typeface="Calibri"/>
              <a:ea typeface="Calibri"/>
              <a:cs typeface="Calibri"/>
              <a:sym typeface="Calibri"/>
            </a:endParaRPr>
          </a:p>
        </p:txBody>
      </p:sp>
      <p:sp>
        <p:nvSpPr>
          <p:cNvPr id="132" name="Google Shape;132;p7"/>
          <p:cNvSpPr/>
          <p:nvPr/>
        </p:nvSpPr>
        <p:spPr>
          <a:xfrm>
            <a:off x="6049685" y="4657770"/>
            <a:ext cx="1974600" cy="78600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500">
                <a:solidFill>
                  <a:srgbClr val="000000"/>
                </a:solidFill>
                <a:latin typeface="Calibri"/>
                <a:ea typeface="Calibri"/>
                <a:cs typeface="Calibri"/>
                <a:sym typeface="Calibri"/>
              </a:rPr>
              <a:t>  </a:t>
            </a:r>
            <a:endParaRPr sz="1500"/>
          </a:p>
          <a:p>
            <a:pPr indent="0" lvl="0" marL="0" marR="0" rtl="0" algn="l">
              <a:spcBef>
                <a:spcPts val="0"/>
              </a:spcBef>
              <a:spcAft>
                <a:spcPts val="0"/>
              </a:spcAft>
              <a:buNone/>
            </a:pPr>
            <a:r>
              <a:rPr lang="en-US" sz="1500">
                <a:solidFill>
                  <a:srgbClr val="000000"/>
                </a:solidFill>
                <a:latin typeface="Calibri"/>
                <a:ea typeface="Calibri"/>
                <a:cs typeface="Calibri"/>
                <a:sym typeface="Calibri"/>
              </a:rPr>
              <a:t>     ≥90% success</a:t>
            </a:r>
            <a:endParaRPr sz="1500">
              <a:solidFill>
                <a:schemeClr val="dk1"/>
              </a:solidFill>
              <a:latin typeface="Calibri"/>
              <a:ea typeface="Calibri"/>
              <a:cs typeface="Calibri"/>
              <a:sym typeface="Calibri"/>
            </a:endParaRPr>
          </a:p>
        </p:txBody>
      </p:sp>
      <p:sp>
        <p:nvSpPr>
          <p:cNvPr id="133" name="Google Shape;133;p7"/>
          <p:cNvSpPr/>
          <p:nvPr/>
        </p:nvSpPr>
        <p:spPr>
          <a:xfrm>
            <a:off x="8025005" y="4657770"/>
            <a:ext cx="3620400" cy="78600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500">
                <a:latin typeface="Calibri"/>
                <a:ea typeface="Calibri"/>
                <a:cs typeface="Calibri"/>
                <a:sym typeface="Calibri"/>
              </a:rPr>
              <a:t>User flow walkthrough for "Upload to Report Download" </a:t>
            </a:r>
            <a:endParaRPr sz="1500">
              <a:solidFill>
                <a:schemeClr val="dk1"/>
              </a:solidFill>
              <a:latin typeface="Calibri"/>
              <a:ea typeface="Calibri"/>
              <a:cs typeface="Calibri"/>
              <a:sym typeface="Calibri"/>
            </a:endParaRPr>
          </a:p>
        </p:txBody>
      </p:sp>
      <p:sp>
        <p:nvSpPr>
          <p:cNvPr id="134" name="Google Shape;134;p7"/>
          <p:cNvSpPr/>
          <p:nvPr/>
        </p:nvSpPr>
        <p:spPr>
          <a:xfrm>
            <a:off x="78725" y="6486570"/>
            <a:ext cx="12191400" cy="29220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35" name="Google Shape;135;p7"/>
          <p:cNvSpPr/>
          <p:nvPr/>
        </p:nvSpPr>
        <p:spPr>
          <a:xfrm>
            <a:off x="673085" y="6541650"/>
            <a:ext cx="11002800" cy="201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000" u="none" strike="noStrike">
                <a:solidFill>
                  <a:srgbClr val="6B7280"/>
                </a:solidFill>
                <a:latin typeface="Calibri"/>
                <a:ea typeface="Calibri"/>
                <a:cs typeface="Calibri"/>
                <a:sym typeface="Calibri"/>
              </a:rPr>
              <a:t>SoI Prototype Stage — Submission Deck</a:t>
            </a:r>
            <a:endParaRPr b="0" sz="1000" u="none" strike="noStrike">
              <a:solidFill>
                <a:srgbClr val="000000"/>
              </a:solidFill>
              <a:latin typeface="Arial"/>
              <a:ea typeface="Arial"/>
              <a:cs typeface="Arial"/>
              <a:sym typeface="Arial"/>
            </a:endParaRPr>
          </a:p>
        </p:txBody>
      </p:sp>
      <p:sp>
        <p:nvSpPr>
          <p:cNvPr id="136" name="Google Shape;136;p7"/>
          <p:cNvSpPr/>
          <p:nvPr/>
        </p:nvSpPr>
        <p:spPr>
          <a:xfrm>
            <a:off x="11040639" y="6541650"/>
            <a:ext cx="635100" cy="20100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6/23</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8"/>
          <p:cNvSpPr/>
          <p:nvPr/>
        </p:nvSpPr>
        <p:spPr>
          <a:xfrm>
            <a:off x="0" y="0"/>
            <a:ext cx="12191400" cy="566640"/>
          </a:xfrm>
          <a:prstGeom prst="rect">
            <a:avLst/>
          </a:prstGeom>
          <a:solidFill>
            <a:srgbClr val="0B2E4A"/>
          </a:solidFill>
          <a:ln cap="flat" cmpd="sng" w="12700">
            <a:solidFill>
              <a:srgbClr val="0B2E4A"/>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43" name="Google Shape;143;p8"/>
          <p:cNvSpPr/>
          <p:nvPr/>
        </p:nvSpPr>
        <p:spPr>
          <a:xfrm>
            <a:off x="0" y="0"/>
            <a:ext cx="145800" cy="566640"/>
          </a:xfrm>
          <a:prstGeom prst="rect">
            <a:avLst/>
          </a:prstGeom>
          <a:solidFill>
            <a:srgbClr val="2F6FB3"/>
          </a:solidFill>
          <a:ln cap="flat" cmpd="sng" w="12700">
            <a:solidFill>
              <a:srgbClr val="2F6FB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44" name="Google Shape;144;p8"/>
          <p:cNvSpPr/>
          <p:nvPr/>
        </p:nvSpPr>
        <p:spPr>
          <a:xfrm>
            <a:off x="594360" y="109800"/>
            <a:ext cx="11002680" cy="319680"/>
          </a:xfrm>
          <a:prstGeom prst="rect">
            <a:avLst/>
          </a:prstGeom>
          <a:noFill/>
          <a:ln>
            <a:noFill/>
          </a:ln>
        </p:spPr>
        <p:txBody>
          <a:bodyPr anchorCtr="0" anchor="ctr" bIns="45000" lIns="90000" spcFirstLastPara="1" rIns="90000" wrap="square" tIns="45000">
            <a:noAutofit/>
          </a:bodyPr>
          <a:lstStyle/>
          <a:p>
            <a:pPr indent="0" lvl="0" marL="0" marR="0" rtl="0" algn="r">
              <a:lnSpc>
                <a:spcPct val="100000"/>
              </a:lnSpc>
              <a:spcBef>
                <a:spcPts val="0"/>
              </a:spcBef>
              <a:spcAft>
                <a:spcPts val="0"/>
              </a:spcAft>
              <a:buNone/>
            </a:pPr>
            <a:r>
              <a:rPr b="1" lang="en-US" sz="1400" u="none" strike="noStrike">
                <a:solidFill>
                  <a:srgbClr val="FFFFFF"/>
                </a:solidFill>
                <a:latin typeface="Calibri"/>
                <a:ea typeface="Calibri"/>
                <a:cs typeface="Calibri"/>
                <a:sym typeface="Calibri"/>
              </a:rPr>
              <a:t>SoI Innovation Pipeline</a:t>
            </a:r>
            <a:endParaRPr b="0" sz="1400" u="none" strike="noStrike">
              <a:solidFill>
                <a:srgbClr val="000000"/>
              </a:solidFill>
              <a:latin typeface="Arial"/>
              <a:ea typeface="Arial"/>
              <a:cs typeface="Arial"/>
              <a:sym typeface="Arial"/>
            </a:endParaRPr>
          </a:p>
        </p:txBody>
      </p:sp>
      <p:sp>
        <p:nvSpPr>
          <p:cNvPr id="145" name="Google Shape;145;p8"/>
          <p:cNvSpPr/>
          <p:nvPr/>
        </p:nvSpPr>
        <p:spPr>
          <a:xfrm>
            <a:off x="594360" y="658440"/>
            <a:ext cx="1919880" cy="292320"/>
          </a:xfrm>
          <a:prstGeom prst="roundRect">
            <a:avLst>
              <a:gd fmla="val 16667" name="adj"/>
            </a:avLst>
          </a:prstGeom>
          <a:solidFill>
            <a:srgbClr val="2F6FB3"/>
          </a:solidFill>
          <a:ln cap="flat" cmpd="sng" w="12700">
            <a:solidFill>
              <a:srgbClr val="2F6FB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46" name="Google Shape;146;p8"/>
          <p:cNvSpPr/>
          <p:nvPr/>
        </p:nvSpPr>
        <p:spPr>
          <a:xfrm>
            <a:off x="594360" y="704160"/>
            <a:ext cx="1919880" cy="2008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200" u="none" strike="noStrike">
                <a:solidFill>
                  <a:srgbClr val="FFFFFF"/>
                </a:solidFill>
                <a:latin typeface="Calibri"/>
                <a:ea typeface="Calibri"/>
                <a:cs typeface="Calibri"/>
                <a:sym typeface="Calibri"/>
              </a:rPr>
              <a:t>STRATEGY</a:t>
            </a:r>
            <a:endParaRPr b="0" sz="1200" u="none" strike="noStrike">
              <a:solidFill>
                <a:srgbClr val="000000"/>
              </a:solidFill>
              <a:latin typeface="Arial"/>
              <a:ea typeface="Arial"/>
              <a:cs typeface="Arial"/>
              <a:sym typeface="Arial"/>
            </a:endParaRPr>
          </a:p>
        </p:txBody>
      </p:sp>
      <p:sp>
        <p:nvSpPr>
          <p:cNvPr id="147" name="Google Shape;147;p8"/>
          <p:cNvSpPr/>
          <p:nvPr/>
        </p:nvSpPr>
        <p:spPr>
          <a:xfrm>
            <a:off x="594360" y="822960"/>
            <a:ext cx="11002680" cy="5482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3200" u="none" strike="noStrike">
                <a:solidFill>
                  <a:srgbClr val="111827"/>
                </a:solidFill>
                <a:latin typeface="Calibri"/>
                <a:ea typeface="Calibri"/>
                <a:cs typeface="Calibri"/>
                <a:sym typeface="Calibri"/>
              </a:rPr>
              <a:t>Choose Your Prototype Strategy</a:t>
            </a:r>
            <a:endParaRPr b="0" sz="3200" u="none" strike="noStrike">
              <a:solidFill>
                <a:srgbClr val="000000"/>
              </a:solidFill>
              <a:latin typeface="Arial"/>
              <a:ea typeface="Arial"/>
              <a:cs typeface="Arial"/>
              <a:sym typeface="Arial"/>
            </a:endParaRPr>
          </a:p>
        </p:txBody>
      </p:sp>
      <p:sp>
        <p:nvSpPr>
          <p:cNvPr id="148" name="Google Shape;148;p8"/>
          <p:cNvSpPr/>
          <p:nvPr/>
        </p:nvSpPr>
        <p:spPr>
          <a:xfrm>
            <a:off x="594360" y="1417320"/>
            <a:ext cx="11002680" cy="3654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600" u="none" strike="noStrike">
                <a:solidFill>
                  <a:srgbClr val="4B5563"/>
                </a:solidFill>
                <a:latin typeface="Calibri"/>
                <a:ea typeface="Calibri"/>
                <a:cs typeface="Calibri"/>
                <a:sym typeface="Calibri"/>
              </a:rPr>
              <a:t>Pick ONE approach based on your biggest risk.</a:t>
            </a:r>
            <a:endParaRPr b="0" sz="1600" u="none" strike="noStrike">
              <a:solidFill>
                <a:srgbClr val="000000"/>
              </a:solidFill>
              <a:latin typeface="Arial"/>
              <a:ea typeface="Arial"/>
              <a:cs typeface="Arial"/>
              <a:sym typeface="Arial"/>
            </a:endParaRPr>
          </a:p>
        </p:txBody>
      </p:sp>
      <p:sp>
        <p:nvSpPr>
          <p:cNvPr id="149" name="Google Shape;149;p8"/>
          <p:cNvSpPr/>
          <p:nvPr/>
        </p:nvSpPr>
        <p:spPr>
          <a:xfrm>
            <a:off x="594360" y="1920240"/>
            <a:ext cx="5371920" cy="2057040"/>
          </a:xfrm>
          <a:prstGeom prst="roundRect">
            <a:avLst>
              <a:gd fmla="val 16667" name="adj"/>
            </a:avLst>
          </a:prstGeom>
          <a:solidFill>
            <a:srgbClr val="FFFFFF"/>
          </a:solidFill>
          <a:ln cap="flat" cmpd="sng" w="12700">
            <a:solidFill>
              <a:srgbClr val="E5E7EB"/>
            </a:solidFill>
            <a:prstDash val="solid"/>
            <a:round/>
            <a:headEnd len="sm" w="sm" type="none"/>
            <a:tailEnd len="sm" w="sm" type="none"/>
          </a:ln>
          <a:effectLst>
            <a:outerShdw blurRad="28080" rotWithShape="0" algn="bl" dir="2700000" dist="19855">
              <a:srgbClr val="000000">
                <a:alpha val="15686"/>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50" name="Google Shape;150;p8"/>
          <p:cNvSpPr/>
          <p:nvPr/>
        </p:nvSpPr>
        <p:spPr>
          <a:xfrm>
            <a:off x="850320" y="2084760"/>
            <a:ext cx="4859640" cy="31968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b="1" lang="en-US" sz="1600">
                <a:solidFill>
                  <a:srgbClr val="111827"/>
                </a:solidFill>
                <a:latin typeface="Calibri"/>
                <a:ea typeface="Calibri"/>
                <a:cs typeface="Calibri"/>
                <a:sym typeface="Calibri"/>
              </a:rPr>
              <a:t>Option A — Works-like functional</a:t>
            </a:r>
            <a:endParaRPr sz="1600" u="none" strike="noStrike">
              <a:solidFill>
                <a:srgbClr val="000000"/>
              </a:solidFill>
              <a:latin typeface="Arial"/>
              <a:ea typeface="Arial"/>
              <a:cs typeface="Arial"/>
              <a:sym typeface="Arial"/>
            </a:endParaRPr>
          </a:p>
        </p:txBody>
      </p:sp>
      <p:sp>
        <p:nvSpPr>
          <p:cNvPr id="151" name="Google Shape;151;p8"/>
          <p:cNvSpPr/>
          <p:nvPr/>
        </p:nvSpPr>
        <p:spPr>
          <a:xfrm>
            <a:off x="850320" y="2423160"/>
            <a:ext cx="4859640" cy="1380240"/>
          </a:xfrm>
          <a:prstGeom prst="rect">
            <a:avLst/>
          </a:prstGeom>
          <a:noFill/>
          <a:ln>
            <a:noFill/>
          </a:ln>
        </p:spPr>
        <p:txBody>
          <a:bodyPr anchorCtr="0" anchor="t" bIns="45000" lIns="90000" spcFirstLastPara="1" rIns="90000" wrap="square" tIns="45000">
            <a:noAutofit/>
          </a:bodyPr>
          <a:lstStyle/>
          <a:p>
            <a:pPr indent="0" lvl="0" marL="0" marR="0" rtl="0" algn="l">
              <a:lnSpc>
                <a:spcPct val="110000"/>
              </a:lnSpc>
              <a:spcBef>
                <a:spcPts val="0"/>
              </a:spcBef>
              <a:spcAft>
                <a:spcPts val="0"/>
              </a:spcAft>
              <a:buNone/>
            </a:pPr>
            <a:r>
              <a:rPr lang="en-US" sz="1300">
                <a:solidFill>
                  <a:srgbClr val="4B5563"/>
                </a:solidFill>
                <a:latin typeface="Calibri"/>
                <a:ea typeface="Calibri"/>
                <a:cs typeface="Calibri"/>
                <a:sym typeface="Calibri"/>
              </a:rPr>
              <a:t>Best when integration &amp; performance matter.</a:t>
            </a:r>
            <a:endParaRPr sz="1300">
              <a:solidFill>
                <a:srgbClr val="000000"/>
              </a:solidFill>
              <a:latin typeface="Arial"/>
              <a:ea typeface="Arial"/>
              <a:cs typeface="Arial"/>
              <a:sym typeface="Arial"/>
            </a:endParaRPr>
          </a:p>
          <a:p>
            <a:pPr indent="0" lvl="0" marL="0" marR="0" rtl="0" algn="l">
              <a:lnSpc>
                <a:spcPct val="110000"/>
              </a:lnSpc>
              <a:spcBef>
                <a:spcPts val="0"/>
              </a:spcBef>
              <a:spcAft>
                <a:spcPts val="0"/>
              </a:spcAft>
              <a:buNone/>
            </a:pPr>
            <a:r>
              <a:rPr lang="en-US" sz="1300">
                <a:solidFill>
                  <a:srgbClr val="4B5563"/>
                </a:solidFill>
                <a:latin typeface="Calibri"/>
                <a:ea typeface="Calibri"/>
                <a:cs typeface="Calibri"/>
                <a:sym typeface="Calibri"/>
              </a:rPr>
              <a:t>End-to-end working flow + metrics evidence.</a:t>
            </a:r>
            <a:endParaRPr sz="1300">
              <a:solidFill>
                <a:srgbClr val="000000"/>
              </a:solidFill>
              <a:latin typeface="Arial"/>
              <a:ea typeface="Arial"/>
              <a:cs typeface="Arial"/>
              <a:sym typeface="Arial"/>
            </a:endParaRPr>
          </a:p>
          <a:p>
            <a:pPr indent="0" lvl="0" marL="0" marR="0" rtl="0" algn="l">
              <a:lnSpc>
                <a:spcPct val="110000"/>
              </a:lnSpc>
              <a:spcBef>
                <a:spcPts val="0"/>
              </a:spcBef>
              <a:spcAft>
                <a:spcPts val="0"/>
              </a:spcAft>
              <a:buNone/>
            </a:pPr>
            <a:r>
              <a:rPr lang="en-US" sz="1300">
                <a:solidFill>
                  <a:srgbClr val="4B5563"/>
                </a:solidFill>
                <a:latin typeface="Calibri"/>
                <a:ea typeface="Calibri"/>
                <a:cs typeface="Calibri"/>
                <a:sym typeface="Calibri"/>
              </a:rPr>
              <a:t>Most labs: AD/BW/CD/CS/EI/MA/FW.</a:t>
            </a:r>
            <a:endParaRPr b="0" sz="1300" u="none" strike="noStrike">
              <a:solidFill>
                <a:srgbClr val="000000"/>
              </a:solidFill>
              <a:latin typeface="Arial"/>
              <a:ea typeface="Arial"/>
              <a:cs typeface="Arial"/>
              <a:sym typeface="Arial"/>
            </a:endParaRPr>
          </a:p>
        </p:txBody>
      </p:sp>
      <p:sp>
        <p:nvSpPr>
          <p:cNvPr id="152" name="Google Shape;152;p8"/>
          <p:cNvSpPr/>
          <p:nvPr/>
        </p:nvSpPr>
        <p:spPr>
          <a:xfrm>
            <a:off x="6195240" y="1920240"/>
            <a:ext cx="5371920" cy="2057040"/>
          </a:xfrm>
          <a:prstGeom prst="roundRect">
            <a:avLst>
              <a:gd fmla="val 16667" name="adj"/>
            </a:avLst>
          </a:prstGeom>
          <a:solidFill>
            <a:srgbClr val="FFFFFF"/>
          </a:solidFill>
          <a:ln cap="flat" cmpd="sng" w="12700">
            <a:solidFill>
              <a:srgbClr val="E5E7EB"/>
            </a:solidFill>
            <a:prstDash val="solid"/>
            <a:round/>
            <a:headEnd len="sm" w="sm" type="none"/>
            <a:tailEnd len="sm" w="sm" type="none"/>
          </a:ln>
          <a:effectLst>
            <a:outerShdw blurRad="28080" rotWithShape="0" algn="bl" dir="2700000" dist="19855">
              <a:srgbClr val="000000">
                <a:alpha val="15686"/>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53" name="Google Shape;153;p8"/>
          <p:cNvSpPr/>
          <p:nvPr/>
        </p:nvSpPr>
        <p:spPr>
          <a:xfrm>
            <a:off x="6451200" y="2084760"/>
            <a:ext cx="4859640" cy="3196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600" u="none" strike="noStrike">
                <a:solidFill>
                  <a:srgbClr val="111827"/>
                </a:solidFill>
                <a:latin typeface="Calibri"/>
                <a:ea typeface="Calibri"/>
                <a:cs typeface="Calibri"/>
                <a:sym typeface="Calibri"/>
              </a:rPr>
              <a:t>Option B — UX / clickable</a:t>
            </a:r>
            <a:endParaRPr b="0" sz="1600" u="none" strike="noStrike">
              <a:solidFill>
                <a:srgbClr val="000000"/>
              </a:solidFill>
              <a:latin typeface="Arial"/>
              <a:ea typeface="Arial"/>
              <a:cs typeface="Arial"/>
              <a:sym typeface="Arial"/>
            </a:endParaRPr>
          </a:p>
        </p:txBody>
      </p:sp>
      <p:sp>
        <p:nvSpPr>
          <p:cNvPr id="154" name="Google Shape;154;p8"/>
          <p:cNvSpPr/>
          <p:nvPr/>
        </p:nvSpPr>
        <p:spPr>
          <a:xfrm>
            <a:off x="6451200" y="2423160"/>
            <a:ext cx="4859640" cy="1380240"/>
          </a:xfrm>
          <a:prstGeom prst="rect">
            <a:avLst/>
          </a:prstGeom>
          <a:noFill/>
          <a:ln>
            <a:noFill/>
          </a:ln>
        </p:spPr>
        <p:txBody>
          <a:bodyPr anchorCtr="0" anchor="t" bIns="45000" lIns="90000" spcFirstLastPara="1" rIns="90000" wrap="square" tIns="45000">
            <a:noAutofit/>
          </a:bodyPr>
          <a:lstStyle/>
          <a:p>
            <a:pPr indent="0" lvl="0" marL="0" marR="0" rtl="0" algn="l">
              <a:lnSpc>
                <a:spcPct val="110000"/>
              </a:lnSpc>
              <a:spcBef>
                <a:spcPts val="0"/>
              </a:spcBef>
              <a:spcAft>
                <a:spcPts val="0"/>
              </a:spcAft>
              <a:buNone/>
            </a:pPr>
            <a:r>
              <a:rPr b="0" lang="en-US" sz="1300" u="none" strike="noStrike">
                <a:solidFill>
                  <a:srgbClr val="4B5563"/>
                </a:solidFill>
                <a:latin typeface="Calibri"/>
                <a:ea typeface="Calibri"/>
                <a:cs typeface="Calibri"/>
                <a:sym typeface="Calibri"/>
              </a:rPr>
              <a:t>Biggest risk is workflow, UI/UX or adoption.</a:t>
            </a:r>
            <a:endParaRPr b="0" sz="1300" u="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None/>
            </a:pPr>
            <a:r>
              <a:rPr b="0" lang="en-US" sz="1300" u="none" strike="noStrike">
                <a:solidFill>
                  <a:srgbClr val="4B5563"/>
                </a:solidFill>
                <a:latin typeface="Calibri"/>
                <a:ea typeface="Calibri"/>
                <a:cs typeface="Calibri"/>
                <a:sym typeface="Calibri"/>
              </a:rPr>
              <a:t>Clickable flow + small usability walkthroughs.</a:t>
            </a:r>
            <a:endParaRPr b="0" sz="1300" u="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None/>
            </a:pPr>
            <a:r>
              <a:rPr b="0" lang="en-US" sz="1300" u="none" strike="noStrike">
                <a:solidFill>
                  <a:srgbClr val="4B5563"/>
                </a:solidFill>
                <a:latin typeface="Calibri"/>
                <a:ea typeface="Calibri"/>
                <a:cs typeface="Calibri"/>
                <a:sym typeface="Calibri"/>
              </a:rPr>
              <a:t>Often FW/AD/MA (and UX-heavy products).</a:t>
            </a:r>
            <a:endParaRPr b="0" sz="1300" u="none" strike="noStrike">
              <a:solidFill>
                <a:srgbClr val="000000"/>
              </a:solidFill>
              <a:latin typeface="Arial"/>
              <a:ea typeface="Arial"/>
              <a:cs typeface="Arial"/>
              <a:sym typeface="Arial"/>
            </a:endParaRPr>
          </a:p>
        </p:txBody>
      </p:sp>
      <p:sp>
        <p:nvSpPr>
          <p:cNvPr id="155" name="Google Shape;155;p8"/>
          <p:cNvSpPr/>
          <p:nvPr/>
        </p:nvSpPr>
        <p:spPr>
          <a:xfrm>
            <a:off x="594360" y="4206240"/>
            <a:ext cx="5371920" cy="2057040"/>
          </a:xfrm>
          <a:prstGeom prst="roundRect">
            <a:avLst>
              <a:gd fmla="val 16667" name="adj"/>
            </a:avLst>
          </a:prstGeom>
          <a:solidFill>
            <a:srgbClr val="FFFFFF"/>
          </a:solidFill>
          <a:ln cap="flat" cmpd="sng" w="12700">
            <a:solidFill>
              <a:srgbClr val="E5E7EB"/>
            </a:solidFill>
            <a:prstDash val="solid"/>
            <a:round/>
            <a:headEnd len="sm" w="sm" type="none"/>
            <a:tailEnd len="sm" w="sm" type="none"/>
          </a:ln>
          <a:effectLst>
            <a:outerShdw blurRad="28080" rotWithShape="0" algn="bl" dir="2700000" dist="19855">
              <a:srgbClr val="000000">
                <a:alpha val="15686"/>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56" name="Google Shape;156;p8"/>
          <p:cNvSpPr/>
          <p:nvPr/>
        </p:nvSpPr>
        <p:spPr>
          <a:xfrm>
            <a:off x="850320" y="4370760"/>
            <a:ext cx="4859640" cy="3196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600" u="none" strike="noStrike">
                <a:solidFill>
                  <a:srgbClr val="111827"/>
                </a:solidFill>
                <a:latin typeface="Calibri"/>
                <a:ea typeface="Calibri"/>
                <a:cs typeface="Calibri"/>
                <a:sym typeface="Calibri"/>
              </a:rPr>
              <a:t>Option C — Wizard-of-Oz</a:t>
            </a:r>
            <a:endParaRPr b="0" sz="1600" u="none" strike="noStrike">
              <a:solidFill>
                <a:srgbClr val="000000"/>
              </a:solidFill>
              <a:latin typeface="Arial"/>
              <a:ea typeface="Arial"/>
              <a:cs typeface="Arial"/>
              <a:sym typeface="Arial"/>
            </a:endParaRPr>
          </a:p>
        </p:txBody>
      </p:sp>
      <p:sp>
        <p:nvSpPr>
          <p:cNvPr id="157" name="Google Shape;157;p8"/>
          <p:cNvSpPr/>
          <p:nvPr/>
        </p:nvSpPr>
        <p:spPr>
          <a:xfrm>
            <a:off x="850320" y="4709160"/>
            <a:ext cx="4859640" cy="1380240"/>
          </a:xfrm>
          <a:prstGeom prst="rect">
            <a:avLst/>
          </a:prstGeom>
          <a:noFill/>
          <a:ln>
            <a:noFill/>
          </a:ln>
        </p:spPr>
        <p:txBody>
          <a:bodyPr anchorCtr="0" anchor="t" bIns="45000" lIns="90000" spcFirstLastPara="1" rIns="90000" wrap="square" tIns="45000">
            <a:noAutofit/>
          </a:bodyPr>
          <a:lstStyle/>
          <a:p>
            <a:pPr indent="0" lvl="0" marL="0" marR="0" rtl="0" algn="l">
              <a:lnSpc>
                <a:spcPct val="110000"/>
              </a:lnSpc>
              <a:spcBef>
                <a:spcPts val="0"/>
              </a:spcBef>
              <a:spcAft>
                <a:spcPts val="0"/>
              </a:spcAft>
              <a:buNone/>
            </a:pPr>
            <a:r>
              <a:rPr b="0" lang="en-US" sz="1300" u="none" strike="noStrike">
                <a:solidFill>
                  <a:srgbClr val="4B5563"/>
                </a:solidFill>
                <a:latin typeface="Calibri"/>
                <a:ea typeface="Calibri"/>
                <a:cs typeface="Calibri"/>
                <a:sym typeface="Calibri"/>
              </a:rPr>
              <a:t>Hard part can be simulated to test value.</a:t>
            </a:r>
            <a:endParaRPr b="0" sz="1300" u="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None/>
            </a:pPr>
            <a:r>
              <a:rPr b="0" lang="en-US" sz="1300" u="none" strike="noStrike">
                <a:solidFill>
                  <a:srgbClr val="4B5563"/>
                </a:solidFill>
                <a:latin typeface="Calibri"/>
                <a:ea typeface="Calibri"/>
                <a:cs typeface="Calibri"/>
                <a:sym typeface="Calibri"/>
              </a:rPr>
              <a:t>Real front-end; manual “wizard” behind scenes.</a:t>
            </a:r>
            <a:endParaRPr b="0" sz="1300" u="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None/>
            </a:pPr>
            <a:r>
              <a:rPr b="0" lang="en-US" sz="1300" u="none" strike="noStrike">
                <a:solidFill>
                  <a:srgbClr val="4B5563"/>
                </a:solidFill>
                <a:latin typeface="Calibri"/>
                <a:ea typeface="Calibri"/>
                <a:cs typeface="Calibri"/>
                <a:sym typeface="Calibri"/>
              </a:rPr>
              <a:t>Be transparent: label manual vs automated.</a:t>
            </a:r>
            <a:endParaRPr b="0" sz="1300" u="none" strike="noStrike">
              <a:solidFill>
                <a:srgbClr val="000000"/>
              </a:solidFill>
              <a:latin typeface="Arial"/>
              <a:ea typeface="Arial"/>
              <a:cs typeface="Arial"/>
              <a:sym typeface="Arial"/>
            </a:endParaRPr>
          </a:p>
        </p:txBody>
      </p:sp>
      <p:sp>
        <p:nvSpPr>
          <p:cNvPr id="158" name="Google Shape;158;p8"/>
          <p:cNvSpPr/>
          <p:nvPr/>
        </p:nvSpPr>
        <p:spPr>
          <a:xfrm>
            <a:off x="6195240" y="4206240"/>
            <a:ext cx="5371920" cy="2057040"/>
          </a:xfrm>
          <a:prstGeom prst="roundRect">
            <a:avLst>
              <a:gd fmla="val 16667" name="adj"/>
            </a:avLst>
          </a:prstGeom>
          <a:solidFill>
            <a:srgbClr val="FFFFFF"/>
          </a:solidFill>
          <a:ln cap="flat" cmpd="sng" w="12700">
            <a:solidFill>
              <a:srgbClr val="E5E7EB"/>
            </a:solidFill>
            <a:prstDash val="solid"/>
            <a:round/>
            <a:headEnd len="sm" w="sm" type="none"/>
            <a:tailEnd len="sm" w="sm" type="none"/>
          </a:ln>
          <a:effectLst>
            <a:outerShdw blurRad="28080" rotWithShape="0" algn="bl" dir="2700000" dist="19855">
              <a:srgbClr val="000000">
                <a:alpha val="15686"/>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59" name="Google Shape;159;p8"/>
          <p:cNvSpPr/>
          <p:nvPr/>
        </p:nvSpPr>
        <p:spPr>
          <a:xfrm>
            <a:off x="6451200" y="4370760"/>
            <a:ext cx="4859640" cy="3196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600" u="none" strike="noStrike">
                <a:solidFill>
                  <a:srgbClr val="111827"/>
                </a:solidFill>
                <a:latin typeface="Calibri"/>
                <a:ea typeface="Calibri"/>
                <a:cs typeface="Calibri"/>
                <a:sym typeface="Calibri"/>
              </a:rPr>
              <a:t>Option D — Looks-like + works-like</a:t>
            </a:r>
            <a:endParaRPr b="0" sz="1600" u="none" strike="noStrike">
              <a:solidFill>
                <a:srgbClr val="000000"/>
              </a:solidFill>
              <a:latin typeface="Arial"/>
              <a:ea typeface="Arial"/>
              <a:cs typeface="Arial"/>
              <a:sym typeface="Arial"/>
            </a:endParaRPr>
          </a:p>
        </p:txBody>
      </p:sp>
      <p:sp>
        <p:nvSpPr>
          <p:cNvPr id="160" name="Google Shape;160;p8"/>
          <p:cNvSpPr/>
          <p:nvPr/>
        </p:nvSpPr>
        <p:spPr>
          <a:xfrm>
            <a:off x="6451200" y="4709160"/>
            <a:ext cx="4859640" cy="1380240"/>
          </a:xfrm>
          <a:prstGeom prst="rect">
            <a:avLst/>
          </a:prstGeom>
          <a:noFill/>
          <a:ln>
            <a:noFill/>
          </a:ln>
        </p:spPr>
        <p:txBody>
          <a:bodyPr anchorCtr="0" anchor="t" bIns="45000" lIns="90000" spcFirstLastPara="1" rIns="90000" wrap="square" tIns="45000">
            <a:noAutofit/>
          </a:bodyPr>
          <a:lstStyle/>
          <a:p>
            <a:pPr indent="0" lvl="0" marL="0" marR="0" rtl="0" algn="l">
              <a:lnSpc>
                <a:spcPct val="110000"/>
              </a:lnSpc>
              <a:spcBef>
                <a:spcPts val="0"/>
              </a:spcBef>
              <a:spcAft>
                <a:spcPts val="0"/>
              </a:spcAft>
              <a:buNone/>
            </a:pPr>
            <a:r>
              <a:rPr b="0" lang="en-US" sz="1300" u="none" strike="noStrike">
                <a:solidFill>
                  <a:srgbClr val="4B5563"/>
                </a:solidFill>
                <a:latin typeface="Calibri"/>
                <a:ea typeface="Calibri"/>
                <a:cs typeface="Calibri"/>
                <a:sym typeface="Calibri"/>
              </a:rPr>
              <a:t>Form-factor / ergonomics / mechanism matters.</a:t>
            </a:r>
            <a:endParaRPr b="0" sz="1300" u="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None/>
            </a:pPr>
            <a:r>
              <a:rPr b="0" lang="en-US" sz="1300" u="none" strike="noStrike">
                <a:solidFill>
                  <a:srgbClr val="4B5563"/>
                </a:solidFill>
                <a:latin typeface="Calibri"/>
                <a:ea typeface="Calibri"/>
                <a:cs typeface="Calibri"/>
                <a:sym typeface="Calibri"/>
              </a:rPr>
              <a:t>Works-like rig + looks-like mock; safety + BOM.</a:t>
            </a:r>
            <a:endParaRPr b="0" sz="1300" u="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None/>
            </a:pPr>
            <a:r>
              <a:rPr b="0" lang="en-US" sz="1300" u="none" strike="noStrike">
                <a:solidFill>
                  <a:srgbClr val="4B5563"/>
                </a:solidFill>
                <a:latin typeface="Calibri"/>
                <a:ea typeface="Calibri"/>
                <a:cs typeface="Calibri"/>
                <a:sym typeface="Calibri"/>
              </a:rPr>
              <a:t>Best for EI/MA (and HW-heavy AD).</a:t>
            </a:r>
            <a:endParaRPr b="0" sz="1300" u="none" strike="noStrike">
              <a:solidFill>
                <a:srgbClr val="000000"/>
              </a:solidFill>
              <a:latin typeface="Arial"/>
              <a:ea typeface="Arial"/>
              <a:cs typeface="Arial"/>
              <a:sym typeface="Arial"/>
            </a:endParaRPr>
          </a:p>
        </p:txBody>
      </p:sp>
      <p:sp>
        <p:nvSpPr>
          <p:cNvPr id="161" name="Google Shape;161;p8"/>
          <p:cNvSpPr/>
          <p:nvPr/>
        </p:nvSpPr>
        <p:spPr>
          <a:xfrm>
            <a:off x="594360" y="6126480"/>
            <a:ext cx="10972440" cy="383760"/>
          </a:xfrm>
          <a:prstGeom prst="roundRect">
            <a:avLst>
              <a:gd fmla="val 16667" name="adj"/>
            </a:avLst>
          </a:prstGeom>
          <a:solidFill>
            <a:srgbClr val="EEF6FF"/>
          </a:solidFill>
          <a:ln cap="flat" cmpd="sng" w="12700">
            <a:solidFill>
              <a:srgbClr val="B9D6F5"/>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62" name="Google Shape;162;p8"/>
          <p:cNvSpPr/>
          <p:nvPr/>
        </p:nvSpPr>
        <p:spPr>
          <a:xfrm>
            <a:off x="822960" y="6208920"/>
            <a:ext cx="10515240" cy="23724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300" u="none" strike="noStrike">
                <a:solidFill>
                  <a:srgbClr val="0B2E4A"/>
                </a:solidFill>
                <a:latin typeface="Calibri"/>
                <a:ea typeface="Calibri"/>
                <a:cs typeface="Calibri"/>
                <a:sym typeface="Calibri"/>
              </a:rPr>
              <a:t>Action: keep ONLY the slide for your chosen option (A/B/C/D) and delete the other 3.</a:t>
            </a:r>
            <a:endParaRPr b="0" sz="1300" u="none" strike="noStrike">
              <a:solidFill>
                <a:srgbClr val="000000"/>
              </a:solidFill>
              <a:latin typeface="Arial"/>
              <a:ea typeface="Arial"/>
              <a:cs typeface="Arial"/>
              <a:sym typeface="Arial"/>
            </a:endParaRPr>
          </a:p>
        </p:txBody>
      </p:sp>
      <p:sp>
        <p:nvSpPr>
          <p:cNvPr id="163" name="Google Shape;163;p8"/>
          <p:cNvSpPr/>
          <p:nvPr/>
        </p:nvSpPr>
        <p:spPr>
          <a:xfrm>
            <a:off x="0" y="6565320"/>
            <a:ext cx="12191400" cy="29232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64" name="Google Shape;164;p8"/>
          <p:cNvSpPr/>
          <p:nvPr/>
        </p:nvSpPr>
        <p:spPr>
          <a:xfrm>
            <a:off x="594360" y="6620400"/>
            <a:ext cx="11002680" cy="200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000" u="none" strike="noStrike">
                <a:solidFill>
                  <a:srgbClr val="6B7280"/>
                </a:solidFill>
                <a:latin typeface="Calibri"/>
                <a:ea typeface="Calibri"/>
                <a:cs typeface="Calibri"/>
                <a:sym typeface="Calibri"/>
              </a:rPr>
              <a:t>SoI Prototype Stage — Submission Deck</a:t>
            </a:r>
            <a:endParaRPr b="0" sz="1000" u="none" strike="noStrike">
              <a:solidFill>
                <a:srgbClr val="000000"/>
              </a:solidFill>
              <a:latin typeface="Arial"/>
              <a:ea typeface="Arial"/>
              <a:cs typeface="Arial"/>
              <a:sym typeface="Arial"/>
            </a:endParaRPr>
          </a:p>
        </p:txBody>
      </p:sp>
      <p:sp>
        <p:nvSpPr>
          <p:cNvPr id="165" name="Google Shape;165;p8"/>
          <p:cNvSpPr/>
          <p:nvPr/>
        </p:nvSpPr>
        <p:spPr>
          <a:xfrm>
            <a:off x="10961914" y="6620400"/>
            <a:ext cx="635126" cy="23760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7/23</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9"/>
          <p:cNvSpPr/>
          <p:nvPr/>
        </p:nvSpPr>
        <p:spPr>
          <a:xfrm>
            <a:off x="0" y="0"/>
            <a:ext cx="12191400" cy="566640"/>
          </a:xfrm>
          <a:prstGeom prst="rect">
            <a:avLst/>
          </a:prstGeom>
          <a:solidFill>
            <a:srgbClr val="0B2E4A"/>
          </a:solidFill>
          <a:ln cap="flat" cmpd="sng" w="12700">
            <a:solidFill>
              <a:srgbClr val="0B2E4A"/>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72" name="Google Shape;172;p9"/>
          <p:cNvSpPr/>
          <p:nvPr/>
        </p:nvSpPr>
        <p:spPr>
          <a:xfrm>
            <a:off x="0" y="0"/>
            <a:ext cx="145800" cy="566640"/>
          </a:xfrm>
          <a:prstGeom prst="rect">
            <a:avLst/>
          </a:prstGeom>
          <a:solidFill>
            <a:srgbClr val="2F6FB3"/>
          </a:solidFill>
          <a:ln cap="flat" cmpd="sng" w="12700">
            <a:solidFill>
              <a:srgbClr val="2F6FB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73" name="Google Shape;173;p9"/>
          <p:cNvSpPr/>
          <p:nvPr/>
        </p:nvSpPr>
        <p:spPr>
          <a:xfrm>
            <a:off x="594360" y="109800"/>
            <a:ext cx="11002680" cy="319680"/>
          </a:xfrm>
          <a:prstGeom prst="rect">
            <a:avLst/>
          </a:prstGeom>
          <a:noFill/>
          <a:ln>
            <a:noFill/>
          </a:ln>
        </p:spPr>
        <p:txBody>
          <a:bodyPr anchorCtr="0" anchor="ctr" bIns="45000" lIns="90000" spcFirstLastPara="1" rIns="90000" wrap="square" tIns="45000">
            <a:noAutofit/>
          </a:bodyPr>
          <a:lstStyle/>
          <a:p>
            <a:pPr indent="0" lvl="0" marL="0" marR="0" rtl="0" algn="r">
              <a:lnSpc>
                <a:spcPct val="100000"/>
              </a:lnSpc>
              <a:spcBef>
                <a:spcPts val="0"/>
              </a:spcBef>
              <a:spcAft>
                <a:spcPts val="0"/>
              </a:spcAft>
              <a:buNone/>
            </a:pPr>
            <a:r>
              <a:rPr b="1" lang="en-US" sz="1400" u="none" strike="noStrike">
                <a:solidFill>
                  <a:srgbClr val="FFFFFF"/>
                </a:solidFill>
                <a:latin typeface="Calibri"/>
                <a:ea typeface="Calibri"/>
                <a:cs typeface="Calibri"/>
                <a:sym typeface="Calibri"/>
              </a:rPr>
              <a:t>SoI Innovation Pipeline</a:t>
            </a:r>
            <a:endParaRPr b="0" sz="1400" u="none" strike="noStrike">
              <a:solidFill>
                <a:srgbClr val="000000"/>
              </a:solidFill>
              <a:latin typeface="Arial"/>
              <a:ea typeface="Arial"/>
              <a:cs typeface="Arial"/>
              <a:sym typeface="Arial"/>
            </a:endParaRPr>
          </a:p>
        </p:txBody>
      </p:sp>
      <p:sp>
        <p:nvSpPr>
          <p:cNvPr id="174" name="Google Shape;174;p9"/>
          <p:cNvSpPr/>
          <p:nvPr/>
        </p:nvSpPr>
        <p:spPr>
          <a:xfrm>
            <a:off x="594360" y="658440"/>
            <a:ext cx="1919880" cy="292320"/>
          </a:xfrm>
          <a:prstGeom prst="roundRect">
            <a:avLst>
              <a:gd fmla="val 16667" name="adj"/>
            </a:avLst>
          </a:prstGeom>
          <a:solidFill>
            <a:srgbClr val="2F6FB3"/>
          </a:solidFill>
          <a:ln cap="flat" cmpd="sng" w="12700">
            <a:solidFill>
              <a:srgbClr val="2F6FB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75" name="Google Shape;175;p9"/>
          <p:cNvSpPr/>
          <p:nvPr/>
        </p:nvSpPr>
        <p:spPr>
          <a:xfrm>
            <a:off x="594360" y="704160"/>
            <a:ext cx="1919880" cy="2008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200" u="none" strike="noStrike">
                <a:solidFill>
                  <a:srgbClr val="FFFFFF"/>
                </a:solidFill>
                <a:latin typeface="Calibri"/>
                <a:ea typeface="Calibri"/>
                <a:cs typeface="Calibri"/>
                <a:sym typeface="Calibri"/>
              </a:rPr>
              <a:t>SCOPE</a:t>
            </a:r>
            <a:endParaRPr b="0" sz="1200" u="none" strike="noStrike">
              <a:solidFill>
                <a:srgbClr val="000000"/>
              </a:solidFill>
              <a:latin typeface="Arial"/>
              <a:ea typeface="Arial"/>
              <a:cs typeface="Arial"/>
              <a:sym typeface="Arial"/>
            </a:endParaRPr>
          </a:p>
        </p:txBody>
      </p:sp>
      <p:sp>
        <p:nvSpPr>
          <p:cNvPr id="176" name="Google Shape;176;p9"/>
          <p:cNvSpPr/>
          <p:nvPr/>
        </p:nvSpPr>
        <p:spPr>
          <a:xfrm>
            <a:off x="594360" y="822960"/>
            <a:ext cx="11002680" cy="5482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3200" u="none" strike="noStrike">
                <a:solidFill>
                  <a:srgbClr val="111827"/>
                </a:solidFill>
                <a:latin typeface="Calibri"/>
                <a:ea typeface="Calibri"/>
                <a:cs typeface="Calibri"/>
                <a:sym typeface="Calibri"/>
              </a:rPr>
              <a:t>Prototype Scope, Requirements &amp; Constraints</a:t>
            </a:r>
            <a:endParaRPr b="0" sz="3200" u="none" strike="noStrike">
              <a:solidFill>
                <a:srgbClr val="000000"/>
              </a:solidFill>
              <a:latin typeface="Arial"/>
              <a:ea typeface="Arial"/>
              <a:cs typeface="Arial"/>
              <a:sym typeface="Arial"/>
            </a:endParaRPr>
          </a:p>
        </p:txBody>
      </p:sp>
      <p:sp>
        <p:nvSpPr>
          <p:cNvPr id="177" name="Google Shape;177;p9"/>
          <p:cNvSpPr/>
          <p:nvPr/>
        </p:nvSpPr>
        <p:spPr>
          <a:xfrm>
            <a:off x="594360" y="1417320"/>
            <a:ext cx="11002680" cy="3654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600" u="none" strike="noStrike">
                <a:solidFill>
                  <a:srgbClr val="4B5563"/>
                </a:solidFill>
                <a:latin typeface="Calibri"/>
                <a:ea typeface="Calibri"/>
                <a:cs typeface="Calibri"/>
                <a:sym typeface="Calibri"/>
              </a:rPr>
              <a:t>Define what you WILL build, and what you WON’T (for now).</a:t>
            </a:r>
            <a:endParaRPr b="0" sz="1600" u="none" strike="noStrike">
              <a:solidFill>
                <a:srgbClr val="000000"/>
              </a:solidFill>
              <a:latin typeface="Arial"/>
              <a:ea typeface="Arial"/>
              <a:cs typeface="Arial"/>
              <a:sym typeface="Arial"/>
            </a:endParaRPr>
          </a:p>
        </p:txBody>
      </p:sp>
      <p:sp>
        <p:nvSpPr>
          <p:cNvPr id="178" name="Google Shape;178;p9"/>
          <p:cNvSpPr/>
          <p:nvPr/>
        </p:nvSpPr>
        <p:spPr>
          <a:xfrm>
            <a:off x="594360" y="1874520"/>
            <a:ext cx="5623200" cy="4525920"/>
          </a:xfrm>
          <a:prstGeom prst="roundRect">
            <a:avLst>
              <a:gd fmla="val 16667" name="adj"/>
            </a:avLst>
          </a:prstGeom>
          <a:solidFill>
            <a:srgbClr val="FFFFFF"/>
          </a:solidFill>
          <a:ln cap="flat" cmpd="sng" w="12700">
            <a:solidFill>
              <a:srgbClr val="E5E7EB"/>
            </a:solidFill>
            <a:prstDash val="solid"/>
            <a:round/>
            <a:headEnd len="sm" w="sm" type="none"/>
            <a:tailEnd len="sm" w="sm" type="none"/>
          </a:ln>
          <a:effectLst>
            <a:outerShdw blurRad="28080" rotWithShape="0" algn="bl" dir="2700000" dist="19855">
              <a:srgbClr val="000000">
                <a:alpha val="15686"/>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79" name="Google Shape;179;p9"/>
          <p:cNvSpPr/>
          <p:nvPr/>
        </p:nvSpPr>
        <p:spPr>
          <a:xfrm>
            <a:off x="850320" y="2039040"/>
            <a:ext cx="5111280" cy="3196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600" u="none" strike="noStrike">
                <a:solidFill>
                  <a:srgbClr val="111827"/>
                </a:solidFill>
                <a:latin typeface="Calibri"/>
                <a:ea typeface="Calibri"/>
                <a:cs typeface="Calibri"/>
                <a:sym typeface="Calibri"/>
              </a:rPr>
              <a:t>Scope (fill)</a:t>
            </a:r>
            <a:endParaRPr b="0" sz="1600" u="none" strike="noStrike">
              <a:solidFill>
                <a:srgbClr val="000000"/>
              </a:solidFill>
              <a:latin typeface="Arial"/>
              <a:ea typeface="Arial"/>
              <a:cs typeface="Arial"/>
              <a:sym typeface="Arial"/>
            </a:endParaRPr>
          </a:p>
        </p:txBody>
      </p:sp>
      <p:sp>
        <p:nvSpPr>
          <p:cNvPr id="180" name="Google Shape;180;p9"/>
          <p:cNvSpPr/>
          <p:nvPr/>
        </p:nvSpPr>
        <p:spPr>
          <a:xfrm>
            <a:off x="850320" y="2377440"/>
            <a:ext cx="5111280" cy="3849120"/>
          </a:xfrm>
          <a:prstGeom prst="rect">
            <a:avLst/>
          </a:prstGeom>
          <a:noFill/>
          <a:ln>
            <a:noFill/>
          </a:ln>
        </p:spPr>
        <p:txBody>
          <a:bodyPr anchorCtr="0" anchor="t" bIns="45000" lIns="90000" spcFirstLastPara="1" rIns="90000" wrap="square" tIns="45000">
            <a:noAutofit/>
          </a:bodyPr>
          <a:lstStyle/>
          <a:p>
            <a:pPr indent="0" lvl="0" marL="0" marR="0" rtl="0" algn="l">
              <a:lnSpc>
                <a:spcPct val="110000"/>
              </a:lnSpc>
              <a:spcBef>
                <a:spcPts val="0"/>
              </a:spcBef>
              <a:spcAft>
                <a:spcPts val="0"/>
              </a:spcAft>
              <a:buNone/>
            </a:pPr>
            <a:r>
              <a:t/>
            </a:r>
            <a:endParaRPr b="0" sz="1300" u="none" strike="noStrike">
              <a:solidFill>
                <a:schemeClr val="dk1"/>
              </a:solidFill>
              <a:latin typeface="Calibri"/>
              <a:ea typeface="Calibri"/>
              <a:cs typeface="Calibri"/>
              <a:sym typeface="Calibri"/>
            </a:endParaRPr>
          </a:p>
        </p:txBody>
      </p:sp>
      <p:sp>
        <p:nvSpPr>
          <p:cNvPr id="181" name="Google Shape;181;p9"/>
          <p:cNvSpPr/>
          <p:nvPr/>
        </p:nvSpPr>
        <p:spPr>
          <a:xfrm>
            <a:off x="914400" y="2514600"/>
            <a:ext cx="1494720" cy="6213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300" u="none" strike="noStrike">
                <a:solidFill>
                  <a:srgbClr val="4B5563"/>
                </a:solidFill>
                <a:latin typeface="Calibri"/>
                <a:ea typeface="Calibri"/>
                <a:cs typeface="Calibri"/>
                <a:sym typeface="Calibri"/>
              </a:rPr>
              <a:t>In scope</a:t>
            </a:r>
            <a:endParaRPr b="0" sz="1300" u="none" strike="noStrike">
              <a:solidFill>
                <a:srgbClr val="000000"/>
              </a:solidFill>
              <a:latin typeface="Arial"/>
              <a:ea typeface="Arial"/>
              <a:cs typeface="Arial"/>
              <a:sym typeface="Arial"/>
            </a:endParaRPr>
          </a:p>
        </p:txBody>
      </p:sp>
      <p:sp>
        <p:nvSpPr>
          <p:cNvPr id="182" name="Google Shape;182;p9"/>
          <p:cNvSpPr/>
          <p:nvPr/>
        </p:nvSpPr>
        <p:spPr>
          <a:xfrm>
            <a:off x="2409480" y="2371766"/>
            <a:ext cx="3544484" cy="765558"/>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400">
                <a:solidFill>
                  <a:srgbClr val="000000"/>
                </a:solidFill>
                <a:latin typeface="Calibri"/>
                <a:ea typeface="Calibri"/>
                <a:cs typeface="Calibri"/>
                <a:sym typeface="Calibri"/>
              </a:rPr>
              <a:t>• User login &amp; onboarding</a:t>
            </a:r>
            <a:endParaRPr/>
          </a:p>
          <a:p>
            <a:pPr indent="0" lvl="0" marL="0" marR="0" rtl="0" algn="l">
              <a:spcBef>
                <a:spcPts val="0"/>
              </a:spcBef>
              <a:spcAft>
                <a:spcPts val="0"/>
              </a:spcAft>
              <a:buNone/>
            </a:pPr>
            <a:r>
              <a:rPr lang="en-US" sz="1400">
                <a:solidFill>
                  <a:srgbClr val="000000"/>
                </a:solidFill>
                <a:latin typeface="Calibri"/>
                <a:ea typeface="Calibri"/>
                <a:cs typeface="Calibri"/>
                <a:sym typeface="Calibri"/>
              </a:rPr>
              <a:t>• Core Blueprint Modules• Dealer Database</a:t>
            </a:r>
            <a:br>
              <a:rPr lang="en-US" sz="1400">
                <a:solidFill>
                  <a:schemeClr val="dk1"/>
                </a:solidFill>
                <a:latin typeface="Calibri"/>
                <a:ea typeface="Calibri"/>
                <a:cs typeface="Calibri"/>
                <a:sym typeface="Calibri"/>
              </a:rPr>
            </a:br>
            <a:r>
              <a:rPr lang="en-US" sz="1400">
                <a:solidFill>
                  <a:srgbClr val="000000"/>
                </a:solidFill>
                <a:latin typeface="Calibri"/>
                <a:ea typeface="Calibri"/>
                <a:cs typeface="Calibri"/>
                <a:sym typeface="Calibri"/>
              </a:rPr>
              <a:t>• Scheduling Tool• Basic UI</a:t>
            </a:r>
            <a:endParaRPr sz="1400">
              <a:solidFill>
                <a:schemeClr val="dk1"/>
              </a:solidFill>
              <a:latin typeface="Calibri"/>
              <a:ea typeface="Calibri"/>
              <a:cs typeface="Calibri"/>
              <a:sym typeface="Calibri"/>
            </a:endParaRPr>
          </a:p>
        </p:txBody>
      </p:sp>
      <p:sp>
        <p:nvSpPr>
          <p:cNvPr id="183" name="Google Shape;183;p9"/>
          <p:cNvSpPr/>
          <p:nvPr/>
        </p:nvSpPr>
        <p:spPr>
          <a:xfrm>
            <a:off x="2392281" y="2389263"/>
            <a:ext cx="3579242" cy="744674"/>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t/>
            </a:r>
            <a:endParaRPr sz="1300">
              <a:solidFill>
                <a:srgbClr val="111827"/>
              </a:solidFill>
              <a:latin typeface="Calibri"/>
              <a:ea typeface="Calibri"/>
              <a:cs typeface="Calibri"/>
              <a:sym typeface="Calibri"/>
            </a:endParaRPr>
          </a:p>
        </p:txBody>
      </p:sp>
      <p:sp>
        <p:nvSpPr>
          <p:cNvPr id="184" name="Google Shape;184;p9"/>
          <p:cNvSpPr/>
          <p:nvPr/>
        </p:nvSpPr>
        <p:spPr>
          <a:xfrm>
            <a:off x="914400" y="3136320"/>
            <a:ext cx="1494720" cy="6213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300" u="none" strike="noStrike">
                <a:solidFill>
                  <a:srgbClr val="4B5563"/>
                </a:solidFill>
                <a:latin typeface="Calibri"/>
                <a:ea typeface="Calibri"/>
                <a:cs typeface="Calibri"/>
                <a:sym typeface="Calibri"/>
              </a:rPr>
              <a:t>Out of scope</a:t>
            </a:r>
            <a:endParaRPr b="0" sz="1300" u="none" strike="noStrike">
              <a:solidFill>
                <a:srgbClr val="000000"/>
              </a:solidFill>
              <a:latin typeface="Arial"/>
              <a:ea typeface="Arial"/>
              <a:cs typeface="Arial"/>
              <a:sym typeface="Arial"/>
            </a:endParaRPr>
          </a:p>
        </p:txBody>
      </p:sp>
      <p:sp>
        <p:nvSpPr>
          <p:cNvPr id="185" name="Google Shape;185;p9"/>
          <p:cNvSpPr/>
          <p:nvPr/>
        </p:nvSpPr>
        <p:spPr>
          <a:xfrm>
            <a:off x="2409480" y="3191400"/>
            <a:ext cx="3488040" cy="51156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86" name="Google Shape;186;p9"/>
          <p:cNvSpPr/>
          <p:nvPr/>
        </p:nvSpPr>
        <p:spPr>
          <a:xfrm>
            <a:off x="2392281" y="3194787"/>
            <a:ext cx="3494576" cy="490675"/>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lang="en-US" sz="1300">
                <a:solidFill>
                  <a:srgbClr val="111827"/>
                </a:solidFill>
                <a:latin typeface="Calibri"/>
                <a:ea typeface="Calibri"/>
                <a:cs typeface="Calibri"/>
                <a:sym typeface="Calibri"/>
              </a:rPr>
              <a:t>• Payment gateway• AI personalization</a:t>
            </a:r>
            <a:br>
              <a:rPr lang="en-US" sz="1300">
                <a:solidFill>
                  <a:srgbClr val="111827"/>
                </a:solidFill>
                <a:latin typeface="Calibri"/>
                <a:ea typeface="Calibri"/>
                <a:cs typeface="Calibri"/>
                <a:sym typeface="Calibri"/>
              </a:rPr>
            </a:br>
            <a:r>
              <a:rPr lang="en-US" sz="1300">
                <a:solidFill>
                  <a:srgbClr val="111827"/>
                </a:solidFill>
                <a:latin typeface="Calibri"/>
                <a:ea typeface="Calibri"/>
                <a:cs typeface="Calibri"/>
                <a:sym typeface="Calibri"/>
              </a:rPr>
              <a:t>• Mobile app</a:t>
            </a:r>
            <a:endParaRPr sz="1800">
              <a:solidFill>
                <a:schemeClr val="dk1"/>
              </a:solidFill>
              <a:latin typeface="Calibri"/>
              <a:ea typeface="Calibri"/>
              <a:cs typeface="Calibri"/>
              <a:sym typeface="Calibri"/>
            </a:endParaRPr>
          </a:p>
        </p:txBody>
      </p:sp>
      <p:sp>
        <p:nvSpPr>
          <p:cNvPr id="187" name="Google Shape;187;p9"/>
          <p:cNvSpPr/>
          <p:nvPr/>
        </p:nvSpPr>
        <p:spPr>
          <a:xfrm>
            <a:off x="914400" y="3758040"/>
            <a:ext cx="1494720" cy="6213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300" u="none" strike="noStrike">
                <a:solidFill>
                  <a:srgbClr val="4B5563"/>
                </a:solidFill>
                <a:latin typeface="Calibri"/>
                <a:ea typeface="Calibri"/>
                <a:cs typeface="Calibri"/>
                <a:sym typeface="Calibri"/>
              </a:rPr>
              <a:t>Assumptions</a:t>
            </a:r>
            <a:endParaRPr b="0" sz="1300" u="none" strike="noStrike">
              <a:solidFill>
                <a:srgbClr val="000000"/>
              </a:solidFill>
              <a:latin typeface="Arial"/>
              <a:ea typeface="Arial"/>
              <a:cs typeface="Arial"/>
              <a:sym typeface="Arial"/>
            </a:endParaRPr>
          </a:p>
        </p:txBody>
      </p:sp>
      <p:sp>
        <p:nvSpPr>
          <p:cNvPr id="188" name="Google Shape;188;p9"/>
          <p:cNvSpPr/>
          <p:nvPr/>
        </p:nvSpPr>
        <p:spPr>
          <a:xfrm>
            <a:off x="2409480" y="3813120"/>
            <a:ext cx="3488040" cy="51156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89" name="Google Shape;189;p9"/>
          <p:cNvSpPr/>
          <p:nvPr/>
        </p:nvSpPr>
        <p:spPr>
          <a:xfrm>
            <a:off x="2519280" y="3858840"/>
            <a:ext cx="3268800" cy="42012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lang="en-US" sz="1300">
                <a:solidFill>
                  <a:srgbClr val="111827"/>
                </a:solidFill>
                <a:latin typeface="Calibri"/>
                <a:ea typeface="Calibri"/>
                <a:cs typeface="Calibri"/>
                <a:sym typeface="Calibri"/>
              </a:rPr>
              <a:t>Dealers remain available for pilot tests.</a:t>
            </a:r>
            <a:endParaRPr sz="1800">
              <a:solidFill>
                <a:schemeClr val="dk1"/>
              </a:solidFill>
              <a:latin typeface="Calibri"/>
              <a:ea typeface="Calibri"/>
              <a:cs typeface="Calibri"/>
              <a:sym typeface="Calibri"/>
            </a:endParaRPr>
          </a:p>
        </p:txBody>
      </p:sp>
      <p:sp>
        <p:nvSpPr>
          <p:cNvPr id="190" name="Google Shape;190;p9"/>
          <p:cNvSpPr/>
          <p:nvPr/>
        </p:nvSpPr>
        <p:spPr>
          <a:xfrm>
            <a:off x="914400" y="4380120"/>
            <a:ext cx="1494720" cy="6213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300" u="none" strike="noStrike">
                <a:solidFill>
                  <a:srgbClr val="4B5563"/>
                </a:solidFill>
                <a:latin typeface="Calibri"/>
                <a:ea typeface="Calibri"/>
                <a:cs typeface="Calibri"/>
                <a:sym typeface="Calibri"/>
              </a:rPr>
              <a:t>Constraints</a:t>
            </a:r>
            <a:endParaRPr b="0" sz="1300" u="none" strike="noStrike">
              <a:solidFill>
                <a:srgbClr val="000000"/>
              </a:solidFill>
              <a:latin typeface="Arial"/>
              <a:ea typeface="Arial"/>
              <a:cs typeface="Arial"/>
              <a:sym typeface="Arial"/>
            </a:endParaRPr>
          </a:p>
        </p:txBody>
      </p:sp>
      <p:sp>
        <p:nvSpPr>
          <p:cNvPr id="191" name="Google Shape;191;p9"/>
          <p:cNvSpPr/>
          <p:nvPr/>
        </p:nvSpPr>
        <p:spPr>
          <a:xfrm>
            <a:off x="2409480" y="4434840"/>
            <a:ext cx="3488040" cy="51156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92" name="Google Shape;192;p9"/>
          <p:cNvSpPr/>
          <p:nvPr/>
        </p:nvSpPr>
        <p:spPr>
          <a:xfrm>
            <a:off x="2519280" y="4480560"/>
            <a:ext cx="3268800" cy="42012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lang="en-US" sz="1300">
                <a:solidFill>
                  <a:srgbClr val="111827"/>
                </a:solidFill>
                <a:latin typeface="Calibri"/>
                <a:ea typeface="Calibri"/>
                <a:cs typeface="Calibri"/>
                <a:sym typeface="Calibri"/>
              </a:rPr>
              <a:t>Limited development time and student budget.</a:t>
            </a:r>
            <a:endParaRPr sz="1800">
              <a:solidFill>
                <a:schemeClr val="dk1"/>
              </a:solidFill>
              <a:latin typeface="Calibri"/>
              <a:ea typeface="Calibri"/>
              <a:cs typeface="Calibri"/>
              <a:sym typeface="Calibri"/>
            </a:endParaRPr>
          </a:p>
        </p:txBody>
      </p:sp>
      <p:sp>
        <p:nvSpPr>
          <p:cNvPr id="193" name="Google Shape;193;p9"/>
          <p:cNvSpPr/>
          <p:nvPr/>
        </p:nvSpPr>
        <p:spPr>
          <a:xfrm>
            <a:off x="6492240" y="1874520"/>
            <a:ext cx="5394600" cy="4525920"/>
          </a:xfrm>
          <a:prstGeom prst="roundRect">
            <a:avLst>
              <a:gd fmla="val 16667" name="adj"/>
            </a:avLst>
          </a:prstGeom>
          <a:solidFill>
            <a:srgbClr val="FFFFFF"/>
          </a:solidFill>
          <a:ln cap="flat" cmpd="sng" w="12700">
            <a:solidFill>
              <a:srgbClr val="E5E7EB"/>
            </a:solidFill>
            <a:prstDash val="solid"/>
            <a:round/>
            <a:headEnd len="sm" w="sm" type="none"/>
            <a:tailEnd len="sm" w="sm" type="none"/>
          </a:ln>
          <a:effectLst>
            <a:outerShdw blurRad="28080" rotWithShape="0" algn="bl" dir="2700000" dist="19855">
              <a:srgbClr val="000000">
                <a:alpha val="15686"/>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94" name="Google Shape;194;p9"/>
          <p:cNvSpPr/>
          <p:nvPr/>
        </p:nvSpPr>
        <p:spPr>
          <a:xfrm>
            <a:off x="6748200" y="2039040"/>
            <a:ext cx="4882680" cy="3196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600" u="none" strike="noStrike">
                <a:solidFill>
                  <a:srgbClr val="111827"/>
                </a:solidFill>
                <a:latin typeface="Calibri"/>
                <a:ea typeface="Calibri"/>
                <a:cs typeface="Calibri"/>
                <a:sym typeface="Calibri"/>
              </a:rPr>
              <a:t>Acceptance checks (3–5)</a:t>
            </a:r>
            <a:endParaRPr b="0" sz="1600" u="none" strike="noStrike">
              <a:solidFill>
                <a:srgbClr val="000000"/>
              </a:solidFill>
              <a:latin typeface="Arial"/>
              <a:ea typeface="Arial"/>
              <a:cs typeface="Arial"/>
              <a:sym typeface="Arial"/>
            </a:endParaRPr>
          </a:p>
        </p:txBody>
      </p:sp>
      <p:sp>
        <p:nvSpPr>
          <p:cNvPr id="195" name="Google Shape;195;p9"/>
          <p:cNvSpPr/>
          <p:nvPr/>
        </p:nvSpPr>
        <p:spPr>
          <a:xfrm>
            <a:off x="6748200" y="2377440"/>
            <a:ext cx="4882680" cy="384912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Write as verifiable checks (not vague goals).</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Example:</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“Seat map updates in ≤2s (p95)”</a:t>
            </a:r>
            <a:endParaRPr sz="1600">
              <a:solidFill>
                <a:schemeClr val="dk1"/>
              </a:solidFill>
              <a:latin typeface="Calibri"/>
              <a:ea typeface="Calibri"/>
              <a:cs typeface="Calibri"/>
              <a:sym typeface="Calibri"/>
            </a:endParaRPr>
          </a:p>
          <a:p>
            <a:pPr indent="-101600" lvl="0" marL="0" marR="0" rtl="0" algn="l">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 “Accuracy ≥95% on labeled events”</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“Calibration per unit ≤60s”</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101600" lvl="0" marL="0" marR="0" rtl="0" algn="l">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Tip: p95 = 95th percen</a:t>
            </a:r>
            <a:r>
              <a:rPr lang="en-US" sz="1800">
                <a:solidFill>
                  <a:schemeClr val="dk1"/>
                </a:solidFill>
                <a:latin typeface="Calibri"/>
                <a:ea typeface="Calibri"/>
                <a:cs typeface="Calibri"/>
                <a:sym typeface="Calibri"/>
              </a:rPr>
              <a:t>tile (95% of cases are faster/better than this).</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Now fill yours:</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User signup works without error</a:t>
            </a:r>
            <a:endParaRPr sz="14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Modules load within 3 seconds</a:t>
            </a:r>
            <a:endParaRPr sz="14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Dealer list displays correctly</a:t>
            </a:r>
            <a:endParaRPr sz="14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Booking confirmation generated</a:t>
            </a:r>
            <a:endParaRPr sz="14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No critical crashes during demo</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 name="Google Shape;196;p9"/>
          <p:cNvSpPr/>
          <p:nvPr/>
        </p:nvSpPr>
        <p:spPr>
          <a:xfrm>
            <a:off x="0" y="6565320"/>
            <a:ext cx="12191400" cy="29232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97" name="Google Shape;197;p9"/>
          <p:cNvSpPr/>
          <p:nvPr/>
        </p:nvSpPr>
        <p:spPr>
          <a:xfrm>
            <a:off x="594360" y="6620400"/>
            <a:ext cx="11002680" cy="200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000" u="none" strike="noStrike">
                <a:solidFill>
                  <a:srgbClr val="6B7280"/>
                </a:solidFill>
                <a:latin typeface="Calibri"/>
                <a:ea typeface="Calibri"/>
                <a:cs typeface="Calibri"/>
                <a:sym typeface="Calibri"/>
              </a:rPr>
              <a:t>SoI Prototype Stage — Submission Deck</a:t>
            </a:r>
            <a:endParaRPr b="0" sz="1000" u="none" strike="noStrike">
              <a:solidFill>
                <a:srgbClr val="000000"/>
              </a:solidFill>
              <a:latin typeface="Arial"/>
              <a:ea typeface="Arial"/>
              <a:cs typeface="Arial"/>
              <a:sym typeface="Arial"/>
            </a:endParaRPr>
          </a:p>
        </p:txBody>
      </p:sp>
      <p:sp>
        <p:nvSpPr>
          <p:cNvPr id="198" name="Google Shape;198;p9"/>
          <p:cNvSpPr/>
          <p:nvPr/>
        </p:nvSpPr>
        <p:spPr>
          <a:xfrm>
            <a:off x="10755086" y="6620400"/>
            <a:ext cx="841954" cy="20088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12/23</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0"/>
          <p:cNvSpPr/>
          <p:nvPr/>
        </p:nvSpPr>
        <p:spPr>
          <a:xfrm>
            <a:off x="0" y="0"/>
            <a:ext cx="12191400" cy="566640"/>
          </a:xfrm>
          <a:prstGeom prst="rect">
            <a:avLst/>
          </a:prstGeom>
          <a:solidFill>
            <a:srgbClr val="0B2E4A"/>
          </a:solidFill>
          <a:ln cap="flat" cmpd="sng" w="12700">
            <a:solidFill>
              <a:srgbClr val="0B2E4A"/>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05" name="Google Shape;205;p10"/>
          <p:cNvSpPr/>
          <p:nvPr/>
        </p:nvSpPr>
        <p:spPr>
          <a:xfrm>
            <a:off x="0" y="0"/>
            <a:ext cx="145800" cy="566640"/>
          </a:xfrm>
          <a:prstGeom prst="rect">
            <a:avLst/>
          </a:prstGeom>
          <a:solidFill>
            <a:srgbClr val="2F6FB3"/>
          </a:solidFill>
          <a:ln cap="flat" cmpd="sng" w="12700">
            <a:solidFill>
              <a:srgbClr val="2F6FB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06" name="Google Shape;206;p10"/>
          <p:cNvSpPr/>
          <p:nvPr/>
        </p:nvSpPr>
        <p:spPr>
          <a:xfrm>
            <a:off x="594360" y="109800"/>
            <a:ext cx="11002680" cy="319680"/>
          </a:xfrm>
          <a:prstGeom prst="rect">
            <a:avLst/>
          </a:prstGeom>
          <a:noFill/>
          <a:ln>
            <a:noFill/>
          </a:ln>
        </p:spPr>
        <p:txBody>
          <a:bodyPr anchorCtr="0" anchor="ctr" bIns="45000" lIns="90000" spcFirstLastPara="1" rIns="90000" wrap="square" tIns="45000">
            <a:noAutofit/>
          </a:bodyPr>
          <a:lstStyle/>
          <a:p>
            <a:pPr indent="0" lvl="0" marL="0" marR="0" rtl="0" algn="r">
              <a:lnSpc>
                <a:spcPct val="100000"/>
              </a:lnSpc>
              <a:spcBef>
                <a:spcPts val="0"/>
              </a:spcBef>
              <a:spcAft>
                <a:spcPts val="0"/>
              </a:spcAft>
              <a:buNone/>
            </a:pPr>
            <a:r>
              <a:rPr b="1" lang="en-US" sz="1400" u="none" strike="noStrike">
                <a:solidFill>
                  <a:srgbClr val="FFFFFF"/>
                </a:solidFill>
                <a:latin typeface="Calibri"/>
                <a:ea typeface="Calibri"/>
                <a:cs typeface="Calibri"/>
                <a:sym typeface="Calibri"/>
              </a:rPr>
              <a:t>SoI Innovation Pipeline</a:t>
            </a:r>
            <a:endParaRPr b="0" sz="1400" u="none" strike="noStrike">
              <a:solidFill>
                <a:srgbClr val="000000"/>
              </a:solidFill>
              <a:latin typeface="Arial"/>
              <a:ea typeface="Arial"/>
              <a:cs typeface="Arial"/>
              <a:sym typeface="Arial"/>
            </a:endParaRPr>
          </a:p>
        </p:txBody>
      </p:sp>
      <p:sp>
        <p:nvSpPr>
          <p:cNvPr id="207" name="Google Shape;207;p10"/>
          <p:cNvSpPr/>
          <p:nvPr/>
        </p:nvSpPr>
        <p:spPr>
          <a:xfrm>
            <a:off x="594360" y="658440"/>
            <a:ext cx="1919880" cy="292320"/>
          </a:xfrm>
          <a:prstGeom prst="roundRect">
            <a:avLst>
              <a:gd fmla="val 16667" name="adj"/>
            </a:avLst>
          </a:prstGeom>
          <a:solidFill>
            <a:srgbClr val="2F6FB3"/>
          </a:solidFill>
          <a:ln cap="flat" cmpd="sng" w="12700">
            <a:solidFill>
              <a:srgbClr val="2F6FB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08" name="Google Shape;208;p10"/>
          <p:cNvSpPr/>
          <p:nvPr/>
        </p:nvSpPr>
        <p:spPr>
          <a:xfrm>
            <a:off x="594360" y="704160"/>
            <a:ext cx="1919880" cy="2008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200" u="none" strike="noStrike">
                <a:solidFill>
                  <a:srgbClr val="FFFFFF"/>
                </a:solidFill>
                <a:latin typeface="Calibri"/>
                <a:ea typeface="Calibri"/>
                <a:cs typeface="Calibri"/>
                <a:sym typeface="Calibri"/>
              </a:rPr>
              <a:t>DESIGN</a:t>
            </a:r>
            <a:endParaRPr b="0" sz="1200" u="none" strike="noStrike">
              <a:solidFill>
                <a:srgbClr val="000000"/>
              </a:solidFill>
              <a:latin typeface="Arial"/>
              <a:ea typeface="Arial"/>
              <a:cs typeface="Arial"/>
              <a:sym typeface="Arial"/>
            </a:endParaRPr>
          </a:p>
        </p:txBody>
      </p:sp>
      <p:sp>
        <p:nvSpPr>
          <p:cNvPr id="209" name="Google Shape;209;p10"/>
          <p:cNvSpPr/>
          <p:nvPr/>
        </p:nvSpPr>
        <p:spPr>
          <a:xfrm>
            <a:off x="594360" y="822960"/>
            <a:ext cx="11002680" cy="5482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3200" u="none" strike="noStrike">
                <a:solidFill>
                  <a:srgbClr val="111827"/>
                </a:solidFill>
                <a:latin typeface="Calibri"/>
                <a:ea typeface="Calibri"/>
                <a:cs typeface="Calibri"/>
                <a:sym typeface="Calibri"/>
              </a:rPr>
              <a:t>Prototype System Overview — Architecture / Design</a:t>
            </a:r>
            <a:endParaRPr b="0" sz="3200" u="none" strike="noStrike">
              <a:solidFill>
                <a:srgbClr val="000000"/>
              </a:solidFill>
              <a:latin typeface="Arial"/>
              <a:ea typeface="Arial"/>
              <a:cs typeface="Arial"/>
              <a:sym typeface="Arial"/>
            </a:endParaRPr>
          </a:p>
        </p:txBody>
      </p:sp>
      <p:sp>
        <p:nvSpPr>
          <p:cNvPr id="210" name="Google Shape;210;p10"/>
          <p:cNvSpPr/>
          <p:nvPr/>
        </p:nvSpPr>
        <p:spPr>
          <a:xfrm>
            <a:off x="594360" y="1417320"/>
            <a:ext cx="11002680" cy="3654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600" u="none" strike="noStrike">
                <a:solidFill>
                  <a:srgbClr val="4B5563"/>
                </a:solidFill>
                <a:latin typeface="Calibri"/>
                <a:ea typeface="Calibri"/>
                <a:cs typeface="Calibri"/>
                <a:sym typeface="Calibri"/>
              </a:rPr>
              <a:t>Show end-to-end flow. Mark simulated components clearly.</a:t>
            </a:r>
            <a:endParaRPr b="0" sz="1600" u="none" strike="noStrike">
              <a:solidFill>
                <a:srgbClr val="000000"/>
              </a:solidFill>
              <a:latin typeface="Arial"/>
              <a:ea typeface="Arial"/>
              <a:cs typeface="Arial"/>
              <a:sym typeface="Arial"/>
            </a:endParaRPr>
          </a:p>
        </p:txBody>
      </p:sp>
      <p:sp>
        <p:nvSpPr>
          <p:cNvPr id="211" name="Google Shape;211;p10"/>
          <p:cNvSpPr/>
          <p:nvPr/>
        </p:nvSpPr>
        <p:spPr>
          <a:xfrm>
            <a:off x="427346" y="1711473"/>
            <a:ext cx="10972440" cy="4297320"/>
          </a:xfrm>
          <a:prstGeom prst="roundRect">
            <a:avLst>
              <a:gd fmla="val 16667" name="adj"/>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300">
                <a:solidFill>
                  <a:srgbClr val="000000"/>
                </a:solidFill>
                <a:latin typeface="Calibri"/>
                <a:ea typeface="Calibri"/>
                <a:cs typeface="Calibri"/>
                <a:sym typeface="Calibri"/>
              </a:rPr>
              <a:t>User</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lang="en-US" sz="1300">
                <a:solidFill>
                  <a:srgbClr val="000000"/>
                </a:solidFill>
                <a:latin typeface="Calibri"/>
                <a:ea typeface="Calibri"/>
                <a:cs typeface="Calibri"/>
                <a:sym typeface="Calibri"/>
              </a:rPr>
              <a:t>↓</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lang="en-US" sz="1300">
                <a:solidFill>
                  <a:srgbClr val="000000"/>
                </a:solidFill>
                <a:latin typeface="Calibri"/>
                <a:ea typeface="Calibri"/>
                <a:cs typeface="Calibri"/>
                <a:sym typeface="Calibri"/>
              </a:rPr>
              <a:t>Frontend UI</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lang="en-US" sz="1300">
                <a:solidFill>
                  <a:srgbClr val="000000"/>
                </a:solidFill>
                <a:latin typeface="Calibri"/>
                <a:ea typeface="Calibri"/>
                <a:cs typeface="Calibri"/>
                <a:sym typeface="Calibri"/>
              </a:rPr>
              <a:t>(Login / Dashboard / Modules)</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lang="en-US" sz="1300">
                <a:solidFill>
                  <a:srgbClr val="000000"/>
                </a:solidFill>
                <a:latin typeface="Calibri"/>
                <a:ea typeface="Calibri"/>
                <a:cs typeface="Calibri"/>
                <a:sym typeface="Calibri"/>
              </a:rPr>
              <a:t>↓</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lang="en-US" sz="1300">
                <a:solidFill>
                  <a:srgbClr val="000000"/>
                </a:solidFill>
                <a:latin typeface="Calibri"/>
                <a:ea typeface="Calibri"/>
                <a:cs typeface="Calibri"/>
                <a:sym typeface="Calibri"/>
              </a:rPr>
              <a:t>Backend Authentication</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lang="en-US" sz="1300">
                <a:solidFill>
                  <a:srgbClr val="000000"/>
                </a:solidFill>
                <a:latin typeface="Calibri"/>
                <a:ea typeface="Calibri"/>
                <a:cs typeface="Calibri"/>
                <a:sym typeface="Calibri"/>
              </a:rPr>
              <a:t>↓</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lang="en-US" sz="1300">
                <a:solidFill>
                  <a:srgbClr val="000000"/>
                </a:solidFill>
                <a:latin typeface="Calibri"/>
                <a:ea typeface="Calibri"/>
                <a:cs typeface="Calibri"/>
                <a:sym typeface="Calibri"/>
              </a:rPr>
              <a:t>Blueprint Learning Modules</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lang="en-US" sz="1300">
                <a:solidFill>
                  <a:srgbClr val="000000"/>
                </a:solidFill>
                <a:latin typeface="Calibri"/>
                <a:ea typeface="Calibri"/>
                <a:cs typeface="Calibri"/>
                <a:sym typeface="Calibri"/>
              </a:rPr>
              <a:t>↓</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lang="en-US" sz="1300">
                <a:solidFill>
                  <a:srgbClr val="000000"/>
                </a:solidFill>
                <a:latin typeface="Calibri"/>
                <a:ea typeface="Calibri"/>
                <a:cs typeface="Calibri"/>
                <a:sym typeface="Calibri"/>
              </a:rPr>
              <a:t>Dealer / Supplier Database</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lang="en-US" sz="1300">
                <a:solidFill>
                  <a:srgbClr val="000000"/>
                </a:solidFill>
                <a:latin typeface="Calibri"/>
                <a:ea typeface="Calibri"/>
                <a:cs typeface="Calibri"/>
                <a:sym typeface="Calibri"/>
              </a:rPr>
              <a:t>↓</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lang="en-US" sz="1300">
                <a:solidFill>
                  <a:srgbClr val="000000"/>
                </a:solidFill>
                <a:latin typeface="Calibri"/>
                <a:ea typeface="Calibri"/>
                <a:cs typeface="Calibri"/>
                <a:sym typeface="Calibri"/>
              </a:rPr>
              <a:t>Scheduling Request</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lang="en-US" sz="1300">
                <a:solidFill>
                  <a:srgbClr val="000000"/>
                </a:solidFill>
                <a:latin typeface="Calibri"/>
                <a:ea typeface="Calibri"/>
                <a:cs typeface="Calibri"/>
                <a:sym typeface="Calibri"/>
              </a:rPr>
              <a:t>↓</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lang="en-US" sz="1300">
                <a:solidFill>
                  <a:srgbClr val="000000"/>
                </a:solidFill>
                <a:latin typeface="Calibri"/>
                <a:ea typeface="Calibri"/>
                <a:cs typeface="Calibri"/>
                <a:sym typeface="Calibri"/>
              </a:rPr>
              <a:t>Wizard-of-Oz Manual Verification</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lang="en-US" sz="1300">
                <a:solidFill>
                  <a:srgbClr val="000000"/>
                </a:solidFill>
                <a:latin typeface="Calibri"/>
                <a:ea typeface="Calibri"/>
                <a:cs typeface="Calibri"/>
                <a:sym typeface="Calibri"/>
              </a:rPr>
              <a:t>(Team confirms dealer availability)</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lang="en-US" sz="1300">
                <a:solidFill>
                  <a:srgbClr val="000000"/>
                </a:solidFill>
                <a:latin typeface="Calibri"/>
                <a:ea typeface="Calibri"/>
                <a:cs typeface="Calibri"/>
                <a:sym typeface="Calibri"/>
              </a:rPr>
              <a:t>↓</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lang="en-US" sz="1300">
                <a:solidFill>
                  <a:srgbClr val="000000"/>
                </a:solidFill>
                <a:latin typeface="Calibri"/>
                <a:ea typeface="Calibri"/>
                <a:cs typeface="Calibri"/>
                <a:sym typeface="Calibri"/>
              </a:rPr>
              <a:t>Notification System</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lang="en-US" sz="1300">
                <a:solidFill>
                  <a:srgbClr val="000000"/>
                </a:solidFill>
                <a:latin typeface="Calibri"/>
                <a:ea typeface="Calibri"/>
                <a:cs typeface="Calibri"/>
                <a:sym typeface="Calibri"/>
              </a:rPr>
              <a:t>(Email / Message Confirmation)</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lang="en-US" sz="1300">
                <a:solidFill>
                  <a:srgbClr val="000000"/>
                </a:solidFill>
                <a:latin typeface="Calibri"/>
                <a:ea typeface="Calibri"/>
                <a:cs typeface="Calibri"/>
                <a:sym typeface="Calibri"/>
              </a:rPr>
              <a:t>↓</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lang="en-US" sz="1300">
                <a:solidFill>
                  <a:srgbClr val="000000"/>
                </a:solidFill>
                <a:latin typeface="Calibri"/>
                <a:ea typeface="Calibri"/>
                <a:cs typeface="Calibri"/>
                <a:sym typeface="Calibri"/>
              </a:rPr>
              <a:t>User Receives Confirmation</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t/>
            </a:r>
            <a:endParaRPr b="0" sz="1300" u="none" strike="noStrike">
              <a:solidFill>
                <a:srgbClr val="000000"/>
              </a:solidFill>
              <a:latin typeface="Calibri"/>
              <a:ea typeface="Calibri"/>
              <a:cs typeface="Calibri"/>
              <a:sym typeface="Calibri"/>
            </a:endParaRPr>
          </a:p>
        </p:txBody>
      </p:sp>
      <p:sp>
        <p:nvSpPr>
          <p:cNvPr id="212" name="Google Shape;212;p10"/>
          <p:cNvSpPr/>
          <p:nvPr/>
        </p:nvSpPr>
        <p:spPr>
          <a:xfrm>
            <a:off x="777240" y="2030040"/>
            <a:ext cx="10606680" cy="407772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i="1" sz="1400" u="none" strike="noStrike">
              <a:solidFill>
                <a:srgbClr val="6B7280"/>
              </a:solidFill>
              <a:latin typeface="Calibri"/>
              <a:ea typeface="Calibri"/>
              <a:cs typeface="Calibri"/>
              <a:sym typeface="Calibri"/>
            </a:endParaRPr>
          </a:p>
        </p:txBody>
      </p:sp>
      <p:sp>
        <p:nvSpPr>
          <p:cNvPr id="213" name="Google Shape;213;p10"/>
          <p:cNvSpPr/>
          <p:nvPr/>
        </p:nvSpPr>
        <p:spPr>
          <a:xfrm>
            <a:off x="594360" y="6126480"/>
            <a:ext cx="10972440" cy="383760"/>
          </a:xfrm>
          <a:prstGeom prst="roundRect">
            <a:avLst>
              <a:gd fmla="val 16667" name="adj"/>
            </a:avLst>
          </a:prstGeom>
          <a:solidFill>
            <a:srgbClr val="EEF6FF"/>
          </a:solidFill>
          <a:ln cap="flat" cmpd="sng" w="12700">
            <a:solidFill>
              <a:srgbClr val="B9D6F5"/>
            </a:solidFill>
            <a:prstDash val="solid"/>
            <a:round/>
            <a:headEnd len="sm" w="sm" type="none"/>
            <a:tailEnd len="sm" w="sm" type="none"/>
          </a:ln>
          <a:effectLst>
            <a:outerShdw blurRad="28080" rotWithShape="0" algn="bl" dir="2700000" dist="19855">
              <a:srgbClr val="000000">
                <a:alpha val="15686"/>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14" name="Google Shape;214;p10"/>
          <p:cNvSpPr/>
          <p:nvPr/>
        </p:nvSpPr>
        <p:spPr>
          <a:xfrm>
            <a:off x="850320" y="6236280"/>
            <a:ext cx="10460520" cy="3196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600" u="none" strike="noStrike">
                <a:solidFill>
                  <a:srgbClr val="111827"/>
                </a:solidFill>
                <a:latin typeface="Calibri"/>
                <a:ea typeface="Calibri"/>
                <a:cs typeface="Calibri"/>
                <a:sym typeface="Calibri"/>
              </a:rPr>
              <a:t>Minimum expectation</a:t>
            </a:r>
            <a:endParaRPr b="0" sz="1600" u="none" strike="noStrike">
              <a:solidFill>
                <a:srgbClr val="000000"/>
              </a:solidFill>
              <a:latin typeface="Arial"/>
              <a:ea typeface="Arial"/>
              <a:cs typeface="Arial"/>
              <a:sym typeface="Arial"/>
            </a:endParaRPr>
          </a:p>
        </p:txBody>
      </p:sp>
      <p:sp>
        <p:nvSpPr>
          <p:cNvPr id="215" name="Google Shape;215;p10"/>
          <p:cNvSpPr/>
          <p:nvPr/>
        </p:nvSpPr>
        <p:spPr>
          <a:xfrm>
            <a:off x="3060120" y="6260811"/>
            <a:ext cx="10460520" cy="292320"/>
          </a:xfrm>
          <a:prstGeom prst="rect">
            <a:avLst/>
          </a:prstGeom>
          <a:noFill/>
          <a:ln>
            <a:noFill/>
          </a:ln>
        </p:spPr>
        <p:txBody>
          <a:bodyPr anchorCtr="0" anchor="t" bIns="45000" lIns="90000" spcFirstLastPara="1" rIns="90000" wrap="square" tIns="45000">
            <a:noAutofit/>
          </a:bodyPr>
          <a:lstStyle/>
          <a:p>
            <a:pPr indent="0" lvl="0" marL="0" marR="0" rtl="0" algn="l">
              <a:lnSpc>
                <a:spcPct val="110000"/>
              </a:lnSpc>
              <a:spcBef>
                <a:spcPts val="0"/>
              </a:spcBef>
              <a:spcAft>
                <a:spcPts val="0"/>
              </a:spcAft>
              <a:buNone/>
            </a:pPr>
            <a:r>
              <a:rPr b="0" lang="en-US" sz="1300" u="none" strike="noStrike">
                <a:solidFill>
                  <a:srgbClr val="4B5563"/>
                </a:solidFill>
                <a:latin typeface="Calibri"/>
                <a:ea typeface="Calibri"/>
                <a:cs typeface="Calibri"/>
                <a:sym typeface="Calibri"/>
              </a:rPr>
              <a:t>User → System → Output is clear • Data/Signals are clear • Failure points noted</a:t>
            </a:r>
            <a:endParaRPr b="0" sz="1300" u="none" strike="noStrike">
              <a:solidFill>
                <a:srgbClr val="000000"/>
              </a:solidFill>
              <a:latin typeface="Arial"/>
              <a:ea typeface="Arial"/>
              <a:cs typeface="Arial"/>
              <a:sym typeface="Arial"/>
            </a:endParaRPr>
          </a:p>
        </p:txBody>
      </p:sp>
      <p:sp>
        <p:nvSpPr>
          <p:cNvPr id="216" name="Google Shape;216;p10"/>
          <p:cNvSpPr/>
          <p:nvPr/>
        </p:nvSpPr>
        <p:spPr>
          <a:xfrm>
            <a:off x="0" y="6565320"/>
            <a:ext cx="12191400" cy="29232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17" name="Google Shape;217;p10"/>
          <p:cNvSpPr/>
          <p:nvPr/>
        </p:nvSpPr>
        <p:spPr>
          <a:xfrm>
            <a:off x="594360" y="6620400"/>
            <a:ext cx="11002680" cy="200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000" u="none" strike="noStrike">
                <a:solidFill>
                  <a:srgbClr val="6B7280"/>
                </a:solidFill>
                <a:latin typeface="Calibri"/>
                <a:ea typeface="Calibri"/>
                <a:cs typeface="Calibri"/>
                <a:sym typeface="Calibri"/>
              </a:rPr>
              <a:t>SoI Prototype Stage — Submission Deck</a:t>
            </a:r>
            <a:endParaRPr b="0" sz="1000" u="none" strike="noStrike">
              <a:solidFill>
                <a:srgbClr val="000000"/>
              </a:solidFill>
              <a:latin typeface="Arial"/>
              <a:ea typeface="Arial"/>
              <a:cs typeface="Arial"/>
              <a:sym typeface="Arial"/>
            </a:endParaRPr>
          </a:p>
        </p:txBody>
      </p:sp>
      <p:sp>
        <p:nvSpPr>
          <p:cNvPr id="218" name="Google Shape;218;p10"/>
          <p:cNvSpPr/>
          <p:nvPr/>
        </p:nvSpPr>
        <p:spPr>
          <a:xfrm>
            <a:off x="10820400" y="6620400"/>
            <a:ext cx="776640" cy="29232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13/23</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1"/>
          <p:cNvSpPr/>
          <p:nvPr/>
        </p:nvSpPr>
        <p:spPr>
          <a:xfrm>
            <a:off x="0" y="0"/>
            <a:ext cx="12191400" cy="566640"/>
          </a:xfrm>
          <a:prstGeom prst="rect">
            <a:avLst/>
          </a:prstGeom>
          <a:solidFill>
            <a:srgbClr val="0B2E4A"/>
          </a:solidFill>
          <a:ln cap="flat" cmpd="sng" w="12700">
            <a:solidFill>
              <a:srgbClr val="0B2E4A"/>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25" name="Google Shape;225;p11"/>
          <p:cNvSpPr/>
          <p:nvPr/>
        </p:nvSpPr>
        <p:spPr>
          <a:xfrm>
            <a:off x="0" y="0"/>
            <a:ext cx="145800" cy="566640"/>
          </a:xfrm>
          <a:prstGeom prst="rect">
            <a:avLst/>
          </a:prstGeom>
          <a:solidFill>
            <a:srgbClr val="2F6FB3"/>
          </a:solidFill>
          <a:ln cap="flat" cmpd="sng" w="12700">
            <a:solidFill>
              <a:srgbClr val="2F6FB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26" name="Google Shape;226;p11"/>
          <p:cNvSpPr/>
          <p:nvPr/>
        </p:nvSpPr>
        <p:spPr>
          <a:xfrm>
            <a:off x="594360" y="109800"/>
            <a:ext cx="11002680" cy="319680"/>
          </a:xfrm>
          <a:prstGeom prst="rect">
            <a:avLst/>
          </a:prstGeom>
          <a:noFill/>
          <a:ln>
            <a:noFill/>
          </a:ln>
        </p:spPr>
        <p:txBody>
          <a:bodyPr anchorCtr="0" anchor="ctr" bIns="45000" lIns="90000" spcFirstLastPara="1" rIns="90000" wrap="square" tIns="45000">
            <a:noAutofit/>
          </a:bodyPr>
          <a:lstStyle/>
          <a:p>
            <a:pPr indent="0" lvl="0" marL="0" marR="0" rtl="0" algn="r">
              <a:lnSpc>
                <a:spcPct val="100000"/>
              </a:lnSpc>
              <a:spcBef>
                <a:spcPts val="0"/>
              </a:spcBef>
              <a:spcAft>
                <a:spcPts val="0"/>
              </a:spcAft>
              <a:buNone/>
            </a:pPr>
            <a:r>
              <a:rPr b="1" lang="en-US" sz="1400" u="none" strike="noStrike">
                <a:solidFill>
                  <a:srgbClr val="FFFFFF"/>
                </a:solidFill>
                <a:latin typeface="Calibri"/>
                <a:ea typeface="Calibri"/>
                <a:cs typeface="Calibri"/>
                <a:sym typeface="Calibri"/>
              </a:rPr>
              <a:t>SoI Innovation Pipeline</a:t>
            </a:r>
            <a:endParaRPr b="0" sz="1400" u="none" strike="noStrike">
              <a:solidFill>
                <a:srgbClr val="000000"/>
              </a:solidFill>
              <a:latin typeface="Arial"/>
              <a:ea typeface="Arial"/>
              <a:cs typeface="Arial"/>
              <a:sym typeface="Arial"/>
            </a:endParaRPr>
          </a:p>
        </p:txBody>
      </p:sp>
      <p:sp>
        <p:nvSpPr>
          <p:cNvPr id="227" name="Google Shape;227;p11"/>
          <p:cNvSpPr/>
          <p:nvPr/>
        </p:nvSpPr>
        <p:spPr>
          <a:xfrm>
            <a:off x="594360" y="658440"/>
            <a:ext cx="1919880" cy="292320"/>
          </a:xfrm>
          <a:prstGeom prst="roundRect">
            <a:avLst>
              <a:gd fmla="val 16667" name="adj"/>
            </a:avLst>
          </a:prstGeom>
          <a:solidFill>
            <a:srgbClr val="2F6FB3"/>
          </a:solidFill>
          <a:ln cap="flat" cmpd="sng" w="12700">
            <a:solidFill>
              <a:srgbClr val="2F6FB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28" name="Google Shape;228;p11"/>
          <p:cNvSpPr/>
          <p:nvPr/>
        </p:nvSpPr>
        <p:spPr>
          <a:xfrm>
            <a:off x="594360" y="704160"/>
            <a:ext cx="1919880" cy="2008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200" u="none" strike="noStrike">
                <a:solidFill>
                  <a:srgbClr val="FFFFFF"/>
                </a:solidFill>
                <a:latin typeface="Calibri"/>
                <a:ea typeface="Calibri"/>
                <a:cs typeface="Calibri"/>
                <a:sym typeface="Calibri"/>
              </a:rPr>
              <a:t>BUILD</a:t>
            </a:r>
            <a:endParaRPr b="0" sz="1200" u="none" strike="noStrike">
              <a:solidFill>
                <a:srgbClr val="000000"/>
              </a:solidFill>
              <a:latin typeface="Arial"/>
              <a:ea typeface="Arial"/>
              <a:cs typeface="Arial"/>
              <a:sym typeface="Arial"/>
            </a:endParaRPr>
          </a:p>
        </p:txBody>
      </p:sp>
      <p:sp>
        <p:nvSpPr>
          <p:cNvPr id="229" name="Google Shape;229;p11"/>
          <p:cNvSpPr/>
          <p:nvPr/>
        </p:nvSpPr>
        <p:spPr>
          <a:xfrm>
            <a:off x="594360" y="822960"/>
            <a:ext cx="11002680" cy="5482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3200" u="none" strike="noStrike">
                <a:solidFill>
                  <a:srgbClr val="111827"/>
                </a:solidFill>
                <a:latin typeface="Calibri"/>
                <a:ea typeface="Calibri"/>
                <a:cs typeface="Calibri"/>
                <a:sym typeface="Calibri"/>
              </a:rPr>
              <a:t>Prototype Build Plan &amp; Timeline (Sprints)</a:t>
            </a:r>
            <a:endParaRPr b="0" sz="3200" u="none" strike="noStrike">
              <a:solidFill>
                <a:srgbClr val="000000"/>
              </a:solidFill>
              <a:latin typeface="Arial"/>
              <a:ea typeface="Arial"/>
              <a:cs typeface="Arial"/>
              <a:sym typeface="Arial"/>
            </a:endParaRPr>
          </a:p>
        </p:txBody>
      </p:sp>
      <p:sp>
        <p:nvSpPr>
          <p:cNvPr id="230" name="Google Shape;230;p11"/>
          <p:cNvSpPr/>
          <p:nvPr/>
        </p:nvSpPr>
        <p:spPr>
          <a:xfrm>
            <a:off x="594360" y="1417320"/>
            <a:ext cx="11002680" cy="3654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600" u="none" strike="noStrike">
                <a:solidFill>
                  <a:srgbClr val="4B5563"/>
                </a:solidFill>
                <a:latin typeface="Calibri"/>
                <a:ea typeface="Calibri"/>
                <a:cs typeface="Calibri"/>
                <a:sym typeface="Calibri"/>
              </a:rPr>
              <a:t>Break work into 2–4 short sprints. Each ends with a demoable increment.</a:t>
            </a:r>
            <a:endParaRPr b="0" sz="1600" u="none" strike="noStrike">
              <a:solidFill>
                <a:srgbClr val="000000"/>
              </a:solidFill>
              <a:latin typeface="Arial"/>
              <a:ea typeface="Arial"/>
              <a:cs typeface="Arial"/>
              <a:sym typeface="Arial"/>
            </a:endParaRPr>
          </a:p>
        </p:txBody>
      </p:sp>
      <p:sp>
        <p:nvSpPr>
          <p:cNvPr id="231" name="Google Shape;231;p11"/>
          <p:cNvSpPr/>
          <p:nvPr/>
        </p:nvSpPr>
        <p:spPr>
          <a:xfrm>
            <a:off x="594360" y="1920240"/>
            <a:ext cx="1974600" cy="456840"/>
          </a:xfrm>
          <a:prstGeom prst="rect">
            <a:avLst/>
          </a:prstGeom>
          <a:solidFill>
            <a:srgbClr val="0B2E4A"/>
          </a:solidFill>
          <a:ln cap="flat" cmpd="sng" w="12700">
            <a:solidFill>
              <a:srgbClr val="FFFFFF"/>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32" name="Google Shape;232;p11"/>
          <p:cNvSpPr/>
          <p:nvPr/>
        </p:nvSpPr>
        <p:spPr>
          <a:xfrm>
            <a:off x="704160" y="2011680"/>
            <a:ext cx="1755360" cy="3106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n-US" sz="1200" u="none" strike="noStrike">
                <a:solidFill>
                  <a:srgbClr val="FFFFFF"/>
                </a:solidFill>
                <a:latin typeface="Calibri"/>
                <a:ea typeface="Calibri"/>
                <a:cs typeface="Calibri"/>
                <a:sym typeface="Calibri"/>
              </a:rPr>
              <a:t>Sprint / Week</a:t>
            </a:r>
            <a:endParaRPr b="0" sz="1200" u="none" strike="noStrike">
              <a:solidFill>
                <a:srgbClr val="000000"/>
              </a:solidFill>
              <a:latin typeface="Arial"/>
              <a:ea typeface="Arial"/>
              <a:cs typeface="Arial"/>
              <a:sym typeface="Arial"/>
            </a:endParaRPr>
          </a:p>
        </p:txBody>
      </p:sp>
      <p:sp>
        <p:nvSpPr>
          <p:cNvPr id="233" name="Google Shape;233;p11"/>
          <p:cNvSpPr/>
          <p:nvPr/>
        </p:nvSpPr>
        <p:spPr>
          <a:xfrm>
            <a:off x="2569320" y="1920240"/>
            <a:ext cx="4608360" cy="456840"/>
          </a:xfrm>
          <a:prstGeom prst="rect">
            <a:avLst/>
          </a:prstGeom>
          <a:solidFill>
            <a:srgbClr val="0B2E4A"/>
          </a:solidFill>
          <a:ln cap="flat" cmpd="sng" w="12700">
            <a:solidFill>
              <a:srgbClr val="FFFFFF"/>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34" name="Google Shape;234;p11"/>
          <p:cNvSpPr/>
          <p:nvPr/>
        </p:nvSpPr>
        <p:spPr>
          <a:xfrm>
            <a:off x="2679120" y="2011680"/>
            <a:ext cx="4388760" cy="3106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n-US" sz="1200" u="none" strike="noStrike">
                <a:solidFill>
                  <a:srgbClr val="FFFFFF"/>
                </a:solidFill>
                <a:latin typeface="Calibri"/>
                <a:ea typeface="Calibri"/>
                <a:cs typeface="Calibri"/>
                <a:sym typeface="Calibri"/>
              </a:rPr>
              <a:t>Key tasks &amp; deliverables</a:t>
            </a:r>
            <a:endParaRPr b="0" sz="1200" u="none" strike="noStrike">
              <a:solidFill>
                <a:srgbClr val="000000"/>
              </a:solidFill>
              <a:latin typeface="Arial"/>
              <a:ea typeface="Arial"/>
              <a:cs typeface="Arial"/>
              <a:sym typeface="Arial"/>
            </a:endParaRPr>
          </a:p>
        </p:txBody>
      </p:sp>
      <p:sp>
        <p:nvSpPr>
          <p:cNvPr id="235" name="Google Shape;235;p11"/>
          <p:cNvSpPr/>
          <p:nvPr/>
        </p:nvSpPr>
        <p:spPr>
          <a:xfrm>
            <a:off x="7178040" y="1920240"/>
            <a:ext cx="2413800" cy="456840"/>
          </a:xfrm>
          <a:prstGeom prst="rect">
            <a:avLst/>
          </a:prstGeom>
          <a:solidFill>
            <a:srgbClr val="0B2E4A"/>
          </a:solidFill>
          <a:ln cap="flat" cmpd="sng" w="12700">
            <a:solidFill>
              <a:srgbClr val="FFFFFF"/>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36" name="Google Shape;236;p11"/>
          <p:cNvSpPr/>
          <p:nvPr/>
        </p:nvSpPr>
        <p:spPr>
          <a:xfrm>
            <a:off x="7287840" y="2011680"/>
            <a:ext cx="2194200" cy="3106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n-US" sz="1200" u="none" strike="noStrike">
                <a:solidFill>
                  <a:srgbClr val="FFFFFF"/>
                </a:solidFill>
                <a:latin typeface="Calibri"/>
                <a:ea typeface="Calibri"/>
                <a:cs typeface="Calibri"/>
                <a:sym typeface="Calibri"/>
              </a:rPr>
              <a:t>Owner(s)</a:t>
            </a:r>
            <a:endParaRPr b="0" sz="1200" u="none" strike="noStrike">
              <a:solidFill>
                <a:srgbClr val="000000"/>
              </a:solidFill>
              <a:latin typeface="Arial"/>
              <a:ea typeface="Arial"/>
              <a:cs typeface="Arial"/>
              <a:sym typeface="Arial"/>
            </a:endParaRPr>
          </a:p>
        </p:txBody>
      </p:sp>
      <p:sp>
        <p:nvSpPr>
          <p:cNvPr id="237" name="Google Shape;237;p11"/>
          <p:cNvSpPr/>
          <p:nvPr/>
        </p:nvSpPr>
        <p:spPr>
          <a:xfrm>
            <a:off x="9592200" y="1920240"/>
            <a:ext cx="1974600" cy="456840"/>
          </a:xfrm>
          <a:prstGeom prst="rect">
            <a:avLst/>
          </a:prstGeom>
          <a:solidFill>
            <a:srgbClr val="0B2E4A"/>
          </a:solidFill>
          <a:ln cap="flat" cmpd="sng" w="12700">
            <a:solidFill>
              <a:srgbClr val="FFFFFF"/>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38" name="Google Shape;238;p11"/>
          <p:cNvSpPr/>
          <p:nvPr/>
        </p:nvSpPr>
        <p:spPr>
          <a:xfrm>
            <a:off x="9701640" y="2011680"/>
            <a:ext cx="1755360" cy="3106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n-US" sz="1200" u="none" strike="noStrike">
                <a:solidFill>
                  <a:srgbClr val="FFFFFF"/>
                </a:solidFill>
                <a:latin typeface="Calibri"/>
                <a:ea typeface="Calibri"/>
                <a:cs typeface="Calibri"/>
                <a:sym typeface="Calibri"/>
              </a:rPr>
              <a:t>Status</a:t>
            </a:r>
            <a:endParaRPr b="0" sz="1200" u="none" strike="noStrike">
              <a:solidFill>
                <a:srgbClr val="000000"/>
              </a:solidFill>
              <a:latin typeface="Arial"/>
              <a:ea typeface="Arial"/>
              <a:cs typeface="Arial"/>
              <a:sym typeface="Arial"/>
            </a:endParaRPr>
          </a:p>
        </p:txBody>
      </p:sp>
      <p:sp>
        <p:nvSpPr>
          <p:cNvPr id="239" name="Google Shape;239;p11"/>
          <p:cNvSpPr/>
          <p:nvPr/>
        </p:nvSpPr>
        <p:spPr>
          <a:xfrm>
            <a:off x="594360" y="2377440"/>
            <a:ext cx="1974600" cy="95976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Week 1</a:t>
            </a:r>
            <a:endParaRPr sz="1800">
              <a:solidFill>
                <a:schemeClr val="dk1"/>
              </a:solidFill>
              <a:latin typeface="Calibri"/>
              <a:ea typeface="Calibri"/>
              <a:cs typeface="Calibri"/>
              <a:sym typeface="Calibri"/>
            </a:endParaRPr>
          </a:p>
        </p:txBody>
      </p:sp>
      <p:sp>
        <p:nvSpPr>
          <p:cNvPr id="240" name="Google Shape;240;p11"/>
          <p:cNvSpPr/>
          <p:nvPr/>
        </p:nvSpPr>
        <p:spPr>
          <a:xfrm>
            <a:off x="2569320" y="2377440"/>
            <a:ext cx="4608360" cy="95976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UI Design &amp; Landing Page</a:t>
            </a:r>
            <a:endParaRPr sz="1800">
              <a:solidFill>
                <a:schemeClr val="dk1"/>
              </a:solidFill>
              <a:latin typeface="Calibri"/>
              <a:ea typeface="Calibri"/>
              <a:cs typeface="Calibri"/>
              <a:sym typeface="Calibri"/>
            </a:endParaRPr>
          </a:p>
        </p:txBody>
      </p:sp>
      <p:sp>
        <p:nvSpPr>
          <p:cNvPr id="241" name="Google Shape;241;p11"/>
          <p:cNvSpPr/>
          <p:nvPr/>
        </p:nvSpPr>
        <p:spPr>
          <a:xfrm>
            <a:off x="7178040" y="2377440"/>
            <a:ext cx="2413800" cy="95976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Kani</a:t>
            </a:r>
            <a:endParaRPr sz="1800">
              <a:solidFill>
                <a:schemeClr val="dk1"/>
              </a:solidFill>
              <a:latin typeface="Calibri"/>
              <a:ea typeface="Calibri"/>
              <a:cs typeface="Calibri"/>
              <a:sym typeface="Calibri"/>
            </a:endParaRPr>
          </a:p>
        </p:txBody>
      </p:sp>
      <p:sp>
        <p:nvSpPr>
          <p:cNvPr id="242" name="Google Shape;242;p11"/>
          <p:cNvSpPr/>
          <p:nvPr/>
        </p:nvSpPr>
        <p:spPr>
          <a:xfrm>
            <a:off x="9592200" y="2377440"/>
            <a:ext cx="1974600" cy="95976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Done</a:t>
            </a:r>
            <a:endParaRPr/>
          </a:p>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43" name="Google Shape;243;p11"/>
          <p:cNvSpPr/>
          <p:nvPr/>
        </p:nvSpPr>
        <p:spPr>
          <a:xfrm>
            <a:off x="594360" y="3337560"/>
            <a:ext cx="1974600" cy="95976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Week 2</a:t>
            </a:r>
            <a:endParaRPr sz="1800">
              <a:solidFill>
                <a:schemeClr val="dk1"/>
              </a:solidFill>
              <a:latin typeface="Calibri"/>
              <a:ea typeface="Calibri"/>
              <a:cs typeface="Calibri"/>
              <a:sym typeface="Calibri"/>
            </a:endParaRPr>
          </a:p>
        </p:txBody>
      </p:sp>
      <p:sp>
        <p:nvSpPr>
          <p:cNvPr id="244" name="Google Shape;244;p11"/>
          <p:cNvSpPr/>
          <p:nvPr/>
        </p:nvSpPr>
        <p:spPr>
          <a:xfrm>
            <a:off x="2569320" y="3337560"/>
            <a:ext cx="4608360" cy="95976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Course Module Integration</a:t>
            </a:r>
            <a:endParaRPr sz="1800">
              <a:solidFill>
                <a:schemeClr val="dk1"/>
              </a:solidFill>
              <a:latin typeface="Calibri"/>
              <a:ea typeface="Calibri"/>
              <a:cs typeface="Calibri"/>
              <a:sym typeface="Calibri"/>
            </a:endParaRPr>
          </a:p>
        </p:txBody>
      </p:sp>
      <p:sp>
        <p:nvSpPr>
          <p:cNvPr id="245" name="Google Shape;245;p11"/>
          <p:cNvSpPr/>
          <p:nvPr/>
        </p:nvSpPr>
        <p:spPr>
          <a:xfrm>
            <a:off x="7178040" y="3337560"/>
            <a:ext cx="2413800" cy="95976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Team</a:t>
            </a:r>
            <a:endParaRPr sz="1800">
              <a:solidFill>
                <a:schemeClr val="dk1"/>
              </a:solidFill>
              <a:latin typeface="Calibri"/>
              <a:ea typeface="Calibri"/>
              <a:cs typeface="Calibri"/>
              <a:sym typeface="Calibri"/>
            </a:endParaRPr>
          </a:p>
        </p:txBody>
      </p:sp>
      <p:sp>
        <p:nvSpPr>
          <p:cNvPr id="246" name="Google Shape;246;p11"/>
          <p:cNvSpPr/>
          <p:nvPr/>
        </p:nvSpPr>
        <p:spPr>
          <a:xfrm>
            <a:off x="9592200" y="3337560"/>
            <a:ext cx="1974600" cy="95976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In Progress</a:t>
            </a:r>
            <a:endParaRPr sz="1800">
              <a:solidFill>
                <a:schemeClr val="dk1"/>
              </a:solidFill>
              <a:latin typeface="Calibri"/>
              <a:ea typeface="Calibri"/>
              <a:cs typeface="Calibri"/>
              <a:sym typeface="Calibri"/>
            </a:endParaRPr>
          </a:p>
        </p:txBody>
      </p:sp>
      <p:sp>
        <p:nvSpPr>
          <p:cNvPr id="247" name="Google Shape;247;p11"/>
          <p:cNvSpPr/>
          <p:nvPr/>
        </p:nvSpPr>
        <p:spPr>
          <a:xfrm>
            <a:off x="594360" y="4297680"/>
            <a:ext cx="1974600" cy="95976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Week 3</a:t>
            </a:r>
            <a:endParaRPr sz="1800">
              <a:solidFill>
                <a:schemeClr val="dk1"/>
              </a:solidFill>
              <a:latin typeface="Calibri"/>
              <a:ea typeface="Calibri"/>
              <a:cs typeface="Calibri"/>
              <a:sym typeface="Calibri"/>
            </a:endParaRPr>
          </a:p>
        </p:txBody>
      </p:sp>
      <p:sp>
        <p:nvSpPr>
          <p:cNvPr id="248" name="Google Shape;248;p11"/>
          <p:cNvSpPr/>
          <p:nvPr/>
        </p:nvSpPr>
        <p:spPr>
          <a:xfrm>
            <a:off x="2569320" y="4297680"/>
            <a:ext cx="4608360" cy="95976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Dealer Database Setup</a:t>
            </a:r>
            <a:endParaRPr sz="1800">
              <a:solidFill>
                <a:schemeClr val="dk1"/>
              </a:solidFill>
              <a:latin typeface="Calibri"/>
              <a:ea typeface="Calibri"/>
              <a:cs typeface="Calibri"/>
              <a:sym typeface="Calibri"/>
            </a:endParaRPr>
          </a:p>
        </p:txBody>
      </p:sp>
      <p:sp>
        <p:nvSpPr>
          <p:cNvPr id="249" name="Google Shape;249;p11"/>
          <p:cNvSpPr/>
          <p:nvPr/>
        </p:nvSpPr>
        <p:spPr>
          <a:xfrm>
            <a:off x="7178040" y="4297680"/>
            <a:ext cx="2413800" cy="95976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Team</a:t>
            </a:r>
            <a:endParaRPr sz="1800">
              <a:solidFill>
                <a:schemeClr val="dk1"/>
              </a:solidFill>
              <a:latin typeface="Calibri"/>
              <a:ea typeface="Calibri"/>
              <a:cs typeface="Calibri"/>
              <a:sym typeface="Calibri"/>
            </a:endParaRPr>
          </a:p>
        </p:txBody>
      </p:sp>
      <p:sp>
        <p:nvSpPr>
          <p:cNvPr id="250" name="Google Shape;250;p11"/>
          <p:cNvSpPr/>
          <p:nvPr/>
        </p:nvSpPr>
        <p:spPr>
          <a:xfrm>
            <a:off x="9592200" y="4297680"/>
            <a:ext cx="1974600" cy="95976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Planned</a:t>
            </a:r>
            <a:endParaRPr sz="1800">
              <a:solidFill>
                <a:schemeClr val="dk1"/>
              </a:solidFill>
              <a:latin typeface="Calibri"/>
              <a:ea typeface="Calibri"/>
              <a:cs typeface="Calibri"/>
              <a:sym typeface="Calibri"/>
            </a:endParaRPr>
          </a:p>
        </p:txBody>
      </p:sp>
      <p:sp>
        <p:nvSpPr>
          <p:cNvPr id="251" name="Google Shape;251;p11"/>
          <p:cNvSpPr/>
          <p:nvPr/>
        </p:nvSpPr>
        <p:spPr>
          <a:xfrm>
            <a:off x="594360" y="5257800"/>
            <a:ext cx="1974600" cy="95976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Week 4</a:t>
            </a:r>
            <a:endParaRPr sz="1800">
              <a:solidFill>
                <a:schemeClr val="dk1"/>
              </a:solidFill>
              <a:latin typeface="Calibri"/>
              <a:ea typeface="Calibri"/>
              <a:cs typeface="Calibri"/>
              <a:sym typeface="Calibri"/>
            </a:endParaRPr>
          </a:p>
        </p:txBody>
      </p:sp>
      <p:sp>
        <p:nvSpPr>
          <p:cNvPr id="252" name="Google Shape;252;p11"/>
          <p:cNvSpPr/>
          <p:nvPr/>
        </p:nvSpPr>
        <p:spPr>
          <a:xfrm>
            <a:off x="2569320" y="5257800"/>
            <a:ext cx="4608360" cy="95976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Scheduling &amp; Demo Prep</a:t>
            </a:r>
            <a:endParaRPr sz="1800">
              <a:solidFill>
                <a:schemeClr val="dk1"/>
              </a:solidFill>
              <a:latin typeface="Calibri"/>
              <a:ea typeface="Calibri"/>
              <a:cs typeface="Calibri"/>
              <a:sym typeface="Calibri"/>
            </a:endParaRPr>
          </a:p>
        </p:txBody>
      </p:sp>
      <p:sp>
        <p:nvSpPr>
          <p:cNvPr id="253" name="Google Shape;253;p11"/>
          <p:cNvSpPr/>
          <p:nvPr/>
        </p:nvSpPr>
        <p:spPr>
          <a:xfrm>
            <a:off x="7178040" y="5257800"/>
            <a:ext cx="2413800" cy="95976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Team</a:t>
            </a:r>
            <a:endParaRPr sz="1800">
              <a:solidFill>
                <a:schemeClr val="dk1"/>
              </a:solidFill>
              <a:latin typeface="Calibri"/>
              <a:ea typeface="Calibri"/>
              <a:cs typeface="Calibri"/>
              <a:sym typeface="Calibri"/>
            </a:endParaRPr>
          </a:p>
        </p:txBody>
      </p:sp>
      <p:sp>
        <p:nvSpPr>
          <p:cNvPr id="254" name="Google Shape;254;p11"/>
          <p:cNvSpPr/>
          <p:nvPr/>
        </p:nvSpPr>
        <p:spPr>
          <a:xfrm>
            <a:off x="9592200" y="5257800"/>
            <a:ext cx="1974600" cy="95976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Planned</a:t>
            </a:r>
            <a:endParaRPr sz="1800">
              <a:solidFill>
                <a:schemeClr val="dk1"/>
              </a:solidFill>
              <a:latin typeface="Calibri"/>
              <a:ea typeface="Calibri"/>
              <a:cs typeface="Calibri"/>
              <a:sym typeface="Calibri"/>
            </a:endParaRPr>
          </a:p>
        </p:txBody>
      </p:sp>
      <p:sp>
        <p:nvSpPr>
          <p:cNvPr id="255" name="Google Shape;255;p11"/>
          <p:cNvSpPr/>
          <p:nvPr/>
        </p:nvSpPr>
        <p:spPr>
          <a:xfrm>
            <a:off x="594360" y="6236280"/>
            <a:ext cx="10972440" cy="2739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i="1" lang="en-US" sz="1200" u="none" strike="noStrike">
                <a:solidFill>
                  <a:srgbClr val="6B7280"/>
                </a:solidFill>
                <a:latin typeface="Calibri"/>
                <a:ea typeface="Calibri"/>
                <a:cs typeface="Calibri"/>
                <a:sym typeface="Calibri"/>
              </a:rPr>
              <a:t>Tip: Use “Definition of Done” for each sprint (demoable + evidence captured).</a:t>
            </a:r>
            <a:endParaRPr b="0" sz="1200" u="none" strike="noStrike">
              <a:solidFill>
                <a:srgbClr val="000000"/>
              </a:solidFill>
              <a:latin typeface="Arial"/>
              <a:ea typeface="Arial"/>
              <a:cs typeface="Arial"/>
              <a:sym typeface="Arial"/>
            </a:endParaRPr>
          </a:p>
        </p:txBody>
      </p:sp>
      <p:sp>
        <p:nvSpPr>
          <p:cNvPr id="256" name="Google Shape;256;p11"/>
          <p:cNvSpPr/>
          <p:nvPr/>
        </p:nvSpPr>
        <p:spPr>
          <a:xfrm>
            <a:off x="0" y="6565320"/>
            <a:ext cx="12191400" cy="29232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57" name="Google Shape;257;p11"/>
          <p:cNvSpPr/>
          <p:nvPr/>
        </p:nvSpPr>
        <p:spPr>
          <a:xfrm>
            <a:off x="594360" y="6620400"/>
            <a:ext cx="11002680" cy="200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000" u="none" strike="noStrike">
                <a:solidFill>
                  <a:srgbClr val="6B7280"/>
                </a:solidFill>
                <a:latin typeface="Calibri"/>
                <a:ea typeface="Calibri"/>
                <a:cs typeface="Calibri"/>
                <a:sym typeface="Calibri"/>
              </a:rPr>
              <a:t>SoI Prototype Stage — Submission Deck</a:t>
            </a:r>
            <a:endParaRPr b="0" sz="1000" u="none" strike="noStrike">
              <a:solidFill>
                <a:srgbClr val="000000"/>
              </a:solidFill>
              <a:latin typeface="Arial"/>
              <a:ea typeface="Arial"/>
              <a:cs typeface="Arial"/>
              <a:sym typeface="Arial"/>
            </a:endParaRPr>
          </a:p>
        </p:txBody>
      </p:sp>
      <p:sp>
        <p:nvSpPr>
          <p:cNvPr id="258" name="Google Shape;258;p11"/>
          <p:cNvSpPr/>
          <p:nvPr/>
        </p:nvSpPr>
        <p:spPr>
          <a:xfrm>
            <a:off x="10831286" y="6620400"/>
            <a:ext cx="765754" cy="15552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14/23</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2"/>
          <p:cNvSpPr/>
          <p:nvPr/>
        </p:nvSpPr>
        <p:spPr>
          <a:xfrm>
            <a:off x="0" y="0"/>
            <a:ext cx="12191400" cy="566640"/>
          </a:xfrm>
          <a:prstGeom prst="rect">
            <a:avLst/>
          </a:prstGeom>
          <a:solidFill>
            <a:srgbClr val="0B2E4A"/>
          </a:solidFill>
          <a:ln cap="flat" cmpd="sng" w="12700">
            <a:solidFill>
              <a:srgbClr val="0B2E4A"/>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65" name="Google Shape;265;p12"/>
          <p:cNvSpPr/>
          <p:nvPr/>
        </p:nvSpPr>
        <p:spPr>
          <a:xfrm>
            <a:off x="0" y="0"/>
            <a:ext cx="145800" cy="566640"/>
          </a:xfrm>
          <a:prstGeom prst="rect">
            <a:avLst/>
          </a:prstGeom>
          <a:solidFill>
            <a:srgbClr val="2F6FB3"/>
          </a:solidFill>
          <a:ln cap="flat" cmpd="sng" w="12700">
            <a:solidFill>
              <a:srgbClr val="2F6FB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66" name="Google Shape;266;p12"/>
          <p:cNvSpPr/>
          <p:nvPr/>
        </p:nvSpPr>
        <p:spPr>
          <a:xfrm>
            <a:off x="594360" y="109800"/>
            <a:ext cx="11002680" cy="319680"/>
          </a:xfrm>
          <a:prstGeom prst="rect">
            <a:avLst/>
          </a:prstGeom>
          <a:noFill/>
          <a:ln>
            <a:noFill/>
          </a:ln>
        </p:spPr>
        <p:txBody>
          <a:bodyPr anchorCtr="0" anchor="ctr" bIns="45000" lIns="90000" spcFirstLastPara="1" rIns="90000" wrap="square" tIns="45000">
            <a:noAutofit/>
          </a:bodyPr>
          <a:lstStyle/>
          <a:p>
            <a:pPr indent="0" lvl="0" marL="0" marR="0" rtl="0" algn="r">
              <a:lnSpc>
                <a:spcPct val="100000"/>
              </a:lnSpc>
              <a:spcBef>
                <a:spcPts val="0"/>
              </a:spcBef>
              <a:spcAft>
                <a:spcPts val="0"/>
              </a:spcAft>
              <a:buNone/>
            </a:pPr>
            <a:r>
              <a:rPr b="1" lang="en-US" sz="1400" u="none" strike="noStrike">
                <a:solidFill>
                  <a:srgbClr val="FFFFFF"/>
                </a:solidFill>
                <a:latin typeface="Calibri"/>
                <a:ea typeface="Calibri"/>
                <a:cs typeface="Calibri"/>
                <a:sym typeface="Calibri"/>
              </a:rPr>
              <a:t>SoI Innovation Pipeline</a:t>
            </a:r>
            <a:endParaRPr b="0" sz="1400" u="none" strike="noStrike">
              <a:solidFill>
                <a:srgbClr val="000000"/>
              </a:solidFill>
              <a:latin typeface="Arial"/>
              <a:ea typeface="Arial"/>
              <a:cs typeface="Arial"/>
              <a:sym typeface="Arial"/>
            </a:endParaRPr>
          </a:p>
        </p:txBody>
      </p:sp>
      <p:sp>
        <p:nvSpPr>
          <p:cNvPr id="267" name="Google Shape;267;p12"/>
          <p:cNvSpPr/>
          <p:nvPr/>
        </p:nvSpPr>
        <p:spPr>
          <a:xfrm>
            <a:off x="594360" y="658440"/>
            <a:ext cx="1919880" cy="292320"/>
          </a:xfrm>
          <a:prstGeom prst="roundRect">
            <a:avLst>
              <a:gd fmla="val 16667" name="adj"/>
            </a:avLst>
          </a:prstGeom>
          <a:solidFill>
            <a:srgbClr val="2F6FB3"/>
          </a:solidFill>
          <a:ln cap="flat" cmpd="sng" w="12700">
            <a:solidFill>
              <a:srgbClr val="2F6FB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68" name="Google Shape;268;p12"/>
          <p:cNvSpPr/>
          <p:nvPr/>
        </p:nvSpPr>
        <p:spPr>
          <a:xfrm>
            <a:off x="594360" y="704160"/>
            <a:ext cx="1919880" cy="2008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200" u="none" strike="noStrike">
                <a:solidFill>
                  <a:srgbClr val="FFFFFF"/>
                </a:solidFill>
                <a:latin typeface="Calibri"/>
                <a:ea typeface="Calibri"/>
                <a:cs typeface="Calibri"/>
                <a:sym typeface="Calibri"/>
              </a:rPr>
              <a:t>RESOURCES</a:t>
            </a:r>
            <a:endParaRPr b="0" sz="1200" u="none" strike="noStrike">
              <a:solidFill>
                <a:srgbClr val="000000"/>
              </a:solidFill>
              <a:latin typeface="Arial"/>
              <a:ea typeface="Arial"/>
              <a:cs typeface="Arial"/>
              <a:sym typeface="Arial"/>
            </a:endParaRPr>
          </a:p>
        </p:txBody>
      </p:sp>
      <p:sp>
        <p:nvSpPr>
          <p:cNvPr id="269" name="Google Shape;269;p12"/>
          <p:cNvSpPr/>
          <p:nvPr/>
        </p:nvSpPr>
        <p:spPr>
          <a:xfrm>
            <a:off x="594360" y="822960"/>
            <a:ext cx="11002680" cy="5482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3200" u="none" strike="noStrike">
                <a:solidFill>
                  <a:srgbClr val="111827"/>
                </a:solidFill>
                <a:latin typeface="Calibri"/>
                <a:ea typeface="Calibri"/>
                <a:cs typeface="Calibri"/>
                <a:sym typeface="Calibri"/>
              </a:rPr>
              <a:t>Resources, BOM &amp; Budget</a:t>
            </a:r>
            <a:endParaRPr b="0" sz="3200" u="none" strike="noStrike">
              <a:solidFill>
                <a:srgbClr val="000000"/>
              </a:solidFill>
              <a:latin typeface="Arial"/>
              <a:ea typeface="Arial"/>
              <a:cs typeface="Arial"/>
              <a:sym typeface="Arial"/>
            </a:endParaRPr>
          </a:p>
        </p:txBody>
      </p:sp>
      <p:sp>
        <p:nvSpPr>
          <p:cNvPr id="270" name="Google Shape;270;p12"/>
          <p:cNvSpPr/>
          <p:nvPr/>
        </p:nvSpPr>
        <p:spPr>
          <a:xfrm>
            <a:off x="594360" y="1417320"/>
            <a:ext cx="11002680" cy="36540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List what you need. Keep it realistic and within constraints. (BOM = Bill of Materials)</a:t>
            </a:r>
            <a:endParaRPr/>
          </a:p>
        </p:txBody>
      </p:sp>
      <p:sp>
        <p:nvSpPr>
          <p:cNvPr id="271" name="Google Shape;271;p12"/>
          <p:cNvSpPr/>
          <p:nvPr/>
        </p:nvSpPr>
        <p:spPr>
          <a:xfrm>
            <a:off x="594360" y="1920240"/>
            <a:ext cx="3949920" cy="456840"/>
          </a:xfrm>
          <a:prstGeom prst="rect">
            <a:avLst/>
          </a:prstGeom>
          <a:solidFill>
            <a:srgbClr val="0B2E4A"/>
          </a:solidFill>
          <a:ln cap="flat" cmpd="sng" w="12700">
            <a:solidFill>
              <a:srgbClr val="FFFFFF"/>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72" name="Google Shape;272;p12"/>
          <p:cNvSpPr/>
          <p:nvPr/>
        </p:nvSpPr>
        <p:spPr>
          <a:xfrm>
            <a:off x="704160" y="2011680"/>
            <a:ext cx="3730320" cy="3106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n-US" sz="1200" u="none" strike="noStrike">
                <a:solidFill>
                  <a:srgbClr val="FFFFFF"/>
                </a:solidFill>
                <a:latin typeface="Calibri"/>
                <a:ea typeface="Calibri"/>
                <a:cs typeface="Calibri"/>
                <a:sym typeface="Calibri"/>
              </a:rPr>
              <a:t>Item / resource</a:t>
            </a:r>
            <a:endParaRPr b="0" sz="1200" u="none" strike="noStrike">
              <a:solidFill>
                <a:srgbClr val="000000"/>
              </a:solidFill>
              <a:latin typeface="Arial"/>
              <a:ea typeface="Arial"/>
              <a:cs typeface="Arial"/>
              <a:sym typeface="Arial"/>
            </a:endParaRPr>
          </a:p>
        </p:txBody>
      </p:sp>
      <p:sp>
        <p:nvSpPr>
          <p:cNvPr id="273" name="Google Shape;273;p12"/>
          <p:cNvSpPr/>
          <p:nvPr/>
        </p:nvSpPr>
        <p:spPr>
          <a:xfrm>
            <a:off x="4544640" y="1920240"/>
            <a:ext cx="1535760" cy="456840"/>
          </a:xfrm>
          <a:prstGeom prst="rect">
            <a:avLst/>
          </a:prstGeom>
          <a:solidFill>
            <a:srgbClr val="0B2E4A"/>
          </a:solidFill>
          <a:ln cap="flat" cmpd="sng" w="12700">
            <a:solidFill>
              <a:srgbClr val="FFFFFF"/>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74" name="Google Shape;274;p12"/>
          <p:cNvSpPr/>
          <p:nvPr/>
        </p:nvSpPr>
        <p:spPr>
          <a:xfrm>
            <a:off x="4654440" y="2011680"/>
            <a:ext cx="1316520" cy="3106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n-US" sz="1200" u="none" strike="noStrike">
                <a:solidFill>
                  <a:srgbClr val="FFFFFF"/>
                </a:solidFill>
                <a:latin typeface="Calibri"/>
                <a:ea typeface="Calibri"/>
                <a:cs typeface="Calibri"/>
                <a:sym typeface="Calibri"/>
              </a:rPr>
              <a:t>Qty</a:t>
            </a:r>
            <a:endParaRPr b="0" sz="1200" u="none" strike="noStrike">
              <a:solidFill>
                <a:srgbClr val="000000"/>
              </a:solidFill>
              <a:latin typeface="Arial"/>
              <a:ea typeface="Arial"/>
              <a:cs typeface="Arial"/>
              <a:sym typeface="Arial"/>
            </a:endParaRPr>
          </a:p>
        </p:txBody>
      </p:sp>
      <p:sp>
        <p:nvSpPr>
          <p:cNvPr id="275" name="Google Shape;275;p12"/>
          <p:cNvSpPr/>
          <p:nvPr/>
        </p:nvSpPr>
        <p:spPr>
          <a:xfrm>
            <a:off x="6080760" y="1920240"/>
            <a:ext cx="1535760" cy="456840"/>
          </a:xfrm>
          <a:prstGeom prst="rect">
            <a:avLst/>
          </a:prstGeom>
          <a:solidFill>
            <a:srgbClr val="0B2E4A"/>
          </a:solidFill>
          <a:ln cap="flat" cmpd="sng" w="12700">
            <a:solidFill>
              <a:srgbClr val="FFFFFF"/>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76" name="Google Shape;276;p12"/>
          <p:cNvSpPr/>
          <p:nvPr/>
        </p:nvSpPr>
        <p:spPr>
          <a:xfrm>
            <a:off x="6190560" y="2011680"/>
            <a:ext cx="1316520" cy="3106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n-US" sz="1200" u="none" strike="noStrike">
                <a:solidFill>
                  <a:srgbClr val="FFFFFF"/>
                </a:solidFill>
                <a:latin typeface="Calibri"/>
                <a:ea typeface="Calibri"/>
                <a:cs typeface="Calibri"/>
                <a:sym typeface="Calibri"/>
              </a:rPr>
              <a:t>Unit cost</a:t>
            </a:r>
            <a:endParaRPr b="0" sz="1200" u="none" strike="noStrike">
              <a:solidFill>
                <a:srgbClr val="000000"/>
              </a:solidFill>
              <a:latin typeface="Arial"/>
              <a:ea typeface="Arial"/>
              <a:cs typeface="Arial"/>
              <a:sym typeface="Arial"/>
            </a:endParaRPr>
          </a:p>
        </p:txBody>
      </p:sp>
      <p:sp>
        <p:nvSpPr>
          <p:cNvPr id="277" name="Google Shape;277;p12"/>
          <p:cNvSpPr/>
          <p:nvPr/>
        </p:nvSpPr>
        <p:spPr>
          <a:xfrm>
            <a:off x="7616880" y="1920240"/>
            <a:ext cx="1974600" cy="456840"/>
          </a:xfrm>
          <a:prstGeom prst="rect">
            <a:avLst/>
          </a:prstGeom>
          <a:solidFill>
            <a:srgbClr val="0B2E4A"/>
          </a:solidFill>
          <a:ln cap="flat" cmpd="sng" w="12700">
            <a:solidFill>
              <a:srgbClr val="FFFFFF"/>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78" name="Google Shape;278;p12"/>
          <p:cNvSpPr/>
          <p:nvPr/>
        </p:nvSpPr>
        <p:spPr>
          <a:xfrm>
            <a:off x="7726680" y="2011680"/>
            <a:ext cx="1755360" cy="3106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n-US" sz="1200" u="none" strike="noStrike">
                <a:solidFill>
                  <a:srgbClr val="FFFFFF"/>
                </a:solidFill>
                <a:latin typeface="Calibri"/>
                <a:ea typeface="Calibri"/>
                <a:cs typeface="Calibri"/>
                <a:sym typeface="Calibri"/>
              </a:rPr>
              <a:t>Source</a:t>
            </a:r>
            <a:endParaRPr b="0" sz="1200" u="none" strike="noStrike">
              <a:solidFill>
                <a:srgbClr val="000000"/>
              </a:solidFill>
              <a:latin typeface="Arial"/>
              <a:ea typeface="Arial"/>
              <a:cs typeface="Arial"/>
              <a:sym typeface="Arial"/>
            </a:endParaRPr>
          </a:p>
        </p:txBody>
      </p:sp>
      <p:sp>
        <p:nvSpPr>
          <p:cNvPr id="279" name="Google Shape;279;p12"/>
          <p:cNvSpPr/>
          <p:nvPr/>
        </p:nvSpPr>
        <p:spPr>
          <a:xfrm>
            <a:off x="9592200" y="1920240"/>
            <a:ext cx="1974600" cy="456840"/>
          </a:xfrm>
          <a:prstGeom prst="rect">
            <a:avLst/>
          </a:prstGeom>
          <a:solidFill>
            <a:srgbClr val="0B2E4A"/>
          </a:solidFill>
          <a:ln cap="flat" cmpd="sng" w="12700">
            <a:solidFill>
              <a:srgbClr val="FFFFFF"/>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80" name="Google Shape;280;p12"/>
          <p:cNvSpPr/>
          <p:nvPr/>
        </p:nvSpPr>
        <p:spPr>
          <a:xfrm>
            <a:off x="9701640" y="2011680"/>
            <a:ext cx="1755360" cy="3106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n-US" sz="1200" u="none" strike="noStrike">
                <a:solidFill>
                  <a:srgbClr val="FFFFFF"/>
                </a:solidFill>
                <a:latin typeface="Calibri"/>
                <a:ea typeface="Calibri"/>
                <a:cs typeface="Calibri"/>
                <a:sym typeface="Calibri"/>
              </a:rPr>
              <a:t>Notes</a:t>
            </a:r>
            <a:endParaRPr b="0" sz="1200" u="none" strike="noStrike">
              <a:solidFill>
                <a:srgbClr val="000000"/>
              </a:solidFill>
              <a:latin typeface="Arial"/>
              <a:ea typeface="Arial"/>
              <a:cs typeface="Arial"/>
              <a:sym typeface="Arial"/>
            </a:endParaRPr>
          </a:p>
        </p:txBody>
      </p:sp>
      <p:sp>
        <p:nvSpPr>
          <p:cNvPr id="281" name="Google Shape;281;p12"/>
          <p:cNvSpPr/>
          <p:nvPr/>
        </p:nvSpPr>
        <p:spPr>
          <a:xfrm>
            <a:off x="594360" y="2377440"/>
            <a:ext cx="3949920" cy="76788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Domain Hosting</a:t>
            </a:r>
            <a:endParaRPr sz="1800">
              <a:solidFill>
                <a:schemeClr val="dk1"/>
              </a:solidFill>
              <a:latin typeface="Calibri"/>
              <a:ea typeface="Calibri"/>
              <a:cs typeface="Calibri"/>
              <a:sym typeface="Calibri"/>
            </a:endParaRPr>
          </a:p>
        </p:txBody>
      </p:sp>
      <p:sp>
        <p:nvSpPr>
          <p:cNvPr id="282" name="Google Shape;282;p12"/>
          <p:cNvSpPr/>
          <p:nvPr/>
        </p:nvSpPr>
        <p:spPr>
          <a:xfrm>
            <a:off x="4544640" y="2377440"/>
            <a:ext cx="1535760" cy="76788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283" name="Google Shape;283;p12"/>
          <p:cNvSpPr/>
          <p:nvPr/>
        </p:nvSpPr>
        <p:spPr>
          <a:xfrm>
            <a:off x="6080760" y="2377440"/>
            <a:ext cx="1535760" cy="76788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Free</a:t>
            </a:r>
            <a:endParaRPr sz="1800">
              <a:solidFill>
                <a:schemeClr val="dk1"/>
              </a:solidFill>
              <a:latin typeface="Calibri"/>
              <a:ea typeface="Calibri"/>
              <a:cs typeface="Calibri"/>
              <a:sym typeface="Calibri"/>
            </a:endParaRPr>
          </a:p>
        </p:txBody>
      </p:sp>
      <p:sp>
        <p:nvSpPr>
          <p:cNvPr id="284" name="Google Shape;284;p12"/>
          <p:cNvSpPr/>
          <p:nvPr/>
        </p:nvSpPr>
        <p:spPr>
          <a:xfrm>
            <a:off x="7616880" y="2377440"/>
            <a:ext cx="1974600" cy="76788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GitHub Pages</a:t>
            </a:r>
            <a:endParaRPr b="0" sz="1800" u="none" strike="noStrike">
              <a:solidFill>
                <a:srgbClr val="000000"/>
              </a:solidFill>
              <a:latin typeface="Arial"/>
              <a:ea typeface="Arial"/>
              <a:cs typeface="Arial"/>
              <a:sym typeface="Arial"/>
            </a:endParaRPr>
          </a:p>
        </p:txBody>
      </p:sp>
      <p:sp>
        <p:nvSpPr>
          <p:cNvPr id="285" name="Google Shape;285;p12"/>
          <p:cNvSpPr/>
          <p:nvPr/>
        </p:nvSpPr>
        <p:spPr>
          <a:xfrm>
            <a:off x="9592200" y="2377440"/>
            <a:ext cx="1974600" cy="76788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ctr">
              <a:spcBef>
                <a:spcPts val="0"/>
              </a:spcBef>
              <a:spcAft>
                <a:spcPts val="0"/>
              </a:spcAft>
              <a:buNone/>
            </a:pPr>
            <a:r>
              <a:rPr lang="en-US" sz="1600">
                <a:solidFill>
                  <a:srgbClr val="000000"/>
                </a:solidFill>
                <a:latin typeface="Calibri"/>
                <a:ea typeface="Calibri"/>
                <a:cs typeface="Calibri"/>
                <a:sym typeface="Calibri"/>
              </a:rPr>
              <a:t>Used for</a:t>
            </a:r>
            <a:endParaRPr/>
          </a:p>
          <a:p>
            <a:pPr indent="0" lvl="0" marL="0" marR="0" rtl="0" algn="ctr">
              <a:spcBef>
                <a:spcPts val="0"/>
              </a:spcBef>
              <a:spcAft>
                <a:spcPts val="0"/>
              </a:spcAft>
              <a:buNone/>
            </a:pPr>
            <a:r>
              <a:rPr lang="en-US" sz="1600">
                <a:solidFill>
                  <a:srgbClr val="000000"/>
                </a:solidFill>
                <a:latin typeface="Calibri"/>
                <a:ea typeface="Calibri"/>
                <a:cs typeface="Calibri"/>
                <a:sym typeface="Calibri"/>
              </a:rPr>
              <a:t>Development</a:t>
            </a:r>
            <a:endParaRPr/>
          </a:p>
          <a:p>
            <a:pPr indent="0" lvl="0" marL="0" marR="0" rtl="0" algn="ctr">
              <a:spcBef>
                <a:spcPts val="0"/>
              </a:spcBef>
              <a:spcAft>
                <a:spcPts val="0"/>
              </a:spcAft>
              <a:buNone/>
            </a:pPr>
            <a:r>
              <a:rPr lang="en-US" sz="1600">
                <a:solidFill>
                  <a:srgbClr val="000000"/>
                </a:solidFill>
                <a:latin typeface="Calibri"/>
                <a:ea typeface="Calibri"/>
                <a:cs typeface="Calibri"/>
                <a:sym typeface="Calibri"/>
              </a:rPr>
              <a:t> &amp; testing</a:t>
            </a:r>
            <a:endParaRPr sz="1600">
              <a:solidFill>
                <a:schemeClr val="dk1"/>
              </a:solidFill>
              <a:latin typeface="Calibri"/>
              <a:ea typeface="Calibri"/>
              <a:cs typeface="Calibri"/>
              <a:sym typeface="Calibri"/>
            </a:endParaRPr>
          </a:p>
        </p:txBody>
      </p:sp>
      <p:sp>
        <p:nvSpPr>
          <p:cNvPr id="286" name="Google Shape;286;p12"/>
          <p:cNvSpPr/>
          <p:nvPr/>
        </p:nvSpPr>
        <p:spPr>
          <a:xfrm>
            <a:off x="594360" y="3145680"/>
            <a:ext cx="3949920" cy="76788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Firebase DB</a:t>
            </a:r>
            <a:endParaRPr sz="1800">
              <a:solidFill>
                <a:schemeClr val="dk1"/>
              </a:solidFill>
              <a:latin typeface="Calibri"/>
              <a:ea typeface="Calibri"/>
              <a:cs typeface="Calibri"/>
              <a:sym typeface="Calibri"/>
            </a:endParaRPr>
          </a:p>
        </p:txBody>
      </p:sp>
      <p:sp>
        <p:nvSpPr>
          <p:cNvPr id="287" name="Google Shape;287;p12"/>
          <p:cNvSpPr/>
          <p:nvPr/>
        </p:nvSpPr>
        <p:spPr>
          <a:xfrm>
            <a:off x="4544640" y="3145680"/>
            <a:ext cx="1535760" cy="76788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288" name="Google Shape;288;p12"/>
          <p:cNvSpPr/>
          <p:nvPr/>
        </p:nvSpPr>
        <p:spPr>
          <a:xfrm>
            <a:off x="6080760" y="3145680"/>
            <a:ext cx="1535760" cy="76788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Free Tier</a:t>
            </a:r>
            <a:endParaRPr sz="1800">
              <a:solidFill>
                <a:schemeClr val="dk1"/>
              </a:solidFill>
              <a:latin typeface="Calibri"/>
              <a:ea typeface="Calibri"/>
              <a:cs typeface="Calibri"/>
              <a:sym typeface="Calibri"/>
            </a:endParaRPr>
          </a:p>
        </p:txBody>
      </p:sp>
      <p:sp>
        <p:nvSpPr>
          <p:cNvPr id="289" name="Google Shape;289;p12"/>
          <p:cNvSpPr/>
          <p:nvPr/>
        </p:nvSpPr>
        <p:spPr>
          <a:xfrm>
            <a:off x="7616880" y="3145680"/>
            <a:ext cx="1974600" cy="76788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Google</a:t>
            </a:r>
            <a:endParaRPr sz="1800">
              <a:solidFill>
                <a:schemeClr val="dk1"/>
              </a:solidFill>
              <a:latin typeface="Calibri"/>
              <a:ea typeface="Calibri"/>
              <a:cs typeface="Calibri"/>
              <a:sym typeface="Calibri"/>
            </a:endParaRPr>
          </a:p>
        </p:txBody>
      </p:sp>
      <p:sp>
        <p:nvSpPr>
          <p:cNvPr id="290" name="Google Shape;290;p12"/>
          <p:cNvSpPr/>
          <p:nvPr/>
        </p:nvSpPr>
        <p:spPr>
          <a:xfrm>
            <a:off x="9592200" y="3145680"/>
            <a:ext cx="1974600" cy="76788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UI development</a:t>
            </a:r>
            <a:endParaRPr sz="1800">
              <a:solidFill>
                <a:schemeClr val="dk1"/>
              </a:solidFill>
              <a:latin typeface="Calibri"/>
              <a:ea typeface="Calibri"/>
              <a:cs typeface="Calibri"/>
              <a:sym typeface="Calibri"/>
            </a:endParaRPr>
          </a:p>
        </p:txBody>
      </p:sp>
      <p:sp>
        <p:nvSpPr>
          <p:cNvPr id="291" name="Google Shape;291;p12"/>
          <p:cNvSpPr/>
          <p:nvPr/>
        </p:nvSpPr>
        <p:spPr>
          <a:xfrm>
            <a:off x="594360" y="3913560"/>
            <a:ext cx="3949920" cy="76788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UI Tools</a:t>
            </a:r>
            <a:endParaRPr sz="1800">
              <a:solidFill>
                <a:schemeClr val="dk1"/>
              </a:solidFill>
              <a:latin typeface="Calibri"/>
              <a:ea typeface="Calibri"/>
              <a:cs typeface="Calibri"/>
              <a:sym typeface="Calibri"/>
            </a:endParaRPr>
          </a:p>
        </p:txBody>
      </p:sp>
      <p:sp>
        <p:nvSpPr>
          <p:cNvPr id="292" name="Google Shape;292;p12"/>
          <p:cNvSpPr/>
          <p:nvPr/>
        </p:nvSpPr>
        <p:spPr>
          <a:xfrm>
            <a:off x="4544640" y="3913560"/>
            <a:ext cx="1535760" cy="76788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a:t>
            </a:r>
            <a:endParaRPr b="0" sz="1800" u="none" strike="noStrike">
              <a:solidFill>
                <a:srgbClr val="000000"/>
              </a:solidFill>
              <a:latin typeface="Arial"/>
              <a:ea typeface="Arial"/>
              <a:cs typeface="Arial"/>
              <a:sym typeface="Arial"/>
            </a:endParaRPr>
          </a:p>
        </p:txBody>
      </p:sp>
      <p:sp>
        <p:nvSpPr>
          <p:cNvPr id="293" name="Google Shape;293;p12"/>
          <p:cNvSpPr/>
          <p:nvPr/>
        </p:nvSpPr>
        <p:spPr>
          <a:xfrm>
            <a:off x="6080760" y="3913560"/>
            <a:ext cx="1535760" cy="76788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Free</a:t>
            </a:r>
            <a:endParaRPr/>
          </a:p>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94" name="Google Shape;294;p12"/>
          <p:cNvSpPr/>
          <p:nvPr/>
        </p:nvSpPr>
        <p:spPr>
          <a:xfrm>
            <a:off x="7616880" y="3913560"/>
            <a:ext cx="1974600" cy="76788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Figma</a:t>
            </a:r>
            <a:endParaRPr/>
          </a:p>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95" name="Google Shape;295;p12"/>
          <p:cNvSpPr/>
          <p:nvPr/>
        </p:nvSpPr>
        <p:spPr>
          <a:xfrm>
            <a:off x="9592200" y="3913560"/>
            <a:ext cx="1974600" cy="76788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Development </a:t>
            </a:r>
            <a:endParaRPr b="0" sz="1800" u="none" strike="noStrike">
              <a:solidFill>
                <a:srgbClr val="000000"/>
              </a:solidFill>
              <a:latin typeface="Arial"/>
              <a:ea typeface="Arial"/>
              <a:cs typeface="Arial"/>
              <a:sym typeface="Arial"/>
            </a:endParaRPr>
          </a:p>
        </p:txBody>
      </p:sp>
      <p:sp>
        <p:nvSpPr>
          <p:cNvPr id="296" name="Google Shape;296;p12"/>
          <p:cNvSpPr/>
          <p:nvPr/>
        </p:nvSpPr>
        <p:spPr>
          <a:xfrm>
            <a:off x="594360" y="4681800"/>
            <a:ext cx="3949920" cy="76788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Dealer Data</a:t>
            </a:r>
            <a:endParaRPr sz="1800">
              <a:solidFill>
                <a:schemeClr val="dk1"/>
              </a:solidFill>
              <a:latin typeface="Calibri"/>
              <a:ea typeface="Calibri"/>
              <a:cs typeface="Calibri"/>
              <a:sym typeface="Calibri"/>
            </a:endParaRPr>
          </a:p>
        </p:txBody>
      </p:sp>
      <p:sp>
        <p:nvSpPr>
          <p:cNvPr id="297" name="Google Shape;297;p12"/>
          <p:cNvSpPr/>
          <p:nvPr/>
        </p:nvSpPr>
        <p:spPr>
          <a:xfrm>
            <a:off x="4544640" y="4681800"/>
            <a:ext cx="1535760" cy="76788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5</a:t>
            </a:r>
            <a:endParaRPr b="0" sz="1800" u="none" strike="noStrike">
              <a:solidFill>
                <a:srgbClr val="000000"/>
              </a:solidFill>
              <a:latin typeface="Arial"/>
              <a:ea typeface="Arial"/>
              <a:cs typeface="Arial"/>
              <a:sym typeface="Arial"/>
            </a:endParaRPr>
          </a:p>
        </p:txBody>
      </p:sp>
      <p:sp>
        <p:nvSpPr>
          <p:cNvPr id="298" name="Google Shape;298;p12"/>
          <p:cNvSpPr/>
          <p:nvPr/>
        </p:nvSpPr>
        <p:spPr>
          <a:xfrm>
            <a:off x="6080760" y="4681800"/>
            <a:ext cx="1535760" cy="76788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NIL</a:t>
            </a:r>
            <a:endParaRPr/>
          </a:p>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99" name="Google Shape;299;p12"/>
          <p:cNvSpPr/>
          <p:nvPr/>
        </p:nvSpPr>
        <p:spPr>
          <a:xfrm>
            <a:off x="7616880" y="4681800"/>
            <a:ext cx="1974600" cy="76788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Partnered</a:t>
            </a:r>
            <a:endParaRPr sz="1800">
              <a:solidFill>
                <a:schemeClr val="dk1"/>
              </a:solidFill>
              <a:latin typeface="Calibri"/>
              <a:ea typeface="Calibri"/>
              <a:cs typeface="Calibri"/>
              <a:sym typeface="Calibri"/>
            </a:endParaRPr>
          </a:p>
        </p:txBody>
      </p:sp>
      <p:sp>
        <p:nvSpPr>
          <p:cNvPr id="300" name="Google Shape;300;p12"/>
          <p:cNvSpPr/>
          <p:nvPr/>
        </p:nvSpPr>
        <p:spPr>
          <a:xfrm>
            <a:off x="9592200" y="4681800"/>
            <a:ext cx="1974600" cy="76788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Given</a:t>
            </a:r>
            <a:endParaRPr/>
          </a:p>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01" name="Google Shape;301;p12"/>
          <p:cNvSpPr/>
          <p:nvPr/>
        </p:nvSpPr>
        <p:spPr>
          <a:xfrm>
            <a:off x="594360" y="6126480"/>
            <a:ext cx="10972440" cy="383760"/>
          </a:xfrm>
          <a:prstGeom prst="roundRect">
            <a:avLst>
              <a:gd fmla="val 16667" name="adj"/>
            </a:avLst>
          </a:prstGeom>
          <a:solidFill>
            <a:srgbClr val="F0FDF4"/>
          </a:solidFill>
          <a:ln cap="flat" cmpd="sng" w="12700">
            <a:solidFill>
              <a:srgbClr val="BBF7D0"/>
            </a:solidFill>
            <a:prstDash val="solid"/>
            <a:round/>
            <a:headEnd len="sm" w="sm" type="none"/>
            <a:tailEnd len="sm" w="sm" type="none"/>
          </a:ln>
          <a:effectLst>
            <a:outerShdw blurRad="28080" rotWithShape="0" algn="bl" dir="2700000" dist="19855">
              <a:srgbClr val="000000">
                <a:alpha val="15686"/>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02" name="Google Shape;302;p12"/>
          <p:cNvSpPr/>
          <p:nvPr/>
        </p:nvSpPr>
        <p:spPr>
          <a:xfrm>
            <a:off x="740700" y="6203914"/>
            <a:ext cx="10460520" cy="3196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600" u="none" strike="noStrike">
                <a:solidFill>
                  <a:srgbClr val="111827"/>
                </a:solidFill>
                <a:latin typeface="Calibri"/>
                <a:ea typeface="Calibri"/>
                <a:cs typeface="Calibri"/>
                <a:sym typeface="Calibri"/>
              </a:rPr>
              <a:t>Budget tip</a:t>
            </a:r>
            <a:endParaRPr b="0" sz="1600" u="none" strike="noStrike">
              <a:solidFill>
                <a:srgbClr val="000000"/>
              </a:solidFill>
              <a:latin typeface="Arial"/>
              <a:ea typeface="Arial"/>
              <a:cs typeface="Arial"/>
              <a:sym typeface="Arial"/>
            </a:endParaRPr>
          </a:p>
        </p:txBody>
      </p:sp>
      <p:sp>
        <p:nvSpPr>
          <p:cNvPr id="303" name="Google Shape;303;p12"/>
          <p:cNvSpPr/>
          <p:nvPr/>
        </p:nvSpPr>
        <p:spPr>
          <a:xfrm>
            <a:off x="1872342" y="6144840"/>
            <a:ext cx="9568363" cy="442543"/>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Team-funded prototype: use student credits (AWS/GCP etc.) + provided platforms (ByteXL/Nimbus, Gemini); minimal must-have spend via friends &amp; family. You should target funds from investors or end users based on the affordable prototype that you build now. </a:t>
            </a:r>
            <a:endParaRPr sz="1100">
              <a:solidFill>
                <a:schemeClr val="dk1"/>
              </a:solidFill>
              <a:latin typeface="Calibri"/>
              <a:ea typeface="Calibri"/>
              <a:cs typeface="Calibri"/>
              <a:sym typeface="Calibri"/>
            </a:endParaRPr>
          </a:p>
        </p:txBody>
      </p:sp>
      <p:sp>
        <p:nvSpPr>
          <p:cNvPr id="304" name="Google Shape;304;p12"/>
          <p:cNvSpPr/>
          <p:nvPr/>
        </p:nvSpPr>
        <p:spPr>
          <a:xfrm>
            <a:off x="0" y="6565320"/>
            <a:ext cx="12191400" cy="29232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05" name="Google Shape;305;p12"/>
          <p:cNvSpPr/>
          <p:nvPr/>
        </p:nvSpPr>
        <p:spPr>
          <a:xfrm>
            <a:off x="594360" y="6620400"/>
            <a:ext cx="11002680" cy="200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000" u="none" strike="noStrike">
                <a:solidFill>
                  <a:srgbClr val="6B7280"/>
                </a:solidFill>
                <a:latin typeface="Calibri"/>
                <a:ea typeface="Calibri"/>
                <a:cs typeface="Calibri"/>
                <a:sym typeface="Calibri"/>
              </a:rPr>
              <a:t>SoI Prototype Stage — Submission Deck</a:t>
            </a:r>
            <a:endParaRPr b="0" sz="1000" u="none" strike="noStrike">
              <a:solidFill>
                <a:srgbClr val="000000"/>
              </a:solidFill>
              <a:latin typeface="Arial"/>
              <a:ea typeface="Arial"/>
              <a:cs typeface="Arial"/>
              <a:sym typeface="Arial"/>
            </a:endParaRPr>
          </a:p>
        </p:txBody>
      </p:sp>
      <p:sp>
        <p:nvSpPr>
          <p:cNvPr id="306" name="Google Shape;306;p12"/>
          <p:cNvSpPr/>
          <p:nvPr/>
        </p:nvSpPr>
        <p:spPr>
          <a:xfrm>
            <a:off x="10831286" y="6620400"/>
            <a:ext cx="765754" cy="250954"/>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15/23</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13"/>
          <p:cNvSpPr/>
          <p:nvPr/>
        </p:nvSpPr>
        <p:spPr>
          <a:xfrm>
            <a:off x="0" y="0"/>
            <a:ext cx="12191400" cy="566640"/>
          </a:xfrm>
          <a:prstGeom prst="rect">
            <a:avLst/>
          </a:prstGeom>
          <a:solidFill>
            <a:srgbClr val="0B2E4A"/>
          </a:solidFill>
          <a:ln cap="flat" cmpd="sng" w="12700">
            <a:solidFill>
              <a:srgbClr val="0B2E4A"/>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13" name="Google Shape;313;p13"/>
          <p:cNvSpPr/>
          <p:nvPr/>
        </p:nvSpPr>
        <p:spPr>
          <a:xfrm>
            <a:off x="0" y="0"/>
            <a:ext cx="145800" cy="566640"/>
          </a:xfrm>
          <a:prstGeom prst="rect">
            <a:avLst/>
          </a:prstGeom>
          <a:solidFill>
            <a:srgbClr val="2F6FB3"/>
          </a:solidFill>
          <a:ln cap="flat" cmpd="sng" w="12700">
            <a:solidFill>
              <a:srgbClr val="2F6FB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14" name="Google Shape;314;p13"/>
          <p:cNvSpPr/>
          <p:nvPr/>
        </p:nvSpPr>
        <p:spPr>
          <a:xfrm>
            <a:off x="594360" y="109800"/>
            <a:ext cx="11002680" cy="319680"/>
          </a:xfrm>
          <a:prstGeom prst="rect">
            <a:avLst/>
          </a:prstGeom>
          <a:noFill/>
          <a:ln>
            <a:noFill/>
          </a:ln>
        </p:spPr>
        <p:txBody>
          <a:bodyPr anchorCtr="0" anchor="ctr" bIns="45000" lIns="90000" spcFirstLastPara="1" rIns="90000" wrap="square" tIns="45000">
            <a:noAutofit/>
          </a:bodyPr>
          <a:lstStyle/>
          <a:p>
            <a:pPr indent="0" lvl="0" marL="0" marR="0" rtl="0" algn="r">
              <a:lnSpc>
                <a:spcPct val="100000"/>
              </a:lnSpc>
              <a:spcBef>
                <a:spcPts val="0"/>
              </a:spcBef>
              <a:spcAft>
                <a:spcPts val="0"/>
              </a:spcAft>
              <a:buNone/>
            </a:pPr>
            <a:r>
              <a:rPr b="1" lang="en-US" sz="1400" u="none" strike="noStrike">
                <a:solidFill>
                  <a:srgbClr val="FFFFFF"/>
                </a:solidFill>
                <a:latin typeface="Calibri"/>
                <a:ea typeface="Calibri"/>
                <a:cs typeface="Calibri"/>
                <a:sym typeface="Calibri"/>
              </a:rPr>
              <a:t>SoI Innovation Pipeline</a:t>
            </a:r>
            <a:endParaRPr b="0" sz="1400" u="none" strike="noStrike">
              <a:solidFill>
                <a:srgbClr val="000000"/>
              </a:solidFill>
              <a:latin typeface="Arial"/>
              <a:ea typeface="Arial"/>
              <a:cs typeface="Arial"/>
              <a:sym typeface="Arial"/>
            </a:endParaRPr>
          </a:p>
        </p:txBody>
      </p:sp>
      <p:sp>
        <p:nvSpPr>
          <p:cNvPr id="315" name="Google Shape;315;p13"/>
          <p:cNvSpPr/>
          <p:nvPr/>
        </p:nvSpPr>
        <p:spPr>
          <a:xfrm>
            <a:off x="594360" y="658440"/>
            <a:ext cx="1919880" cy="292320"/>
          </a:xfrm>
          <a:prstGeom prst="roundRect">
            <a:avLst>
              <a:gd fmla="val 16667" name="adj"/>
            </a:avLst>
          </a:prstGeom>
          <a:solidFill>
            <a:srgbClr val="2F6FB3"/>
          </a:solidFill>
          <a:ln cap="flat" cmpd="sng" w="12700">
            <a:solidFill>
              <a:srgbClr val="2F6FB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16" name="Google Shape;316;p13"/>
          <p:cNvSpPr/>
          <p:nvPr/>
        </p:nvSpPr>
        <p:spPr>
          <a:xfrm>
            <a:off x="594360" y="704160"/>
            <a:ext cx="1919880" cy="2008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200" u="none" strike="noStrike">
                <a:solidFill>
                  <a:srgbClr val="FFFFFF"/>
                </a:solidFill>
                <a:latin typeface="Calibri"/>
                <a:ea typeface="Calibri"/>
                <a:cs typeface="Calibri"/>
                <a:sym typeface="Calibri"/>
              </a:rPr>
              <a:t>VALIDATE</a:t>
            </a:r>
            <a:endParaRPr b="0" sz="1200" u="none" strike="noStrike">
              <a:solidFill>
                <a:srgbClr val="000000"/>
              </a:solidFill>
              <a:latin typeface="Arial"/>
              <a:ea typeface="Arial"/>
              <a:cs typeface="Arial"/>
              <a:sym typeface="Arial"/>
            </a:endParaRPr>
          </a:p>
        </p:txBody>
      </p:sp>
      <p:sp>
        <p:nvSpPr>
          <p:cNvPr id="317" name="Google Shape;317;p13"/>
          <p:cNvSpPr/>
          <p:nvPr/>
        </p:nvSpPr>
        <p:spPr>
          <a:xfrm>
            <a:off x="594360" y="822960"/>
            <a:ext cx="11002680" cy="5482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3200" u="none" strike="noStrike">
                <a:solidFill>
                  <a:srgbClr val="111827"/>
                </a:solidFill>
                <a:latin typeface="Calibri"/>
                <a:ea typeface="Calibri"/>
                <a:cs typeface="Calibri"/>
                <a:sym typeface="Calibri"/>
              </a:rPr>
              <a:t>Prototype Demo &amp; Validation Plan</a:t>
            </a:r>
            <a:endParaRPr b="0" sz="3200" u="none" strike="noStrike">
              <a:solidFill>
                <a:srgbClr val="000000"/>
              </a:solidFill>
              <a:latin typeface="Arial"/>
              <a:ea typeface="Arial"/>
              <a:cs typeface="Arial"/>
              <a:sym typeface="Arial"/>
            </a:endParaRPr>
          </a:p>
        </p:txBody>
      </p:sp>
      <p:sp>
        <p:nvSpPr>
          <p:cNvPr id="318" name="Google Shape;318;p13"/>
          <p:cNvSpPr/>
          <p:nvPr/>
        </p:nvSpPr>
        <p:spPr>
          <a:xfrm>
            <a:off x="594360" y="1417320"/>
            <a:ext cx="11002680" cy="3654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600" u="none" strike="noStrike">
                <a:solidFill>
                  <a:srgbClr val="4B5563"/>
                </a:solidFill>
                <a:latin typeface="Calibri"/>
                <a:ea typeface="Calibri"/>
                <a:cs typeface="Calibri"/>
                <a:sym typeface="Calibri"/>
              </a:rPr>
              <a:t>What you will show, how you will test, and what evidence you will capture.</a:t>
            </a:r>
            <a:endParaRPr b="0" sz="1600" u="none" strike="noStrike">
              <a:solidFill>
                <a:srgbClr val="000000"/>
              </a:solidFill>
              <a:latin typeface="Arial"/>
              <a:ea typeface="Arial"/>
              <a:cs typeface="Arial"/>
              <a:sym typeface="Arial"/>
            </a:endParaRPr>
          </a:p>
        </p:txBody>
      </p:sp>
      <p:sp>
        <p:nvSpPr>
          <p:cNvPr id="319" name="Google Shape;319;p13"/>
          <p:cNvSpPr/>
          <p:nvPr/>
        </p:nvSpPr>
        <p:spPr>
          <a:xfrm>
            <a:off x="594360" y="1874520"/>
            <a:ext cx="5668920" cy="4525920"/>
          </a:xfrm>
          <a:prstGeom prst="roundRect">
            <a:avLst>
              <a:gd fmla="val 16667" name="adj"/>
            </a:avLst>
          </a:prstGeom>
          <a:solidFill>
            <a:srgbClr val="FFFFFF"/>
          </a:solidFill>
          <a:ln cap="flat" cmpd="sng" w="12700">
            <a:solidFill>
              <a:srgbClr val="E5E7EB"/>
            </a:solidFill>
            <a:prstDash val="solid"/>
            <a:round/>
            <a:headEnd len="sm" w="sm" type="none"/>
            <a:tailEnd len="sm" w="sm" type="none"/>
          </a:ln>
          <a:effectLst>
            <a:outerShdw blurRad="28080" rotWithShape="0" algn="bl" dir="2700000" dist="19855">
              <a:srgbClr val="000000">
                <a:alpha val="15686"/>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20" name="Google Shape;320;p13"/>
          <p:cNvSpPr/>
          <p:nvPr/>
        </p:nvSpPr>
        <p:spPr>
          <a:xfrm>
            <a:off x="850320" y="2039040"/>
            <a:ext cx="5157000" cy="3196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600" u="none" strike="noStrike">
                <a:solidFill>
                  <a:srgbClr val="111827"/>
                </a:solidFill>
                <a:latin typeface="Calibri"/>
                <a:ea typeface="Calibri"/>
                <a:cs typeface="Calibri"/>
                <a:sym typeface="Calibri"/>
              </a:rPr>
              <a:t>Demo scenario (fill)</a:t>
            </a:r>
            <a:endParaRPr b="0" sz="1600" u="none" strike="noStrike">
              <a:solidFill>
                <a:srgbClr val="000000"/>
              </a:solidFill>
              <a:latin typeface="Arial"/>
              <a:ea typeface="Arial"/>
              <a:cs typeface="Arial"/>
              <a:sym typeface="Arial"/>
            </a:endParaRPr>
          </a:p>
        </p:txBody>
      </p:sp>
      <p:sp>
        <p:nvSpPr>
          <p:cNvPr id="321" name="Google Shape;321;p13"/>
          <p:cNvSpPr/>
          <p:nvPr/>
        </p:nvSpPr>
        <p:spPr>
          <a:xfrm>
            <a:off x="850320" y="2377440"/>
            <a:ext cx="5157000" cy="3849120"/>
          </a:xfrm>
          <a:prstGeom prst="rect">
            <a:avLst/>
          </a:prstGeom>
          <a:noFill/>
          <a:ln>
            <a:noFill/>
          </a:ln>
        </p:spPr>
        <p:txBody>
          <a:bodyPr anchorCtr="0" anchor="t" bIns="45000" lIns="90000" spcFirstLastPara="1" rIns="90000" wrap="square" tIns="45000">
            <a:no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User signs up</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Opens Blueprint Module</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Completes Module</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Views Dealer Database</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Books Dealer Visit</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Receives confirmation</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Audience:</a:t>
            </a:r>
            <a:r>
              <a:rPr lang="en-US" sz="1800">
                <a:solidFill>
                  <a:schemeClr val="dk1"/>
                </a:solidFill>
                <a:latin typeface="Calibri"/>
                <a:ea typeface="Calibri"/>
                <a:cs typeface="Calibri"/>
                <a:sym typeface="Calibri"/>
              </a:rPr>
              <a:t> Mentors &amp; Judges</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 </a:t>
            </a:r>
            <a:r>
              <a:rPr b="1" lang="en-US" sz="1800">
                <a:solidFill>
                  <a:schemeClr val="dk1"/>
                </a:solidFill>
                <a:latin typeface="Calibri"/>
                <a:ea typeface="Calibri"/>
                <a:cs typeface="Calibri"/>
                <a:sym typeface="Calibri"/>
              </a:rPr>
              <a:t>Duration:</a:t>
            </a:r>
            <a:r>
              <a:rPr lang="en-US" sz="1800">
                <a:solidFill>
                  <a:schemeClr val="dk1"/>
                </a:solidFill>
                <a:latin typeface="Calibri"/>
                <a:ea typeface="Calibri"/>
                <a:cs typeface="Calibri"/>
                <a:sym typeface="Calibri"/>
              </a:rPr>
              <a:t> ≤2 min demo video</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2" name="Google Shape;322;p13"/>
          <p:cNvSpPr/>
          <p:nvPr/>
        </p:nvSpPr>
        <p:spPr>
          <a:xfrm>
            <a:off x="6537960" y="1930965"/>
            <a:ext cx="5348880" cy="4525920"/>
          </a:xfrm>
          <a:prstGeom prst="roundRect">
            <a:avLst>
              <a:gd fmla="val 16667" name="adj"/>
            </a:avLst>
          </a:prstGeom>
          <a:solidFill>
            <a:srgbClr val="FFFFFF"/>
          </a:solidFill>
          <a:ln cap="flat" cmpd="sng" w="12700">
            <a:solidFill>
              <a:srgbClr val="E5E7EB"/>
            </a:solidFill>
            <a:prstDash val="solid"/>
            <a:round/>
            <a:headEnd len="sm" w="sm" type="none"/>
            <a:tailEnd len="sm" w="sm" type="none"/>
          </a:ln>
          <a:effectLst>
            <a:outerShdw blurRad="28080" rotWithShape="0" algn="bl" dir="2700000" dist="19855">
              <a:srgbClr val="000000">
                <a:alpha val="15686"/>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a:t>
            </a:r>
            <a:r>
              <a:rPr lang="en-US" sz="1600">
                <a:solidFill>
                  <a:schemeClr val="dk1"/>
                </a:solidFill>
                <a:latin typeface="Calibri"/>
                <a:ea typeface="Calibri"/>
                <a:cs typeface="Calibri"/>
                <a:sym typeface="Calibri"/>
              </a:rPr>
              <a:t>est cases / sample size: Tested with 5–10 users performing core communication tasks.</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Environment (#runs): Web application tested on laptop browsers with 3 repeated runs.</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What you will measure: Session connection success, response time, and user completion rate.</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Pass/fail thresholds: ≥90% successful session completion with no critical errors.</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10 test users</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 Track task completion rate</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 Collect usability feedback</a:t>
            </a:r>
            <a:endParaRPr b="0" sz="1800" u="none" strike="noStrike">
              <a:solidFill>
                <a:srgbClr val="000000"/>
              </a:solidFill>
              <a:latin typeface="Arial"/>
              <a:ea typeface="Arial"/>
              <a:cs typeface="Arial"/>
              <a:sym typeface="Arial"/>
            </a:endParaRPr>
          </a:p>
        </p:txBody>
      </p:sp>
      <p:sp>
        <p:nvSpPr>
          <p:cNvPr id="323" name="Google Shape;323;p13"/>
          <p:cNvSpPr/>
          <p:nvPr/>
        </p:nvSpPr>
        <p:spPr>
          <a:xfrm>
            <a:off x="6793920" y="2039040"/>
            <a:ext cx="4836960" cy="3196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600" u="none" strike="noStrike">
                <a:solidFill>
                  <a:srgbClr val="111827"/>
                </a:solidFill>
                <a:latin typeface="Calibri"/>
                <a:ea typeface="Calibri"/>
                <a:cs typeface="Calibri"/>
                <a:sym typeface="Calibri"/>
              </a:rPr>
              <a:t>Validation protocols (fill)</a:t>
            </a:r>
            <a:endParaRPr b="0" sz="1600" u="none" strike="noStrike">
              <a:solidFill>
                <a:srgbClr val="000000"/>
              </a:solidFill>
              <a:latin typeface="Arial"/>
              <a:ea typeface="Arial"/>
              <a:cs typeface="Arial"/>
              <a:sym typeface="Arial"/>
            </a:endParaRPr>
          </a:p>
        </p:txBody>
      </p:sp>
      <p:sp>
        <p:nvSpPr>
          <p:cNvPr id="324" name="Google Shape;324;p13"/>
          <p:cNvSpPr/>
          <p:nvPr/>
        </p:nvSpPr>
        <p:spPr>
          <a:xfrm>
            <a:off x="6793920" y="2377440"/>
            <a:ext cx="4836960" cy="3849120"/>
          </a:xfrm>
          <a:prstGeom prst="rect">
            <a:avLst/>
          </a:prstGeom>
          <a:noFill/>
          <a:ln>
            <a:noFill/>
          </a:ln>
        </p:spPr>
        <p:txBody>
          <a:bodyPr anchorCtr="0" anchor="t" bIns="45000" lIns="90000" spcFirstLastPara="1" rIns="90000" wrap="square" tIns="45000">
            <a:noAutofit/>
          </a:bodyPr>
          <a:lstStyle/>
          <a:p>
            <a:pPr indent="0" lvl="0" marL="0" marR="0" rtl="0" algn="l">
              <a:lnSpc>
                <a:spcPct val="110000"/>
              </a:lnSpc>
              <a:spcBef>
                <a:spcPts val="0"/>
              </a:spcBef>
              <a:spcAft>
                <a:spcPts val="0"/>
              </a:spcAft>
              <a:buNone/>
            </a:pPr>
            <a:r>
              <a:t/>
            </a:r>
            <a:endParaRPr b="0" sz="1300" u="none" strike="noStrike">
              <a:solidFill>
                <a:srgbClr val="4B5563"/>
              </a:solidFill>
              <a:latin typeface="Calibri"/>
              <a:ea typeface="Calibri"/>
              <a:cs typeface="Calibri"/>
              <a:sym typeface="Calibri"/>
            </a:endParaRPr>
          </a:p>
        </p:txBody>
      </p:sp>
      <p:sp>
        <p:nvSpPr>
          <p:cNvPr id="325" name="Google Shape;325;p13"/>
          <p:cNvSpPr/>
          <p:nvPr/>
        </p:nvSpPr>
        <p:spPr>
          <a:xfrm>
            <a:off x="594360" y="6163200"/>
            <a:ext cx="10972440" cy="347040"/>
          </a:xfrm>
          <a:prstGeom prst="roundRect">
            <a:avLst>
              <a:gd fmla="val 16667" name="adj"/>
            </a:avLst>
          </a:prstGeom>
          <a:solidFill>
            <a:srgbClr val="FFF7ED"/>
          </a:solidFill>
          <a:ln cap="flat" cmpd="sng" w="12700">
            <a:solidFill>
              <a:srgbClr val="FED7AA"/>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26" name="Google Shape;326;p13"/>
          <p:cNvSpPr/>
          <p:nvPr/>
        </p:nvSpPr>
        <p:spPr>
          <a:xfrm>
            <a:off x="822960" y="6226920"/>
            <a:ext cx="10515240" cy="23724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200" u="none" strike="noStrike">
                <a:solidFill>
                  <a:srgbClr val="9A3412"/>
                </a:solidFill>
                <a:latin typeface="Calibri"/>
                <a:ea typeface="Calibri"/>
                <a:cs typeface="Calibri"/>
                <a:sym typeface="Calibri"/>
              </a:rPr>
              <a:t>Pre-demo checklist: reset state • charge/power • stable network / hotspots • safety • backup video/screenshots</a:t>
            </a:r>
            <a:endParaRPr b="0" sz="1200" u="none" strike="noStrike">
              <a:solidFill>
                <a:srgbClr val="000000"/>
              </a:solidFill>
              <a:latin typeface="Arial"/>
              <a:ea typeface="Arial"/>
              <a:cs typeface="Arial"/>
              <a:sym typeface="Arial"/>
            </a:endParaRPr>
          </a:p>
        </p:txBody>
      </p:sp>
      <p:sp>
        <p:nvSpPr>
          <p:cNvPr id="327" name="Google Shape;327;p13"/>
          <p:cNvSpPr/>
          <p:nvPr/>
        </p:nvSpPr>
        <p:spPr>
          <a:xfrm>
            <a:off x="0" y="6565320"/>
            <a:ext cx="12191400" cy="29232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28" name="Google Shape;328;p13"/>
          <p:cNvSpPr/>
          <p:nvPr/>
        </p:nvSpPr>
        <p:spPr>
          <a:xfrm>
            <a:off x="594360" y="6620400"/>
            <a:ext cx="11002680" cy="200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000" u="none" strike="noStrike">
                <a:solidFill>
                  <a:srgbClr val="6B7280"/>
                </a:solidFill>
                <a:latin typeface="Calibri"/>
                <a:ea typeface="Calibri"/>
                <a:cs typeface="Calibri"/>
                <a:sym typeface="Calibri"/>
              </a:rPr>
              <a:t>SoI Prototype Stage — Submission Deck</a:t>
            </a:r>
            <a:endParaRPr b="0" sz="1000" u="none" strike="noStrike">
              <a:solidFill>
                <a:srgbClr val="000000"/>
              </a:solidFill>
              <a:latin typeface="Arial"/>
              <a:ea typeface="Arial"/>
              <a:cs typeface="Arial"/>
              <a:sym typeface="Arial"/>
            </a:endParaRPr>
          </a:p>
        </p:txBody>
      </p:sp>
      <p:sp>
        <p:nvSpPr>
          <p:cNvPr id="329" name="Google Shape;329;p13"/>
          <p:cNvSpPr/>
          <p:nvPr/>
        </p:nvSpPr>
        <p:spPr>
          <a:xfrm>
            <a:off x="10863942" y="6620400"/>
            <a:ext cx="733097" cy="20088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16/23</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14"/>
          <p:cNvSpPr/>
          <p:nvPr/>
        </p:nvSpPr>
        <p:spPr>
          <a:xfrm>
            <a:off x="0" y="0"/>
            <a:ext cx="12191400" cy="566640"/>
          </a:xfrm>
          <a:prstGeom prst="rect">
            <a:avLst/>
          </a:prstGeom>
          <a:solidFill>
            <a:srgbClr val="0B2E4A"/>
          </a:solidFill>
          <a:ln cap="flat" cmpd="sng" w="12700">
            <a:solidFill>
              <a:srgbClr val="0B2E4A"/>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36" name="Google Shape;336;p14"/>
          <p:cNvSpPr/>
          <p:nvPr/>
        </p:nvSpPr>
        <p:spPr>
          <a:xfrm>
            <a:off x="0" y="0"/>
            <a:ext cx="145800" cy="566640"/>
          </a:xfrm>
          <a:prstGeom prst="rect">
            <a:avLst/>
          </a:prstGeom>
          <a:solidFill>
            <a:srgbClr val="2F6FB3"/>
          </a:solidFill>
          <a:ln cap="flat" cmpd="sng" w="12700">
            <a:solidFill>
              <a:srgbClr val="2F6FB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37" name="Google Shape;337;p14"/>
          <p:cNvSpPr/>
          <p:nvPr/>
        </p:nvSpPr>
        <p:spPr>
          <a:xfrm>
            <a:off x="594360" y="109800"/>
            <a:ext cx="11002680" cy="319680"/>
          </a:xfrm>
          <a:prstGeom prst="rect">
            <a:avLst/>
          </a:prstGeom>
          <a:noFill/>
          <a:ln>
            <a:noFill/>
          </a:ln>
        </p:spPr>
        <p:txBody>
          <a:bodyPr anchorCtr="0" anchor="ctr" bIns="45000" lIns="90000" spcFirstLastPara="1" rIns="90000" wrap="square" tIns="45000">
            <a:noAutofit/>
          </a:bodyPr>
          <a:lstStyle/>
          <a:p>
            <a:pPr indent="0" lvl="0" marL="0" marR="0" rtl="0" algn="r">
              <a:lnSpc>
                <a:spcPct val="100000"/>
              </a:lnSpc>
              <a:spcBef>
                <a:spcPts val="0"/>
              </a:spcBef>
              <a:spcAft>
                <a:spcPts val="0"/>
              </a:spcAft>
              <a:buNone/>
            </a:pPr>
            <a:r>
              <a:rPr b="1" lang="en-US" sz="1400" u="none" strike="noStrike">
                <a:solidFill>
                  <a:srgbClr val="FFFFFF"/>
                </a:solidFill>
                <a:latin typeface="Calibri"/>
                <a:ea typeface="Calibri"/>
                <a:cs typeface="Calibri"/>
                <a:sym typeface="Calibri"/>
              </a:rPr>
              <a:t>SoI Innovation Pipeline</a:t>
            </a:r>
            <a:endParaRPr b="0" sz="1400" u="none" strike="noStrike">
              <a:solidFill>
                <a:srgbClr val="000000"/>
              </a:solidFill>
              <a:latin typeface="Arial"/>
              <a:ea typeface="Arial"/>
              <a:cs typeface="Arial"/>
              <a:sym typeface="Arial"/>
            </a:endParaRPr>
          </a:p>
        </p:txBody>
      </p:sp>
      <p:sp>
        <p:nvSpPr>
          <p:cNvPr id="338" name="Google Shape;338;p14"/>
          <p:cNvSpPr/>
          <p:nvPr/>
        </p:nvSpPr>
        <p:spPr>
          <a:xfrm>
            <a:off x="594360" y="658440"/>
            <a:ext cx="1919880" cy="292320"/>
          </a:xfrm>
          <a:prstGeom prst="roundRect">
            <a:avLst>
              <a:gd fmla="val 16667" name="adj"/>
            </a:avLst>
          </a:prstGeom>
          <a:solidFill>
            <a:srgbClr val="2F6FB3"/>
          </a:solidFill>
          <a:ln cap="flat" cmpd="sng" w="12700">
            <a:solidFill>
              <a:srgbClr val="2F6FB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39" name="Google Shape;339;p14"/>
          <p:cNvSpPr/>
          <p:nvPr/>
        </p:nvSpPr>
        <p:spPr>
          <a:xfrm>
            <a:off x="594360" y="704160"/>
            <a:ext cx="1919880" cy="2008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200" u="none" strike="noStrike">
                <a:solidFill>
                  <a:srgbClr val="FFFFFF"/>
                </a:solidFill>
                <a:latin typeface="Calibri"/>
                <a:ea typeface="Calibri"/>
                <a:cs typeface="Calibri"/>
                <a:sym typeface="Calibri"/>
              </a:rPr>
              <a:t>EVIDENCE</a:t>
            </a:r>
            <a:endParaRPr b="0" sz="1200" u="none" strike="noStrike">
              <a:solidFill>
                <a:srgbClr val="000000"/>
              </a:solidFill>
              <a:latin typeface="Arial"/>
              <a:ea typeface="Arial"/>
              <a:cs typeface="Arial"/>
              <a:sym typeface="Arial"/>
            </a:endParaRPr>
          </a:p>
        </p:txBody>
      </p:sp>
      <p:sp>
        <p:nvSpPr>
          <p:cNvPr id="340" name="Google Shape;340;p14"/>
          <p:cNvSpPr/>
          <p:nvPr/>
        </p:nvSpPr>
        <p:spPr>
          <a:xfrm>
            <a:off x="594360" y="822960"/>
            <a:ext cx="11002680" cy="5482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3200" u="none" strike="noStrike">
                <a:solidFill>
                  <a:srgbClr val="111827"/>
                </a:solidFill>
                <a:latin typeface="Calibri"/>
                <a:ea typeface="Calibri"/>
                <a:cs typeface="Calibri"/>
                <a:sym typeface="Calibri"/>
              </a:rPr>
              <a:t>Evidence — Prototype Results &amp; Iterations</a:t>
            </a:r>
            <a:endParaRPr b="0" sz="3200" u="none" strike="noStrike">
              <a:solidFill>
                <a:srgbClr val="000000"/>
              </a:solidFill>
              <a:latin typeface="Arial"/>
              <a:ea typeface="Arial"/>
              <a:cs typeface="Arial"/>
              <a:sym typeface="Arial"/>
            </a:endParaRPr>
          </a:p>
        </p:txBody>
      </p:sp>
      <p:sp>
        <p:nvSpPr>
          <p:cNvPr id="341" name="Google Shape;341;p14"/>
          <p:cNvSpPr/>
          <p:nvPr/>
        </p:nvSpPr>
        <p:spPr>
          <a:xfrm>
            <a:off x="594360" y="1417320"/>
            <a:ext cx="11002680" cy="3654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600" u="none" strike="noStrike">
                <a:solidFill>
                  <a:srgbClr val="4B5563"/>
                </a:solidFill>
                <a:latin typeface="Calibri"/>
                <a:ea typeface="Calibri"/>
                <a:cs typeface="Calibri"/>
                <a:sym typeface="Calibri"/>
              </a:rPr>
              <a:t>Show what improved from v1 → v2, with evidence.</a:t>
            </a:r>
            <a:endParaRPr b="0" sz="1600" u="none" strike="noStrike">
              <a:solidFill>
                <a:srgbClr val="000000"/>
              </a:solidFill>
              <a:latin typeface="Arial"/>
              <a:ea typeface="Arial"/>
              <a:cs typeface="Arial"/>
              <a:sym typeface="Arial"/>
            </a:endParaRPr>
          </a:p>
        </p:txBody>
      </p:sp>
      <p:sp>
        <p:nvSpPr>
          <p:cNvPr id="342" name="Google Shape;342;p14"/>
          <p:cNvSpPr/>
          <p:nvPr/>
        </p:nvSpPr>
        <p:spPr>
          <a:xfrm>
            <a:off x="594360" y="1920240"/>
            <a:ext cx="1535760" cy="456840"/>
          </a:xfrm>
          <a:prstGeom prst="rect">
            <a:avLst/>
          </a:prstGeom>
          <a:solidFill>
            <a:srgbClr val="0B2E4A"/>
          </a:solidFill>
          <a:ln cap="flat" cmpd="sng" w="12700">
            <a:solidFill>
              <a:srgbClr val="FFFFFF"/>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43" name="Google Shape;343;p14"/>
          <p:cNvSpPr/>
          <p:nvPr/>
        </p:nvSpPr>
        <p:spPr>
          <a:xfrm>
            <a:off x="704160" y="2011680"/>
            <a:ext cx="1316520" cy="3106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n-US" sz="1200" u="none" strike="noStrike">
                <a:solidFill>
                  <a:srgbClr val="FFFFFF"/>
                </a:solidFill>
                <a:latin typeface="Calibri"/>
                <a:ea typeface="Calibri"/>
                <a:cs typeface="Calibri"/>
                <a:sym typeface="Calibri"/>
              </a:rPr>
              <a:t>Version</a:t>
            </a:r>
            <a:endParaRPr b="0" sz="1200" u="none" strike="noStrike">
              <a:solidFill>
                <a:srgbClr val="000000"/>
              </a:solidFill>
              <a:latin typeface="Arial"/>
              <a:ea typeface="Arial"/>
              <a:cs typeface="Arial"/>
              <a:sym typeface="Arial"/>
            </a:endParaRPr>
          </a:p>
        </p:txBody>
      </p:sp>
      <p:sp>
        <p:nvSpPr>
          <p:cNvPr id="344" name="Google Shape;344;p14"/>
          <p:cNvSpPr/>
          <p:nvPr/>
        </p:nvSpPr>
        <p:spPr>
          <a:xfrm>
            <a:off x="2130480" y="1920240"/>
            <a:ext cx="2852640" cy="456840"/>
          </a:xfrm>
          <a:prstGeom prst="rect">
            <a:avLst/>
          </a:prstGeom>
          <a:solidFill>
            <a:srgbClr val="0B2E4A"/>
          </a:solidFill>
          <a:ln cap="flat" cmpd="sng" w="12700">
            <a:solidFill>
              <a:srgbClr val="FFFFFF"/>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45" name="Google Shape;345;p14"/>
          <p:cNvSpPr/>
          <p:nvPr/>
        </p:nvSpPr>
        <p:spPr>
          <a:xfrm>
            <a:off x="2240280" y="2011680"/>
            <a:ext cx="2633040" cy="3106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n-US" sz="1200" u="none" strike="noStrike">
                <a:solidFill>
                  <a:srgbClr val="FFFFFF"/>
                </a:solidFill>
                <a:latin typeface="Calibri"/>
                <a:ea typeface="Calibri"/>
                <a:cs typeface="Calibri"/>
                <a:sym typeface="Calibri"/>
              </a:rPr>
              <a:t>What changed</a:t>
            </a:r>
            <a:endParaRPr b="0" sz="1200" u="none" strike="noStrike">
              <a:solidFill>
                <a:srgbClr val="000000"/>
              </a:solidFill>
              <a:latin typeface="Arial"/>
              <a:ea typeface="Arial"/>
              <a:cs typeface="Arial"/>
              <a:sym typeface="Arial"/>
            </a:endParaRPr>
          </a:p>
        </p:txBody>
      </p:sp>
      <p:sp>
        <p:nvSpPr>
          <p:cNvPr id="346" name="Google Shape;346;p14"/>
          <p:cNvSpPr/>
          <p:nvPr/>
        </p:nvSpPr>
        <p:spPr>
          <a:xfrm>
            <a:off x="4983480" y="1920240"/>
            <a:ext cx="2194200" cy="456840"/>
          </a:xfrm>
          <a:prstGeom prst="rect">
            <a:avLst/>
          </a:prstGeom>
          <a:solidFill>
            <a:srgbClr val="0B2E4A"/>
          </a:solidFill>
          <a:ln cap="flat" cmpd="sng" w="12700">
            <a:solidFill>
              <a:srgbClr val="FFFFFF"/>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47" name="Google Shape;347;p14"/>
          <p:cNvSpPr/>
          <p:nvPr/>
        </p:nvSpPr>
        <p:spPr>
          <a:xfrm>
            <a:off x="5093280" y="2011680"/>
            <a:ext cx="1974600" cy="3106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n-US" sz="1200" u="none" strike="noStrike">
                <a:solidFill>
                  <a:srgbClr val="FFFFFF"/>
                </a:solidFill>
                <a:latin typeface="Calibri"/>
                <a:ea typeface="Calibri"/>
                <a:cs typeface="Calibri"/>
                <a:sym typeface="Calibri"/>
              </a:rPr>
              <a:t>Test run</a:t>
            </a:r>
            <a:endParaRPr b="0" sz="1200" u="none" strike="noStrike">
              <a:solidFill>
                <a:srgbClr val="000000"/>
              </a:solidFill>
              <a:latin typeface="Arial"/>
              <a:ea typeface="Arial"/>
              <a:cs typeface="Arial"/>
              <a:sym typeface="Arial"/>
            </a:endParaRPr>
          </a:p>
        </p:txBody>
      </p:sp>
      <p:sp>
        <p:nvSpPr>
          <p:cNvPr id="348" name="Google Shape;348;p14"/>
          <p:cNvSpPr/>
          <p:nvPr/>
        </p:nvSpPr>
        <p:spPr>
          <a:xfrm>
            <a:off x="7178040" y="1920240"/>
            <a:ext cx="2194200" cy="456840"/>
          </a:xfrm>
          <a:prstGeom prst="rect">
            <a:avLst/>
          </a:prstGeom>
          <a:solidFill>
            <a:srgbClr val="0B2E4A"/>
          </a:solidFill>
          <a:ln cap="flat" cmpd="sng" w="12700">
            <a:solidFill>
              <a:srgbClr val="FFFFFF"/>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49" name="Google Shape;349;p14"/>
          <p:cNvSpPr/>
          <p:nvPr/>
        </p:nvSpPr>
        <p:spPr>
          <a:xfrm>
            <a:off x="7287840" y="2011680"/>
            <a:ext cx="1974600" cy="3106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n-US" sz="1200" u="none" strike="noStrike">
                <a:solidFill>
                  <a:srgbClr val="FFFFFF"/>
                </a:solidFill>
                <a:latin typeface="Calibri"/>
                <a:ea typeface="Calibri"/>
                <a:cs typeface="Calibri"/>
                <a:sym typeface="Calibri"/>
              </a:rPr>
              <a:t>Result</a:t>
            </a:r>
            <a:endParaRPr b="0" sz="1200" u="none" strike="noStrike">
              <a:solidFill>
                <a:srgbClr val="000000"/>
              </a:solidFill>
              <a:latin typeface="Arial"/>
              <a:ea typeface="Arial"/>
              <a:cs typeface="Arial"/>
              <a:sym typeface="Arial"/>
            </a:endParaRPr>
          </a:p>
        </p:txBody>
      </p:sp>
      <p:sp>
        <p:nvSpPr>
          <p:cNvPr id="350" name="Google Shape;350;p14"/>
          <p:cNvSpPr/>
          <p:nvPr/>
        </p:nvSpPr>
        <p:spPr>
          <a:xfrm>
            <a:off x="9372600" y="1920240"/>
            <a:ext cx="2194200" cy="456840"/>
          </a:xfrm>
          <a:prstGeom prst="rect">
            <a:avLst/>
          </a:prstGeom>
          <a:solidFill>
            <a:srgbClr val="0B2E4A"/>
          </a:solidFill>
          <a:ln cap="flat" cmpd="sng" w="12700">
            <a:solidFill>
              <a:srgbClr val="FFFFFF"/>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51" name="Google Shape;351;p14"/>
          <p:cNvSpPr/>
          <p:nvPr/>
        </p:nvSpPr>
        <p:spPr>
          <a:xfrm>
            <a:off x="9482400" y="2011680"/>
            <a:ext cx="1974600" cy="3106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n-US" sz="1200" u="none" strike="noStrike">
                <a:solidFill>
                  <a:srgbClr val="FFFFFF"/>
                </a:solidFill>
                <a:latin typeface="Calibri"/>
                <a:ea typeface="Calibri"/>
                <a:cs typeface="Calibri"/>
                <a:sym typeface="Calibri"/>
              </a:rPr>
              <a:t>Evidence link</a:t>
            </a:r>
            <a:endParaRPr b="0" sz="1200" u="none" strike="noStrike">
              <a:solidFill>
                <a:srgbClr val="000000"/>
              </a:solidFill>
              <a:latin typeface="Arial"/>
              <a:ea typeface="Arial"/>
              <a:cs typeface="Arial"/>
              <a:sym typeface="Arial"/>
            </a:endParaRPr>
          </a:p>
        </p:txBody>
      </p:sp>
      <p:sp>
        <p:nvSpPr>
          <p:cNvPr id="352" name="Google Shape;352;p14"/>
          <p:cNvSpPr/>
          <p:nvPr/>
        </p:nvSpPr>
        <p:spPr>
          <a:xfrm>
            <a:off x="594360" y="2377440"/>
            <a:ext cx="1535760" cy="95976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v1</a:t>
            </a:r>
            <a:endParaRPr sz="1800">
              <a:solidFill>
                <a:schemeClr val="dk1"/>
              </a:solidFill>
              <a:latin typeface="Calibri"/>
              <a:ea typeface="Calibri"/>
              <a:cs typeface="Calibri"/>
              <a:sym typeface="Calibri"/>
            </a:endParaRPr>
          </a:p>
        </p:txBody>
      </p:sp>
      <p:sp>
        <p:nvSpPr>
          <p:cNvPr id="353" name="Google Shape;353;p14"/>
          <p:cNvSpPr/>
          <p:nvPr/>
        </p:nvSpPr>
        <p:spPr>
          <a:xfrm>
            <a:off x="2130480" y="2377440"/>
            <a:ext cx="2852640" cy="95976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Basic UI</a:t>
            </a:r>
            <a:endParaRPr sz="1800">
              <a:solidFill>
                <a:schemeClr val="dk1"/>
              </a:solidFill>
              <a:latin typeface="Calibri"/>
              <a:ea typeface="Calibri"/>
              <a:cs typeface="Calibri"/>
              <a:sym typeface="Calibri"/>
            </a:endParaRPr>
          </a:p>
        </p:txBody>
      </p:sp>
      <p:sp>
        <p:nvSpPr>
          <p:cNvPr id="354" name="Google Shape;354;p14"/>
          <p:cNvSpPr/>
          <p:nvPr/>
        </p:nvSpPr>
        <p:spPr>
          <a:xfrm>
            <a:off x="4983480" y="2377440"/>
            <a:ext cx="2194200" cy="95976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5" name="Google Shape;355;p14"/>
          <p:cNvSpPr/>
          <p:nvPr/>
        </p:nvSpPr>
        <p:spPr>
          <a:xfrm>
            <a:off x="7178040" y="2377440"/>
            <a:ext cx="2194200" cy="95976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Functional flow</a:t>
            </a:r>
            <a:endParaRPr sz="1800">
              <a:solidFill>
                <a:schemeClr val="dk1"/>
              </a:solidFill>
              <a:latin typeface="Calibri"/>
              <a:ea typeface="Calibri"/>
              <a:cs typeface="Calibri"/>
              <a:sym typeface="Calibri"/>
            </a:endParaRPr>
          </a:p>
        </p:txBody>
      </p:sp>
      <p:sp>
        <p:nvSpPr>
          <p:cNvPr id="356" name="Google Shape;356;p14"/>
          <p:cNvSpPr/>
          <p:nvPr/>
        </p:nvSpPr>
        <p:spPr>
          <a:xfrm>
            <a:off x="9372600" y="2377440"/>
            <a:ext cx="2194200" cy="95976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Screenshots</a:t>
            </a:r>
            <a:endParaRPr sz="1800">
              <a:solidFill>
                <a:schemeClr val="dk1"/>
              </a:solidFill>
              <a:latin typeface="Calibri"/>
              <a:ea typeface="Calibri"/>
              <a:cs typeface="Calibri"/>
              <a:sym typeface="Calibri"/>
            </a:endParaRPr>
          </a:p>
        </p:txBody>
      </p:sp>
      <p:sp>
        <p:nvSpPr>
          <p:cNvPr id="357" name="Google Shape;357;p14"/>
          <p:cNvSpPr/>
          <p:nvPr/>
        </p:nvSpPr>
        <p:spPr>
          <a:xfrm>
            <a:off x="594360" y="3337560"/>
            <a:ext cx="1535760" cy="95976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v2</a:t>
            </a:r>
            <a:endParaRPr sz="1800">
              <a:solidFill>
                <a:schemeClr val="dk1"/>
              </a:solidFill>
              <a:latin typeface="Calibri"/>
              <a:ea typeface="Calibri"/>
              <a:cs typeface="Calibri"/>
              <a:sym typeface="Calibri"/>
            </a:endParaRPr>
          </a:p>
        </p:txBody>
      </p:sp>
      <p:sp>
        <p:nvSpPr>
          <p:cNvPr id="358" name="Google Shape;358;p14"/>
          <p:cNvSpPr/>
          <p:nvPr/>
        </p:nvSpPr>
        <p:spPr>
          <a:xfrm>
            <a:off x="2130480" y="3337560"/>
            <a:ext cx="2852640" cy="95976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Added scheduling</a:t>
            </a:r>
            <a:endParaRPr/>
          </a:p>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59" name="Google Shape;359;p14"/>
          <p:cNvSpPr/>
          <p:nvPr/>
        </p:nvSpPr>
        <p:spPr>
          <a:xfrm>
            <a:off x="4983480" y="3337560"/>
            <a:ext cx="2194200" cy="95976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0" name="Google Shape;360;p14"/>
          <p:cNvSpPr/>
          <p:nvPr/>
        </p:nvSpPr>
        <p:spPr>
          <a:xfrm>
            <a:off x="7178040" y="3337560"/>
            <a:ext cx="2194200" cy="95976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Successful booking</a:t>
            </a:r>
            <a:endParaRPr sz="1800">
              <a:solidFill>
                <a:schemeClr val="dk1"/>
              </a:solidFill>
              <a:latin typeface="Calibri"/>
              <a:ea typeface="Calibri"/>
              <a:cs typeface="Calibri"/>
              <a:sym typeface="Calibri"/>
            </a:endParaRPr>
          </a:p>
        </p:txBody>
      </p:sp>
      <p:sp>
        <p:nvSpPr>
          <p:cNvPr id="361" name="Google Shape;361;p14"/>
          <p:cNvSpPr/>
          <p:nvPr/>
        </p:nvSpPr>
        <p:spPr>
          <a:xfrm>
            <a:off x="9372600" y="3337560"/>
            <a:ext cx="2194200" cy="95976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Demo video</a:t>
            </a:r>
            <a:endParaRPr sz="1800">
              <a:solidFill>
                <a:schemeClr val="dk1"/>
              </a:solidFill>
              <a:latin typeface="Calibri"/>
              <a:ea typeface="Calibri"/>
              <a:cs typeface="Calibri"/>
              <a:sym typeface="Calibri"/>
            </a:endParaRPr>
          </a:p>
        </p:txBody>
      </p:sp>
      <p:sp>
        <p:nvSpPr>
          <p:cNvPr id="362" name="Google Shape;362;p14"/>
          <p:cNvSpPr/>
          <p:nvPr/>
        </p:nvSpPr>
        <p:spPr>
          <a:xfrm>
            <a:off x="594360" y="6236280"/>
            <a:ext cx="10972440" cy="2739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i="1" lang="en-US" sz="1200" u="none" strike="noStrike">
                <a:solidFill>
                  <a:srgbClr val="6B7280"/>
                </a:solidFill>
                <a:latin typeface="Calibri"/>
                <a:ea typeface="Calibri"/>
                <a:cs typeface="Calibri"/>
                <a:sym typeface="Calibri"/>
              </a:rPr>
              <a:t>Include screenshots/photos/logs. Don’t hide failures — show what you learned and fixed.</a:t>
            </a:r>
            <a:endParaRPr b="0" sz="1200" u="none" strike="noStrike">
              <a:solidFill>
                <a:srgbClr val="000000"/>
              </a:solidFill>
              <a:latin typeface="Arial"/>
              <a:ea typeface="Arial"/>
              <a:cs typeface="Arial"/>
              <a:sym typeface="Arial"/>
            </a:endParaRPr>
          </a:p>
        </p:txBody>
      </p:sp>
      <p:sp>
        <p:nvSpPr>
          <p:cNvPr id="363" name="Google Shape;363;p14"/>
          <p:cNvSpPr/>
          <p:nvPr/>
        </p:nvSpPr>
        <p:spPr>
          <a:xfrm>
            <a:off x="0" y="6565320"/>
            <a:ext cx="12191400" cy="29232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64" name="Google Shape;364;p14"/>
          <p:cNvSpPr/>
          <p:nvPr/>
        </p:nvSpPr>
        <p:spPr>
          <a:xfrm>
            <a:off x="594360" y="6620400"/>
            <a:ext cx="11002680" cy="200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000" u="none" strike="noStrike">
                <a:solidFill>
                  <a:srgbClr val="6B7280"/>
                </a:solidFill>
                <a:latin typeface="Calibri"/>
                <a:ea typeface="Calibri"/>
                <a:cs typeface="Calibri"/>
                <a:sym typeface="Calibri"/>
              </a:rPr>
              <a:t>SoI Prototype Stage — Submission Deck</a:t>
            </a:r>
            <a:endParaRPr b="0" sz="1000" u="none" strike="noStrike">
              <a:solidFill>
                <a:srgbClr val="000000"/>
              </a:solidFill>
              <a:latin typeface="Arial"/>
              <a:ea typeface="Arial"/>
              <a:cs typeface="Arial"/>
              <a:sym typeface="Arial"/>
            </a:endParaRPr>
          </a:p>
        </p:txBody>
      </p:sp>
      <p:sp>
        <p:nvSpPr>
          <p:cNvPr id="365" name="Google Shape;365;p14"/>
          <p:cNvSpPr/>
          <p:nvPr/>
        </p:nvSpPr>
        <p:spPr>
          <a:xfrm>
            <a:off x="10874828" y="6620400"/>
            <a:ext cx="722211" cy="15552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17/23</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15"/>
          <p:cNvSpPr/>
          <p:nvPr/>
        </p:nvSpPr>
        <p:spPr>
          <a:xfrm>
            <a:off x="0" y="0"/>
            <a:ext cx="12191400" cy="566640"/>
          </a:xfrm>
          <a:prstGeom prst="rect">
            <a:avLst/>
          </a:prstGeom>
          <a:solidFill>
            <a:srgbClr val="0B2E4A"/>
          </a:solidFill>
          <a:ln cap="flat" cmpd="sng" w="12700">
            <a:solidFill>
              <a:srgbClr val="0B2E4A"/>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72" name="Google Shape;372;p15"/>
          <p:cNvSpPr/>
          <p:nvPr/>
        </p:nvSpPr>
        <p:spPr>
          <a:xfrm>
            <a:off x="0" y="0"/>
            <a:ext cx="145800" cy="566640"/>
          </a:xfrm>
          <a:prstGeom prst="rect">
            <a:avLst/>
          </a:prstGeom>
          <a:solidFill>
            <a:srgbClr val="2F6FB3"/>
          </a:solidFill>
          <a:ln cap="flat" cmpd="sng" w="12700">
            <a:solidFill>
              <a:srgbClr val="2F6FB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73" name="Google Shape;373;p15"/>
          <p:cNvSpPr/>
          <p:nvPr/>
        </p:nvSpPr>
        <p:spPr>
          <a:xfrm>
            <a:off x="594360" y="109800"/>
            <a:ext cx="11002680" cy="319680"/>
          </a:xfrm>
          <a:prstGeom prst="rect">
            <a:avLst/>
          </a:prstGeom>
          <a:noFill/>
          <a:ln>
            <a:noFill/>
          </a:ln>
        </p:spPr>
        <p:txBody>
          <a:bodyPr anchorCtr="0" anchor="ctr" bIns="45000" lIns="90000" spcFirstLastPara="1" rIns="90000" wrap="square" tIns="45000">
            <a:noAutofit/>
          </a:bodyPr>
          <a:lstStyle/>
          <a:p>
            <a:pPr indent="0" lvl="0" marL="0" marR="0" rtl="0" algn="r">
              <a:lnSpc>
                <a:spcPct val="100000"/>
              </a:lnSpc>
              <a:spcBef>
                <a:spcPts val="0"/>
              </a:spcBef>
              <a:spcAft>
                <a:spcPts val="0"/>
              </a:spcAft>
              <a:buNone/>
            </a:pPr>
            <a:r>
              <a:rPr b="1" lang="en-US" sz="1400" u="none" strike="noStrike">
                <a:solidFill>
                  <a:srgbClr val="FFFFFF"/>
                </a:solidFill>
                <a:latin typeface="Calibri"/>
                <a:ea typeface="Calibri"/>
                <a:cs typeface="Calibri"/>
                <a:sym typeface="Calibri"/>
              </a:rPr>
              <a:t>SoI Innovation Pipeline</a:t>
            </a:r>
            <a:endParaRPr b="0" sz="1400" u="none" strike="noStrike">
              <a:solidFill>
                <a:srgbClr val="000000"/>
              </a:solidFill>
              <a:latin typeface="Arial"/>
              <a:ea typeface="Arial"/>
              <a:cs typeface="Arial"/>
              <a:sym typeface="Arial"/>
            </a:endParaRPr>
          </a:p>
        </p:txBody>
      </p:sp>
      <p:sp>
        <p:nvSpPr>
          <p:cNvPr id="374" name="Google Shape;374;p15"/>
          <p:cNvSpPr/>
          <p:nvPr/>
        </p:nvSpPr>
        <p:spPr>
          <a:xfrm>
            <a:off x="594360" y="658440"/>
            <a:ext cx="1919880" cy="292320"/>
          </a:xfrm>
          <a:prstGeom prst="roundRect">
            <a:avLst>
              <a:gd fmla="val 16667" name="adj"/>
            </a:avLst>
          </a:prstGeom>
          <a:solidFill>
            <a:srgbClr val="2F6FB3"/>
          </a:solidFill>
          <a:ln cap="flat" cmpd="sng" w="12700">
            <a:solidFill>
              <a:srgbClr val="2F6FB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75" name="Google Shape;375;p15"/>
          <p:cNvSpPr/>
          <p:nvPr/>
        </p:nvSpPr>
        <p:spPr>
          <a:xfrm>
            <a:off x="594360" y="704160"/>
            <a:ext cx="1919880" cy="2008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200" u="none" strike="noStrike">
                <a:solidFill>
                  <a:srgbClr val="FFFFFF"/>
                </a:solidFill>
                <a:latin typeface="Calibri"/>
                <a:ea typeface="Calibri"/>
                <a:cs typeface="Calibri"/>
                <a:sym typeface="Calibri"/>
              </a:rPr>
              <a:t>LINKS</a:t>
            </a:r>
            <a:endParaRPr b="0" sz="1200" u="none" strike="noStrike">
              <a:solidFill>
                <a:srgbClr val="000000"/>
              </a:solidFill>
              <a:latin typeface="Arial"/>
              <a:ea typeface="Arial"/>
              <a:cs typeface="Arial"/>
              <a:sym typeface="Arial"/>
            </a:endParaRPr>
          </a:p>
        </p:txBody>
      </p:sp>
      <p:sp>
        <p:nvSpPr>
          <p:cNvPr id="376" name="Google Shape;376;p15"/>
          <p:cNvSpPr/>
          <p:nvPr/>
        </p:nvSpPr>
        <p:spPr>
          <a:xfrm>
            <a:off x="594360" y="822960"/>
            <a:ext cx="11002680" cy="5482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3200" u="none" strike="noStrike">
                <a:solidFill>
                  <a:srgbClr val="111827"/>
                </a:solidFill>
                <a:latin typeface="Calibri"/>
                <a:ea typeface="Calibri"/>
                <a:cs typeface="Calibri"/>
                <a:sym typeface="Calibri"/>
              </a:rPr>
              <a:t>Prototype Demo &amp; Artifacts</a:t>
            </a:r>
            <a:endParaRPr b="0" sz="3200" u="none" strike="noStrike">
              <a:solidFill>
                <a:srgbClr val="000000"/>
              </a:solidFill>
              <a:latin typeface="Arial"/>
              <a:ea typeface="Arial"/>
              <a:cs typeface="Arial"/>
              <a:sym typeface="Arial"/>
            </a:endParaRPr>
          </a:p>
        </p:txBody>
      </p:sp>
      <p:sp>
        <p:nvSpPr>
          <p:cNvPr id="377" name="Google Shape;377;p15"/>
          <p:cNvSpPr/>
          <p:nvPr/>
        </p:nvSpPr>
        <p:spPr>
          <a:xfrm>
            <a:off x="594360" y="1417320"/>
            <a:ext cx="11002680" cy="3654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600" u="none" strike="noStrike">
                <a:solidFill>
                  <a:srgbClr val="4B5563"/>
                </a:solidFill>
                <a:latin typeface="Calibri"/>
                <a:ea typeface="Calibri"/>
                <a:cs typeface="Calibri"/>
                <a:sym typeface="Calibri"/>
              </a:rPr>
              <a:t>Make it easy for reviewers to verify quickly.</a:t>
            </a:r>
            <a:endParaRPr b="0" sz="1600" u="none" strike="noStrike">
              <a:solidFill>
                <a:srgbClr val="000000"/>
              </a:solidFill>
              <a:latin typeface="Arial"/>
              <a:ea typeface="Arial"/>
              <a:cs typeface="Arial"/>
              <a:sym typeface="Arial"/>
            </a:endParaRPr>
          </a:p>
        </p:txBody>
      </p:sp>
      <p:sp>
        <p:nvSpPr>
          <p:cNvPr id="378" name="Google Shape;378;p15"/>
          <p:cNvSpPr/>
          <p:nvPr/>
        </p:nvSpPr>
        <p:spPr>
          <a:xfrm>
            <a:off x="594360" y="1874520"/>
            <a:ext cx="6949080" cy="4525920"/>
          </a:xfrm>
          <a:prstGeom prst="roundRect">
            <a:avLst>
              <a:gd fmla="val 16667" name="adj"/>
            </a:avLst>
          </a:prstGeom>
          <a:solidFill>
            <a:srgbClr val="FFFFFF"/>
          </a:solidFill>
          <a:ln cap="flat" cmpd="sng" w="12700">
            <a:solidFill>
              <a:srgbClr val="E5E7EB"/>
            </a:solidFill>
            <a:prstDash val="solid"/>
            <a:round/>
            <a:headEnd len="sm" w="sm" type="none"/>
            <a:tailEnd len="sm" w="sm" type="none"/>
          </a:ln>
          <a:effectLst>
            <a:outerShdw blurRad="28080" rotWithShape="0" algn="bl" dir="2700000" dist="19855">
              <a:srgbClr val="000000">
                <a:alpha val="15686"/>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79" name="Google Shape;379;p15"/>
          <p:cNvSpPr/>
          <p:nvPr/>
        </p:nvSpPr>
        <p:spPr>
          <a:xfrm>
            <a:off x="850320" y="2039040"/>
            <a:ext cx="6437160" cy="3196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600" u="none" strike="noStrike">
                <a:solidFill>
                  <a:srgbClr val="111827"/>
                </a:solidFill>
                <a:latin typeface="Calibri"/>
                <a:ea typeface="Calibri"/>
                <a:cs typeface="Calibri"/>
                <a:sym typeface="Calibri"/>
              </a:rPr>
              <a:t>Links (paste)</a:t>
            </a:r>
            <a:endParaRPr b="0" sz="1600" u="none" strike="noStrike">
              <a:solidFill>
                <a:srgbClr val="000000"/>
              </a:solidFill>
              <a:latin typeface="Arial"/>
              <a:ea typeface="Arial"/>
              <a:cs typeface="Arial"/>
              <a:sym typeface="Arial"/>
            </a:endParaRPr>
          </a:p>
        </p:txBody>
      </p:sp>
      <p:sp>
        <p:nvSpPr>
          <p:cNvPr id="380" name="Google Shape;380;p15"/>
          <p:cNvSpPr/>
          <p:nvPr/>
        </p:nvSpPr>
        <p:spPr>
          <a:xfrm>
            <a:off x="850320" y="2377440"/>
            <a:ext cx="6437160" cy="3849120"/>
          </a:xfrm>
          <a:prstGeom prst="rect">
            <a:avLst/>
          </a:prstGeom>
          <a:noFill/>
          <a:ln>
            <a:noFill/>
          </a:ln>
        </p:spPr>
        <p:txBody>
          <a:bodyPr anchorCtr="0" anchor="t" bIns="45000" lIns="90000" spcFirstLastPara="1" rIns="90000" wrap="square" tIns="45000">
            <a:noAutofit/>
          </a:bodyPr>
          <a:lstStyle/>
          <a:p>
            <a:pPr indent="0" lvl="0" marL="0" marR="0" rtl="0" algn="l">
              <a:lnSpc>
                <a:spcPct val="110000"/>
              </a:lnSpc>
              <a:spcBef>
                <a:spcPts val="0"/>
              </a:spcBef>
              <a:spcAft>
                <a:spcPts val="0"/>
              </a:spcAft>
              <a:buNone/>
            </a:pPr>
            <a:r>
              <a:t/>
            </a:r>
            <a:endParaRPr b="0" sz="1300" u="none" strike="noStrike">
              <a:solidFill>
                <a:schemeClr val="dk1"/>
              </a:solidFill>
              <a:latin typeface="Calibri"/>
              <a:ea typeface="Calibri"/>
              <a:cs typeface="Calibri"/>
              <a:sym typeface="Calibri"/>
            </a:endParaRPr>
          </a:p>
        </p:txBody>
      </p:sp>
      <p:sp>
        <p:nvSpPr>
          <p:cNvPr id="381" name="Google Shape;381;p15"/>
          <p:cNvSpPr/>
          <p:nvPr/>
        </p:nvSpPr>
        <p:spPr>
          <a:xfrm>
            <a:off x="914400" y="2514600"/>
            <a:ext cx="1892520" cy="56664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Demo video file upload (MP4, ≤2 min)</a:t>
            </a:r>
            <a:endParaRPr/>
          </a:p>
        </p:txBody>
      </p:sp>
      <p:sp>
        <p:nvSpPr>
          <p:cNvPr id="382" name="Google Shape;382;p15"/>
          <p:cNvSpPr/>
          <p:nvPr/>
        </p:nvSpPr>
        <p:spPr>
          <a:xfrm>
            <a:off x="2807280" y="2569320"/>
            <a:ext cx="4416120" cy="45684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83" name="Google Shape;383;p15"/>
          <p:cNvSpPr/>
          <p:nvPr/>
        </p:nvSpPr>
        <p:spPr>
          <a:xfrm>
            <a:off x="2917080" y="2615040"/>
            <a:ext cx="4196880" cy="36540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https://drive.google.com/file/d/1LDmBmyCY-j_J1eHYwt6NlxL9PGA6GZRh/view?usp=sharing</a:t>
            </a:r>
            <a:endParaRPr sz="1800">
              <a:solidFill>
                <a:schemeClr val="dk1"/>
              </a:solidFill>
              <a:latin typeface="Calibri"/>
              <a:ea typeface="Calibri"/>
              <a:cs typeface="Calibri"/>
              <a:sym typeface="Calibri"/>
            </a:endParaRPr>
          </a:p>
        </p:txBody>
      </p:sp>
      <p:sp>
        <p:nvSpPr>
          <p:cNvPr id="384" name="Google Shape;384;p15"/>
          <p:cNvSpPr/>
          <p:nvPr/>
        </p:nvSpPr>
        <p:spPr>
          <a:xfrm>
            <a:off x="914400" y="3081600"/>
            <a:ext cx="1892520" cy="56664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300" u="none" strike="noStrike">
                <a:solidFill>
                  <a:srgbClr val="4B5563"/>
                </a:solidFill>
                <a:latin typeface="Calibri"/>
                <a:ea typeface="Calibri"/>
                <a:cs typeface="Calibri"/>
                <a:sym typeface="Calibri"/>
              </a:rPr>
              <a:t>Repository URL</a:t>
            </a:r>
            <a:endParaRPr b="0" sz="1300" u="none" strike="noStrike">
              <a:solidFill>
                <a:srgbClr val="000000"/>
              </a:solidFill>
              <a:latin typeface="Arial"/>
              <a:ea typeface="Arial"/>
              <a:cs typeface="Arial"/>
              <a:sym typeface="Arial"/>
            </a:endParaRPr>
          </a:p>
        </p:txBody>
      </p:sp>
      <p:sp>
        <p:nvSpPr>
          <p:cNvPr id="385" name="Google Shape;385;p15"/>
          <p:cNvSpPr/>
          <p:nvPr/>
        </p:nvSpPr>
        <p:spPr>
          <a:xfrm>
            <a:off x="2807280" y="3079876"/>
            <a:ext cx="4416120" cy="45684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86" name="Google Shape;386;p15"/>
          <p:cNvSpPr/>
          <p:nvPr/>
        </p:nvSpPr>
        <p:spPr>
          <a:xfrm>
            <a:off x="2917080" y="3182040"/>
            <a:ext cx="4196880" cy="3654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en-US" sz="1300">
                <a:solidFill>
                  <a:srgbClr val="111827"/>
                </a:solidFill>
                <a:latin typeface="Calibri"/>
                <a:ea typeface="Calibri"/>
                <a:cs typeface="Calibri"/>
                <a:sym typeface="Calibri"/>
              </a:rPr>
              <a:t>https://github.com/harinisri-2024-aia/Startup-LaunchPad</a:t>
            </a:r>
            <a:endParaRPr sz="1800">
              <a:solidFill>
                <a:schemeClr val="dk1"/>
              </a:solidFill>
              <a:latin typeface="Calibri"/>
              <a:ea typeface="Calibri"/>
              <a:cs typeface="Calibri"/>
              <a:sym typeface="Calibri"/>
            </a:endParaRPr>
          </a:p>
        </p:txBody>
      </p:sp>
      <p:sp>
        <p:nvSpPr>
          <p:cNvPr id="387" name="Google Shape;387;p15"/>
          <p:cNvSpPr/>
          <p:nvPr/>
        </p:nvSpPr>
        <p:spPr>
          <a:xfrm>
            <a:off x="914400" y="3648600"/>
            <a:ext cx="1892520" cy="56664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300" u="none" strike="noStrike">
                <a:solidFill>
                  <a:srgbClr val="4B5563"/>
                </a:solidFill>
                <a:latin typeface="Calibri"/>
                <a:ea typeface="Calibri"/>
                <a:cs typeface="Calibri"/>
                <a:sym typeface="Calibri"/>
              </a:rPr>
              <a:t>Build files (CAD/PCB)</a:t>
            </a:r>
            <a:endParaRPr b="0" sz="1300" u="none" strike="noStrike">
              <a:solidFill>
                <a:srgbClr val="000000"/>
              </a:solidFill>
              <a:latin typeface="Arial"/>
              <a:ea typeface="Arial"/>
              <a:cs typeface="Arial"/>
              <a:sym typeface="Arial"/>
            </a:endParaRPr>
          </a:p>
        </p:txBody>
      </p:sp>
      <p:sp>
        <p:nvSpPr>
          <p:cNvPr id="388" name="Google Shape;388;p15"/>
          <p:cNvSpPr/>
          <p:nvPr/>
        </p:nvSpPr>
        <p:spPr>
          <a:xfrm>
            <a:off x="2807280" y="3703320"/>
            <a:ext cx="4416120" cy="45684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89" name="Google Shape;389;p15"/>
          <p:cNvSpPr/>
          <p:nvPr/>
        </p:nvSpPr>
        <p:spPr>
          <a:xfrm>
            <a:off x="2917080" y="3749040"/>
            <a:ext cx="4196880" cy="36540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lang="en-US" sz="1300">
                <a:solidFill>
                  <a:srgbClr val="111827"/>
                </a:solidFill>
                <a:latin typeface="Calibri"/>
                <a:ea typeface="Calibri"/>
                <a:cs typeface="Calibri"/>
                <a:sym typeface="Calibri"/>
              </a:rPr>
              <a:t>Not applicable (software-only web platform).</a:t>
            </a:r>
            <a:endParaRPr sz="1800">
              <a:solidFill>
                <a:schemeClr val="dk1"/>
              </a:solidFill>
              <a:latin typeface="Calibri"/>
              <a:ea typeface="Calibri"/>
              <a:cs typeface="Calibri"/>
              <a:sym typeface="Calibri"/>
            </a:endParaRPr>
          </a:p>
        </p:txBody>
      </p:sp>
      <p:sp>
        <p:nvSpPr>
          <p:cNvPr id="390" name="Google Shape;390;p15"/>
          <p:cNvSpPr/>
          <p:nvPr/>
        </p:nvSpPr>
        <p:spPr>
          <a:xfrm>
            <a:off x="914400" y="4215240"/>
            <a:ext cx="1892520" cy="56664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300" u="none" strike="noStrike">
                <a:solidFill>
                  <a:srgbClr val="4B5563"/>
                </a:solidFill>
                <a:latin typeface="Calibri"/>
                <a:ea typeface="Calibri"/>
                <a:cs typeface="Calibri"/>
                <a:sym typeface="Calibri"/>
              </a:rPr>
              <a:t>Dataset / logs</a:t>
            </a:r>
            <a:endParaRPr b="0" sz="1300" u="none" strike="noStrike">
              <a:solidFill>
                <a:srgbClr val="000000"/>
              </a:solidFill>
              <a:latin typeface="Arial"/>
              <a:ea typeface="Arial"/>
              <a:cs typeface="Arial"/>
              <a:sym typeface="Arial"/>
            </a:endParaRPr>
          </a:p>
        </p:txBody>
      </p:sp>
      <p:sp>
        <p:nvSpPr>
          <p:cNvPr id="391" name="Google Shape;391;p15"/>
          <p:cNvSpPr/>
          <p:nvPr/>
        </p:nvSpPr>
        <p:spPr>
          <a:xfrm>
            <a:off x="2807280" y="4270320"/>
            <a:ext cx="4416120" cy="45684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92" name="Google Shape;392;p15"/>
          <p:cNvSpPr/>
          <p:nvPr/>
        </p:nvSpPr>
        <p:spPr>
          <a:xfrm>
            <a:off x="2917080" y="4316040"/>
            <a:ext cx="4196880" cy="36540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lang="en-US" sz="1300">
                <a:solidFill>
                  <a:srgbClr val="111827"/>
                </a:solidFill>
                <a:latin typeface="Calibri"/>
                <a:ea typeface="Calibri"/>
                <a:cs typeface="Calibri"/>
                <a:sym typeface="Calibri"/>
              </a:rPr>
              <a:t>Sample user profiles, session logs, and feedback data used for testing.</a:t>
            </a:r>
            <a:endParaRPr sz="1800">
              <a:solidFill>
                <a:schemeClr val="dk1"/>
              </a:solidFill>
              <a:latin typeface="Calibri"/>
              <a:ea typeface="Calibri"/>
              <a:cs typeface="Calibri"/>
              <a:sym typeface="Calibri"/>
            </a:endParaRPr>
          </a:p>
        </p:txBody>
      </p:sp>
      <p:sp>
        <p:nvSpPr>
          <p:cNvPr id="393" name="Google Shape;393;p15"/>
          <p:cNvSpPr/>
          <p:nvPr/>
        </p:nvSpPr>
        <p:spPr>
          <a:xfrm>
            <a:off x="914400" y="4782240"/>
            <a:ext cx="1892520" cy="56664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300" u="none" strike="noStrike">
                <a:solidFill>
                  <a:srgbClr val="4B5563"/>
                </a:solidFill>
                <a:latin typeface="Calibri"/>
                <a:ea typeface="Calibri"/>
                <a:cs typeface="Calibri"/>
                <a:sym typeface="Calibri"/>
              </a:rPr>
              <a:t>Release / version</a:t>
            </a:r>
            <a:endParaRPr b="0" sz="1300" u="none" strike="noStrike">
              <a:solidFill>
                <a:srgbClr val="000000"/>
              </a:solidFill>
              <a:latin typeface="Arial"/>
              <a:ea typeface="Arial"/>
              <a:cs typeface="Arial"/>
              <a:sym typeface="Arial"/>
            </a:endParaRPr>
          </a:p>
        </p:txBody>
      </p:sp>
      <p:sp>
        <p:nvSpPr>
          <p:cNvPr id="394" name="Google Shape;394;p15"/>
          <p:cNvSpPr/>
          <p:nvPr/>
        </p:nvSpPr>
        <p:spPr>
          <a:xfrm>
            <a:off x="2807280" y="4837320"/>
            <a:ext cx="4416120" cy="45684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95" name="Google Shape;395;p15"/>
          <p:cNvSpPr/>
          <p:nvPr/>
        </p:nvSpPr>
        <p:spPr>
          <a:xfrm>
            <a:off x="2917080" y="4883040"/>
            <a:ext cx="4196880" cy="3654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300" u="none" strike="noStrike">
                <a:solidFill>
                  <a:srgbClr val="111827"/>
                </a:solidFill>
                <a:latin typeface="Calibri"/>
                <a:ea typeface="Calibri"/>
                <a:cs typeface="Calibri"/>
                <a:sym typeface="Calibri"/>
              </a:rPr>
              <a:t>[v1.0-prototype]</a:t>
            </a:r>
            <a:endParaRPr b="0" sz="1300" u="none" strike="noStrike">
              <a:solidFill>
                <a:srgbClr val="000000"/>
              </a:solidFill>
              <a:latin typeface="Arial"/>
              <a:ea typeface="Arial"/>
              <a:cs typeface="Arial"/>
              <a:sym typeface="Arial"/>
            </a:endParaRPr>
          </a:p>
        </p:txBody>
      </p:sp>
      <p:sp>
        <p:nvSpPr>
          <p:cNvPr id="396" name="Google Shape;396;p15"/>
          <p:cNvSpPr/>
          <p:nvPr/>
        </p:nvSpPr>
        <p:spPr>
          <a:xfrm>
            <a:off x="8458200" y="5440680"/>
            <a:ext cx="2422800" cy="27396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1" sz="1100" u="none" strike="noStrike">
              <a:solidFill>
                <a:srgbClr val="6B7280"/>
              </a:solidFill>
              <a:latin typeface="Calibri"/>
              <a:ea typeface="Calibri"/>
              <a:cs typeface="Calibri"/>
              <a:sym typeface="Calibri"/>
            </a:endParaRPr>
          </a:p>
        </p:txBody>
      </p:sp>
      <p:sp>
        <p:nvSpPr>
          <p:cNvPr id="397" name="Google Shape;397;p15"/>
          <p:cNvSpPr/>
          <p:nvPr/>
        </p:nvSpPr>
        <p:spPr>
          <a:xfrm>
            <a:off x="0" y="6565320"/>
            <a:ext cx="12191400" cy="29232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98" name="Google Shape;398;p15"/>
          <p:cNvSpPr/>
          <p:nvPr/>
        </p:nvSpPr>
        <p:spPr>
          <a:xfrm>
            <a:off x="594360" y="6620400"/>
            <a:ext cx="11002680" cy="200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000" u="none" strike="noStrike">
                <a:solidFill>
                  <a:srgbClr val="6B7280"/>
                </a:solidFill>
                <a:latin typeface="Calibri"/>
                <a:ea typeface="Calibri"/>
                <a:cs typeface="Calibri"/>
                <a:sym typeface="Calibri"/>
              </a:rPr>
              <a:t>SoI Prototype Stage — Submission Deck</a:t>
            </a:r>
            <a:endParaRPr b="0" sz="1000" u="none" strike="noStrike">
              <a:solidFill>
                <a:srgbClr val="000000"/>
              </a:solidFill>
              <a:latin typeface="Arial"/>
              <a:ea typeface="Arial"/>
              <a:cs typeface="Arial"/>
              <a:sym typeface="Arial"/>
            </a:endParaRPr>
          </a:p>
        </p:txBody>
      </p:sp>
      <p:sp>
        <p:nvSpPr>
          <p:cNvPr id="399" name="Google Shape;399;p15"/>
          <p:cNvSpPr/>
          <p:nvPr/>
        </p:nvSpPr>
        <p:spPr>
          <a:xfrm>
            <a:off x="10881000" y="6620400"/>
            <a:ext cx="716040" cy="20088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18/23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16"/>
          <p:cNvSpPr/>
          <p:nvPr/>
        </p:nvSpPr>
        <p:spPr>
          <a:xfrm>
            <a:off x="0" y="0"/>
            <a:ext cx="12191400" cy="566640"/>
          </a:xfrm>
          <a:prstGeom prst="rect">
            <a:avLst/>
          </a:prstGeom>
          <a:solidFill>
            <a:srgbClr val="0B2E4A"/>
          </a:solidFill>
          <a:ln cap="flat" cmpd="sng" w="12700">
            <a:solidFill>
              <a:srgbClr val="0B2E4A"/>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406" name="Google Shape;406;p16"/>
          <p:cNvSpPr/>
          <p:nvPr/>
        </p:nvSpPr>
        <p:spPr>
          <a:xfrm>
            <a:off x="0" y="0"/>
            <a:ext cx="145800" cy="566640"/>
          </a:xfrm>
          <a:prstGeom prst="rect">
            <a:avLst/>
          </a:prstGeom>
          <a:solidFill>
            <a:srgbClr val="2F6FB3"/>
          </a:solidFill>
          <a:ln cap="flat" cmpd="sng" w="12700">
            <a:solidFill>
              <a:srgbClr val="2F6FB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407" name="Google Shape;407;p16"/>
          <p:cNvSpPr/>
          <p:nvPr/>
        </p:nvSpPr>
        <p:spPr>
          <a:xfrm>
            <a:off x="594360" y="109800"/>
            <a:ext cx="11002680" cy="319680"/>
          </a:xfrm>
          <a:prstGeom prst="rect">
            <a:avLst/>
          </a:prstGeom>
          <a:noFill/>
          <a:ln>
            <a:noFill/>
          </a:ln>
        </p:spPr>
        <p:txBody>
          <a:bodyPr anchorCtr="0" anchor="ctr" bIns="45000" lIns="90000" spcFirstLastPara="1" rIns="90000" wrap="square" tIns="45000">
            <a:noAutofit/>
          </a:bodyPr>
          <a:lstStyle/>
          <a:p>
            <a:pPr indent="0" lvl="0" marL="0" marR="0" rtl="0" algn="r">
              <a:lnSpc>
                <a:spcPct val="100000"/>
              </a:lnSpc>
              <a:spcBef>
                <a:spcPts val="0"/>
              </a:spcBef>
              <a:spcAft>
                <a:spcPts val="0"/>
              </a:spcAft>
              <a:buNone/>
            </a:pPr>
            <a:r>
              <a:rPr b="1" lang="en-US" sz="1400" u="none" strike="noStrike">
                <a:solidFill>
                  <a:srgbClr val="FFFFFF"/>
                </a:solidFill>
                <a:latin typeface="Calibri"/>
                <a:ea typeface="Calibri"/>
                <a:cs typeface="Calibri"/>
                <a:sym typeface="Calibri"/>
              </a:rPr>
              <a:t>SoI Innovation Pipeline</a:t>
            </a:r>
            <a:endParaRPr b="0" sz="1400" u="none" strike="noStrike">
              <a:solidFill>
                <a:srgbClr val="000000"/>
              </a:solidFill>
              <a:latin typeface="Arial"/>
              <a:ea typeface="Arial"/>
              <a:cs typeface="Arial"/>
              <a:sym typeface="Arial"/>
            </a:endParaRPr>
          </a:p>
        </p:txBody>
      </p:sp>
      <p:sp>
        <p:nvSpPr>
          <p:cNvPr id="408" name="Google Shape;408;p16"/>
          <p:cNvSpPr/>
          <p:nvPr/>
        </p:nvSpPr>
        <p:spPr>
          <a:xfrm>
            <a:off x="594360" y="658440"/>
            <a:ext cx="1919880" cy="292320"/>
          </a:xfrm>
          <a:prstGeom prst="roundRect">
            <a:avLst>
              <a:gd fmla="val 16667" name="adj"/>
            </a:avLst>
          </a:prstGeom>
          <a:solidFill>
            <a:srgbClr val="2F6FB3"/>
          </a:solidFill>
          <a:ln cap="flat" cmpd="sng" w="12700">
            <a:solidFill>
              <a:srgbClr val="2F6FB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409" name="Google Shape;409;p16"/>
          <p:cNvSpPr/>
          <p:nvPr/>
        </p:nvSpPr>
        <p:spPr>
          <a:xfrm>
            <a:off x="594360" y="704160"/>
            <a:ext cx="1919880" cy="2008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200" u="none" strike="noStrike">
                <a:solidFill>
                  <a:srgbClr val="FFFFFF"/>
                </a:solidFill>
                <a:latin typeface="Calibri"/>
                <a:ea typeface="Calibri"/>
                <a:cs typeface="Calibri"/>
                <a:sym typeface="Calibri"/>
              </a:rPr>
              <a:t>RISK</a:t>
            </a:r>
            <a:endParaRPr b="0" sz="1200" u="none" strike="noStrike">
              <a:solidFill>
                <a:srgbClr val="000000"/>
              </a:solidFill>
              <a:latin typeface="Arial"/>
              <a:ea typeface="Arial"/>
              <a:cs typeface="Arial"/>
              <a:sym typeface="Arial"/>
            </a:endParaRPr>
          </a:p>
        </p:txBody>
      </p:sp>
      <p:sp>
        <p:nvSpPr>
          <p:cNvPr id="410" name="Google Shape;410;p16"/>
          <p:cNvSpPr/>
          <p:nvPr/>
        </p:nvSpPr>
        <p:spPr>
          <a:xfrm>
            <a:off x="594360" y="822960"/>
            <a:ext cx="11002680" cy="5482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3200" u="none" strike="noStrike">
                <a:solidFill>
                  <a:srgbClr val="111827"/>
                </a:solidFill>
                <a:latin typeface="Calibri"/>
                <a:ea typeface="Calibri"/>
                <a:cs typeface="Calibri"/>
                <a:sym typeface="Calibri"/>
              </a:rPr>
              <a:t>Risks, Limitations &amp; Mitigations</a:t>
            </a:r>
            <a:endParaRPr b="0" sz="3200" u="none" strike="noStrike">
              <a:solidFill>
                <a:srgbClr val="000000"/>
              </a:solidFill>
              <a:latin typeface="Arial"/>
              <a:ea typeface="Arial"/>
              <a:cs typeface="Arial"/>
              <a:sym typeface="Arial"/>
            </a:endParaRPr>
          </a:p>
        </p:txBody>
      </p:sp>
      <p:sp>
        <p:nvSpPr>
          <p:cNvPr id="411" name="Google Shape;411;p16"/>
          <p:cNvSpPr/>
          <p:nvPr/>
        </p:nvSpPr>
        <p:spPr>
          <a:xfrm>
            <a:off x="594360" y="1417320"/>
            <a:ext cx="11002680" cy="3654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600" u="none" strike="noStrike">
                <a:solidFill>
                  <a:srgbClr val="4B5563"/>
                </a:solidFill>
                <a:latin typeface="Calibri"/>
                <a:ea typeface="Calibri"/>
                <a:cs typeface="Calibri"/>
                <a:sym typeface="Calibri"/>
              </a:rPr>
              <a:t>Be honest. Show how you will reduce risk before MVP.</a:t>
            </a:r>
            <a:endParaRPr b="0" sz="1600" u="none" strike="noStrike">
              <a:solidFill>
                <a:srgbClr val="000000"/>
              </a:solidFill>
              <a:latin typeface="Arial"/>
              <a:ea typeface="Arial"/>
              <a:cs typeface="Arial"/>
              <a:sym typeface="Arial"/>
            </a:endParaRPr>
          </a:p>
        </p:txBody>
      </p:sp>
      <p:sp>
        <p:nvSpPr>
          <p:cNvPr id="412" name="Google Shape;412;p16"/>
          <p:cNvSpPr/>
          <p:nvPr/>
        </p:nvSpPr>
        <p:spPr>
          <a:xfrm>
            <a:off x="594360" y="1920240"/>
            <a:ext cx="3730320" cy="456840"/>
          </a:xfrm>
          <a:prstGeom prst="rect">
            <a:avLst/>
          </a:prstGeom>
          <a:solidFill>
            <a:srgbClr val="0B2E4A"/>
          </a:solidFill>
          <a:ln cap="flat" cmpd="sng" w="12700">
            <a:solidFill>
              <a:srgbClr val="FFFFFF"/>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413" name="Google Shape;413;p16"/>
          <p:cNvSpPr/>
          <p:nvPr/>
        </p:nvSpPr>
        <p:spPr>
          <a:xfrm>
            <a:off x="704160" y="2011680"/>
            <a:ext cx="3511080" cy="3106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n-US" sz="1200" u="none" strike="noStrike">
                <a:solidFill>
                  <a:srgbClr val="FFFFFF"/>
                </a:solidFill>
                <a:latin typeface="Calibri"/>
                <a:ea typeface="Calibri"/>
                <a:cs typeface="Calibri"/>
                <a:sym typeface="Calibri"/>
              </a:rPr>
              <a:t>Risk / limitation</a:t>
            </a:r>
            <a:endParaRPr b="0" sz="1200" u="none" strike="noStrike">
              <a:solidFill>
                <a:srgbClr val="000000"/>
              </a:solidFill>
              <a:latin typeface="Arial"/>
              <a:ea typeface="Arial"/>
              <a:cs typeface="Arial"/>
              <a:sym typeface="Arial"/>
            </a:endParaRPr>
          </a:p>
        </p:txBody>
      </p:sp>
      <p:sp>
        <p:nvSpPr>
          <p:cNvPr id="414" name="Google Shape;414;p16"/>
          <p:cNvSpPr/>
          <p:nvPr/>
        </p:nvSpPr>
        <p:spPr>
          <a:xfrm>
            <a:off x="4325040" y="1920240"/>
            <a:ext cx="1974600" cy="456840"/>
          </a:xfrm>
          <a:prstGeom prst="rect">
            <a:avLst/>
          </a:prstGeom>
          <a:solidFill>
            <a:srgbClr val="0B2E4A"/>
          </a:solidFill>
          <a:ln cap="flat" cmpd="sng" w="12700">
            <a:solidFill>
              <a:srgbClr val="FFFFFF"/>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415" name="Google Shape;415;p16"/>
          <p:cNvSpPr/>
          <p:nvPr/>
        </p:nvSpPr>
        <p:spPr>
          <a:xfrm>
            <a:off x="4434840" y="2011680"/>
            <a:ext cx="1755360" cy="3106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n-US" sz="1200" u="none" strike="noStrike">
                <a:solidFill>
                  <a:srgbClr val="FFFFFF"/>
                </a:solidFill>
                <a:latin typeface="Calibri"/>
                <a:ea typeface="Calibri"/>
                <a:cs typeface="Calibri"/>
                <a:sym typeface="Calibri"/>
              </a:rPr>
              <a:t>Impact (L/M/H)</a:t>
            </a:r>
            <a:endParaRPr b="0" sz="1200" u="none" strike="noStrike">
              <a:solidFill>
                <a:srgbClr val="000000"/>
              </a:solidFill>
              <a:latin typeface="Arial"/>
              <a:ea typeface="Arial"/>
              <a:cs typeface="Arial"/>
              <a:sym typeface="Arial"/>
            </a:endParaRPr>
          </a:p>
        </p:txBody>
      </p:sp>
      <p:sp>
        <p:nvSpPr>
          <p:cNvPr id="416" name="Google Shape;416;p16"/>
          <p:cNvSpPr/>
          <p:nvPr/>
        </p:nvSpPr>
        <p:spPr>
          <a:xfrm>
            <a:off x="6300360" y="1920240"/>
            <a:ext cx="1974600" cy="456840"/>
          </a:xfrm>
          <a:prstGeom prst="rect">
            <a:avLst/>
          </a:prstGeom>
          <a:solidFill>
            <a:srgbClr val="0B2E4A"/>
          </a:solidFill>
          <a:ln cap="flat" cmpd="sng" w="12700">
            <a:solidFill>
              <a:srgbClr val="FFFFFF"/>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417" name="Google Shape;417;p16"/>
          <p:cNvSpPr/>
          <p:nvPr/>
        </p:nvSpPr>
        <p:spPr>
          <a:xfrm>
            <a:off x="6409800" y="2011680"/>
            <a:ext cx="1755360" cy="3106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n-US" sz="1200" u="none" strike="noStrike">
                <a:solidFill>
                  <a:srgbClr val="FFFFFF"/>
                </a:solidFill>
                <a:latin typeface="Calibri"/>
                <a:ea typeface="Calibri"/>
                <a:cs typeface="Calibri"/>
                <a:sym typeface="Calibri"/>
              </a:rPr>
              <a:t>Likelihood</a:t>
            </a:r>
            <a:endParaRPr b="0" sz="1200" u="none" strike="noStrike">
              <a:solidFill>
                <a:srgbClr val="000000"/>
              </a:solidFill>
              <a:latin typeface="Arial"/>
              <a:ea typeface="Arial"/>
              <a:cs typeface="Arial"/>
              <a:sym typeface="Arial"/>
            </a:endParaRPr>
          </a:p>
        </p:txBody>
      </p:sp>
      <p:sp>
        <p:nvSpPr>
          <p:cNvPr id="418" name="Google Shape;418;p16"/>
          <p:cNvSpPr/>
          <p:nvPr/>
        </p:nvSpPr>
        <p:spPr>
          <a:xfrm>
            <a:off x="8275320" y="1920240"/>
            <a:ext cx="3291480" cy="456840"/>
          </a:xfrm>
          <a:prstGeom prst="rect">
            <a:avLst/>
          </a:prstGeom>
          <a:solidFill>
            <a:srgbClr val="0B2E4A"/>
          </a:solidFill>
          <a:ln cap="flat" cmpd="sng" w="12700">
            <a:solidFill>
              <a:srgbClr val="FFFFFF"/>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419" name="Google Shape;419;p16"/>
          <p:cNvSpPr/>
          <p:nvPr/>
        </p:nvSpPr>
        <p:spPr>
          <a:xfrm>
            <a:off x="8385120" y="2011680"/>
            <a:ext cx="3071880" cy="3106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n-US" sz="1200" u="none" strike="noStrike">
                <a:solidFill>
                  <a:srgbClr val="FFFFFF"/>
                </a:solidFill>
                <a:latin typeface="Calibri"/>
                <a:ea typeface="Calibri"/>
                <a:cs typeface="Calibri"/>
                <a:sym typeface="Calibri"/>
              </a:rPr>
              <a:t>Mitigation / next action</a:t>
            </a:r>
            <a:endParaRPr b="0" sz="1200" u="none" strike="noStrike">
              <a:solidFill>
                <a:srgbClr val="000000"/>
              </a:solidFill>
              <a:latin typeface="Arial"/>
              <a:ea typeface="Arial"/>
              <a:cs typeface="Arial"/>
              <a:sym typeface="Arial"/>
            </a:endParaRPr>
          </a:p>
        </p:txBody>
      </p:sp>
      <p:sp>
        <p:nvSpPr>
          <p:cNvPr id="420" name="Google Shape;420;p16"/>
          <p:cNvSpPr/>
          <p:nvPr/>
        </p:nvSpPr>
        <p:spPr>
          <a:xfrm>
            <a:off x="594360" y="2377440"/>
            <a:ext cx="3730320" cy="76788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Dealer unavailability</a:t>
            </a:r>
            <a:endParaRPr sz="1800">
              <a:solidFill>
                <a:schemeClr val="dk1"/>
              </a:solidFill>
              <a:latin typeface="Calibri"/>
              <a:ea typeface="Calibri"/>
              <a:cs typeface="Calibri"/>
              <a:sym typeface="Calibri"/>
            </a:endParaRPr>
          </a:p>
        </p:txBody>
      </p:sp>
      <p:sp>
        <p:nvSpPr>
          <p:cNvPr id="421" name="Google Shape;421;p16"/>
          <p:cNvSpPr/>
          <p:nvPr/>
        </p:nvSpPr>
        <p:spPr>
          <a:xfrm>
            <a:off x="4325040" y="2377440"/>
            <a:ext cx="1974600" cy="76788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Medium</a:t>
            </a:r>
            <a:endParaRPr sz="1800">
              <a:solidFill>
                <a:schemeClr val="dk1"/>
              </a:solidFill>
              <a:latin typeface="Calibri"/>
              <a:ea typeface="Calibri"/>
              <a:cs typeface="Calibri"/>
              <a:sym typeface="Calibri"/>
            </a:endParaRPr>
          </a:p>
        </p:txBody>
      </p:sp>
      <p:sp>
        <p:nvSpPr>
          <p:cNvPr id="422" name="Google Shape;422;p16"/>
          <p:cNvSpPr/>
          <p:nvPr/>
        </p:nvSpPr>
        <p:spPr>
          <a:xfrm>
            <a:off x="6300360" y="2377440"/>
            <a:ext cx="1974600" cy="76788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Medium</a:t>
            </a:r>
            <a:endParaRPr sz="1800">
              <a:solidFill>
                <a:schemeClr val="dk1"/>
              </a:solidFill>
              <a:latin typeface="Calibri"/>
              <a:ea typeface="Calibri"/>
              <a:cs typeface="Calibri"/>
              <a:sym typeface="Calibri"/>
            </a:endParaRPr>
          </a:p>
        </p:txBody>
      </p:sp>
      <p:sp>
        <p:nvSpPr>
          <p:cNvPr id="423" name="Google Shape;423;p16"/>
          <p:cNvSpPr/>
          <p:nvPr/>
        </p:nvSpPr>
        <p:spPr>
          <a:xfrm>
            <a:off x="8275320" y="2377440"/>
            <a:ext cx="3291480" cy="76788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Maintain backup dealers</a:t>
            </a:r>
            <a:endParaRPr sz="1800">
              <a:solidFill>
                <a:schemeClr val="dk1"/>
              </a:solidFill>
              <a:latin typeface="Calibri"/>
              <a:ea typeface="Calibri"/>
              <a:cs typeface="Calibri"/>
              <a:sym typeface="Calibri"/>
            </a:endParaRPr>
          </a:p>
        </p:txBody>
      </p:sp>
      <p:sp>
        <p:nvSpPr>
          <p:cNvPr id="424" name="Google Shape;424;p16"/>
          <p:cNvSpPr/>
          <p:nvPr/>
        </p:nvSpPr>
        <p:spPr>
          <a:xfrm>
            <a:off x="594360" y="3145680"/>
            <a:ext cx="3730320" cy="76788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Limited UI polish</a:t>
            </a:r>
            <a:endParaRPr sz="1800">
              <a:solidFill>
                <a:schemeClr val="dk1"/>
              </a:solidFill>
              <a:latin typeface="Calibri"/>
              <a:ea typeface="Calibri"/>
              <a:cs typeface="Calibri"/>
              <a:sym typeface="Calibri"/>
            </a:endParaRPr>
          </a:p>
        </p:txBody>
      </p:sp>
      <p:sp>
        <p:nvSpPr>
          <p:cNvPr id="425" name="Google Shape;425;p16"/>
          <p:cNvSpPr/>
          <p:nvPr/>
        </p:nvSpPr>
        <p:spPr>
          <a:xfrm>
            <a:off x="4325040" y="3145680"/>
            <a:ext cx="1974600" cy="76788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Low</a:t>
            </a:r>
            <a:endParaRPr sz="1800">
              <a:solidFill>
                <a:schemeClr val="dk1"/>
              </a:solidFill>
              <a:latin typeface="Calibri"/>
              <a:ea typeface="Calibri"/>
              <a:cs typeface="Calibri"/>
              <a:sym typeface="Calibri"/>
            </a:endParaRPr>
          </a:p>
        </p:txBody>
      </p:sp>
      <p:sp>
        <p:nvSpPr>
          <p:cNvPr id="426" name="Google Shape;426;p16"/>
          <p:cNvSpPr/>
          <p:nvPr/>
        </p:nvSpPr>
        <p:spPr>
          <a:xfrm>
            <a:off x="6300360" y="3145680"/>
            <a:ext cx="1974600" cy="76788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High</a:t>
            </a:r>
            <a:endParaRPr sz="1800">
              <a:solidFill>
                <a:schemeClr val="dk1"/>
              </a:solidFill>
              <a:latin typeface="Calibri"/>
              <a:ea typeface="Calibri"/>
              <a:cs typeface="Calibri"/>
              <a:sym typeface="Calibri"/>
            </a:endParaRPr>
          </a:p>
        </p:txBody>
      </p:sp>
      <p:sp>
        <p:nvSpPr>
          <p:cNvPr id="427" name="Google Shape;427;p16"/>
          <p:cNvSpPr/>
          <p:nvPr/>
        </p:nvSpPr>
        <p:spPr>
          <a:xfrm>
            <a:off x="8275320" y="3145680"/>
            <a:ext cx="3291480" cy="76788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Improve in next sprint</a:t>
            </a:r>
            <a:endParaRPr sz="1800">
              <a:solidFill>
                <a:schemeClr val="dk1"/>
              </a:solidFill>
              <a:latin typeface="Calibri"/>
              <a:ea typeface="Calibri"/>
              <a:cs typeface="Calibri"/>
              <a:sym typeface="Calibri"/>
            </a:endParaRPr>
          </a:p>
        </p:txBody>
      </p:sp>
      <p:sp>
        <p:nvSpPr>
          <p:cNvPr id="428" name="Google Shape;428;p16"/>
          <p:cNvSpPr/>
          <p:nvPr/>
        </p:nvSpPr>
        <p:spPr>
          <a:xfrm>
            <a:off x="594360" y="3913560"/>
            <a:ext cx="3730320" cy="76788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Network dependency</a:t>
            </a:r>
            <a:endParaRPr sz="1800">
              <a:solidFill>
                <a:schemeClr val="dk1"/>
              </a:solidFill>
              <a:latin typeface="Calibri"/>
              <a:ea typeface="Calibri"/>
              <a:cs typeface="Calibri"/>
              <a:sym typeface="Calibri"/>
            </a:endParaRPr>
          </a:p>
        </p:txBody>
      </p:sp>
      <p:sp>
        <p:nvSpPr>
          <p:cNvPr id="429" name="Google Shape;429;p16"/>
          <p:cNvSpPr/>
          <p:nvPr/>
        </p:nvSpPr>
        <p:spPr>
          <a:xfrm>
            <a:off x="4325040" y="3913560"/>
            <a:ext cx="1974600" cy="76788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Medium</a:t>
            </a:r>
            <a:endParaRPr sz="1800">
              <a:solidFill>
                <a:schemeClr val="dk1"/>
              </a:solidFill>
              <a:latin typeface="Calibri"/>
              <a:ea typeface="Calibri"/>
              <a:cs typeface="Calibri"/>
              <a:sym typeface="Calibri"/>
            </a:endParaRPr>
          </a:p>
        </p:txBody>
      </p:sp>
      <p:sp>
        <p:nvSpPr>
          <p:cNvPr id="430" name="Google Shape;430;p16"/>
          <p:cNvSpPr/>
          <p:nvPr/>
        </p:nvSpPr>
        <p:spPr>
          <a:xfrm>
            <a:off x="6300360" y="3913560"/>
            <a:ext cx="1974600" cy="76788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Low</a:t>
            </a:r>
            <a:endParaRPr b="0" sz="1800" u="none" strike="noStrike">
              <a:solidFill>
                <a:srgbClr val="000000"/>
              </a:solidFill>
              <a:latin typeface="Arial"/>
              <a:ea typeface="Arial"/>
              <a:cs typeface="Arial"/>
              <a:sym typeface="Arial"/>
            </a:endParaRPr>
          </a:p>
        </p:txBody>
      </p:sp>
      <p:sp>
        <p:nvSpPr>
          <p:cNvPr id="431" name="Google Shape;431;p16"/>
          <p:cNvSpPr/>
          <p:nvPr/>
        </p:nvSpPr>
        <p:spPr>
          <a:xfrm>
            <a:off x="8275320" y="3913560"/>
            <a:ext cx="3291480" cy="767880"/>
          </a:xfrm>
          <a:prstGeom prst="rect">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Keep offline demo backup</a:t>
            </a:r>
            <a:endParaRPr sz="1800">
              <a:solidFill>
                <a:schemeClr val="dk1"/>
              </a:solidFill>
              <a:latin typeface="Calibri"/>
              <a:ea typeface="Calibri"/>
              <a:cs typeface="Calibri"/>
              <a:sym typeface="Calibri"/>
            </a:endParaRPr>
          </a:p>
        </p:txBody>
      </p:sp>
      <p:sp>
        <p:nvSpPr>
          <p:cNvPr id="432" name="Google Shape;432;p16"/>
          <p:cNvSpPr/>
          <p:nvPr/>
        </p:nvSpPr>
        <p:spPr>
          <a:xfrm>
            <a:off x="594360" y="6236280"/>
            <a:ext cx="10972440" cy="2739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i="1" lang="en-US" sz="1200" u="none" strike="noStrike">
                <a:solidFill>
                  <a:srgbClr val="6B7280"/>
                </a:solidFill>
                <a:latin typeface="Calibri"/>
                <a:ea typeface="Calibri"/>
                <a:cs typeface="Calibri"/>
                <a:sym typeface="Calibri"/>
              </a:rPr>
              <a:t>Include: data access, safety, privacy, integration, performance, stakeholder approvals.</a:t>
            </a:r>
            <a:endParaRPr b="0" sz="1200" u="none" strike="noStrike">
              <a:solidFill>
                <a:srgbClr val="000000"/>
              </a:solidFill>
              <a:latin typeface="Arial"/>
              <a:ea typeface="Arial"/>
              <a:cs typeface="Arial"/>
              <a:sym typeface="Arial"/>
            </a:endParaRPr>
          </a:p>
        </p:txBody>
      </p:sp>
      <p:sp>
        <p:nvSpPr>
          <p:cNvPr id="433" name="Google Shape;433;p16"/>
          <p:cNvSpPr/>
          <p:nvPr/>
        </p:nvSpPr>
        <p:spPr>
          <a:xfrm>
            <a:off x="0" y="6565320"/>
            <a:ext cx="12191400" cy="29232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434" name="Google Shape;434;p16"/>
          <p:cNvSpPr/>
          <p:nvPr/>
        </p:nvSpPr>
        <p:spPr>
          <a:xfrm>
            <a:off x="594360" y="6620400"/>
            <a:ext cx="11002680" cy="200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000" u="none" strike="noStrike">
                <a:solidFill>
                  <a:srgbClr val="6B7280"/>
                </a:solidFill>
                <a:latin typeface="Calibri"/>
                <a:ea typeface="Calibri"/>
                <a:cs typeface="Calibri"/>
                <a:sym typeface="Calibri"/>
              </a:rPr>
              <a:t>SoI Prototype Stage — Submission Deck</a:t>
            </a:r>
            <a:endParaRPr b="0" sz="1000" u="none" strike="noStrike">
              <a:solidFill>
                <a:srgbClr val="000000"/>
              </a:solidFill>
              <a:latin typeface="Arial"/>
              <a:ea typeface="Arial"/>
              <a:cs typeface="Arial"/>
              <a:sym typeface="Arial"/>
            </a:endParaRPr>
          </a:p>
        </p:txBody>
      </p:sp>
      <p:sp>
        <p:nvSpPr>
          <p:cNvPr id="435" name="Google Shape;435;p16"/>
          <p:cNvSpPr/>
          <p:nvPr/>
        </p:nvSpPr>
        <p:spPr>
          <a:xfrm>
            <a:off x="10853057" y="6620400"/>
            <a:ext cx="743982" cy="21024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19/23</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17"/>
          <p:cNvSpPr/>
          <p:nvPr/>
        </p:nvSpPr>
        <p:spPr>
          <a:xfrm>
            <a:off x="0" y="0"/>
            <a:ext cx="12191400" cy="566640"/>
          </a:xfrm>
          <a:prstGeom prst="rect">
            <a:avLst/>
          </a:prstGeom>
          <a:solidFill>
            <a:srgbClr val="0B2E4A"/>
          </a:solidFill>
          <a:ln cap="flat" cmpd="sng" w="12700">
            <a:solidFill>
              <a:srgbClr val="0B2E4A"/>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442" name="Google Shape;442;p17"/>
          <p:cNvSpPr/>
          <p:nvPr/>
        </p:nvSpPr>
        <p:spPr>
          <a:xfrm>
            <a:off x="0" y="0"/>
            <a:ext cx="145800" cy="566640"/>
          </a:xfrm>
          <a:prstGeom prst="rect">
            <a:avLst/>
          </a:prstGeom>
          <a:solidFill>
            <a:srgbClr val="2F6FB3"/>
          </a:solidFill>
          <a:ln cap="flat" cmpd="sng" w="12700">
            <a:solidFill>
              <a:srgbClr val="2F6FB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443" name="Google Shape;443;p17"/>
          <p:cNvSpPr/>
          <p:nvPr/>
        </p:nvSpPr>
        <p:spPr>
          <a:xfrm>
            <a:off x="594360" y="109800"/>
            <a:ext cx="11002680" cy="319680"/>
          </a:xfrm>
          <a:prstGeom prst="rect">
            <a:avLst/>
          </a:prstGeom>
          <a:noFill/>
          <a:ln>
            <a:noFill/>
          </a:ln>
        </p:spPr>
        <p:txBody>
          <a:bodyPr anchorCtr="0" anchor="ctr" bIns="45000" lIns="90000" spcFirstLastPara="1" rIns="90000" wrap="square" tIns="45000">
            <a:noAutofit/>
          </a:bodyPr>
          <a:lstStyle/>
          <a:p>
            <a:pPr indent="0" lvl="0" marL="0" marR="0" rtl="0" algn="r">
              <a:lnSpc>
                <a:spcPct val="100000"/>
              </a:lnSpc>
              <a:spcBef>
                <a:spcPts val="0"/>
              </a:spcBef>
              <a:spcAft>
                <a:spcPts val="0"/>
              </a:spcAft>
              <a:buNone/>
            </a:pPr>
            <a:r>
              <a:rPr b="1" lang="en-US" sz="1400" u="none" strike="noStrike">
                <a:solidFill>
                  <a:srgbClr val="FFFFFF"/>
                </a:solidFill>
                <a:latin typeface="Calibri"/>
                <a:ea typeface="Calibri"/>
                <a:cs typeface="Calibri"/>
                <a:sym typeface="Calibri"/>
              </a:rPr>
              <a:t>SoI Innovation Pipeline</a:t>
            </a:r>
            <a:endParaRPr b="0" sz="1400" u="none" strike="noStrike">
              <a:solidFill>
                <a:srgbClr val="000000"/>
              </a:solidFill>
              <a:latin typeface="Arial"/>
              <a:ea typeface="Arial"/>
              <a:cs typeface="Arial"/>
              <a:sym typeface="Arial"/>
            </a:endParaRPr>
          </a:p>
        </p:txBody>
      </p:sp>
      <p:sp>
        <p:nvSpPr>
          <p:cNvPr id="444" name="Google Shape;444;p17"/>
          <p:cNvSpPr/>
          <p:nvPr/>
        </p:nvSpPr>
        <p:spPr>
          <a:xfrm>
            <a:off x="594360" y="658440"/>
            <a:ext cx="1919880" cy="292320"/>
          </a:xfrm>
          <a:prstGeom prst="roundRect">
            <a:avLst>
              <a:gd fmla="val 16667" name="adj"/>
            </a:avLst>
          </a:prstGeom>
          <a:solidFill>
            <a:srgbClr val="2F6FB3"/>
          </a:solidFill>
          <a:ln cap="flat" cmpd="sng" w="12700">
            <a:solidFill>
              <a:srgbClr val="2F6FB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445" name="Google Shape;445;p17"/>
          <p:cNvSpPr/>
          <p:nvPr/>
        </p:nvSpPr>
        <p:spPr>
          <a:xfrm>
            <a:off x="594360" y="704160"/>
            <a:ext cx="1919880" cy="2008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200" u="none" strike="noStrike">
                <a:solidFill>
                  <a:srgbClr val="FFFFFF"/>
                </a:solidFill>
                <a:latin typeface="Calibri"/>
                <a:ea typeface="Calibri"/>
                <a:cs typeface="Calibri"/>
                <a:sym typeface="Calibri"/>
              </a:rPr>
              <a:t>DECISION</a:t>
            </a:r>
            <a:endParaRPr b="0" sz="1200" u="none" strike="noStrike">
              <a:solidFill>
                <a:srgbClr val="000000"/>
              </a:solidFill>
              <a:latin typeface="Arial"/>
              <a:ea typeface="Arial"/>
              <a:cs typeface="Arial"/>
              <a:sym typeface="Arial"/>
            </a:endParaRPr>
          </a:p>
        </p:txBody>
      </p:sp>
      <p:sp>
        <p:nvSpPr>
          <p:cNvPr id="446" name="Google Shape;446;p17"/>
          <p:cNvSpPr/>
          <p:nvPr/>
        </p:nvSpPr>
        <p:spPr>
          <a:xfrm>
            <a:off x="594360" y="822960"/>
            <a:ext cx="11002680" cy="5482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3200" u="none" strike="noStrike">
                <a:solidFill>
                  <a:srgbClr val="111827"/>
                </a:solidFill>
                <a:latin typeface="Calibri"/>
                <a:ea typeface="Calibri"/>
                <a:cs typeface="Calibri"/>
                <a:sym typeface="Calibri"/>
              </a:rPr>
              <a:t>Go / Refine / Pivot &amp; Next Steps → MVP</a:t>
            </a:r>
            <a:endParaRPr b="0" sz="3200" u="none" strike="noStrike">
              <a:solidFill>
                <a:srgbClr val="000000"/>
              </a:solidFill>
              <a:latin typeface="Arial"/>
              <a:ea typeface="Arial"/>
              <a:cs typeface="Arial"/>
              <a:sym typeface="Arial"/>
            </a:endParaRPr>
          </a:p>
        </p:txBody>
      </p:sp>
      <p:sp>
        <p:nvSpPr>
          <p:cNvPr id="447" name="Google Shape;447;p17"/>
          <p:cNvSpPr/>
          <p:nvPr/>
        </p:nvSpPr>
        <p:spPr>
          <a:xfrm>
            <a:off x="594360" y="1417320"/>
            <a:ext cx="11002680" cy="3654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600" u="none" strike="noStrike">
                <a:solidFill>
                  <a:srgbClr val="4B5563"/>
                </a:solidFill>
                <a:latin typeface="Calibri"/>
                <a:ea typeface="Calibri"/>
                <a:cs typeface="Calibri"/>
                <a:sym typeface="Calibri"/>
              </a:rPr>
              <a:t>Decision must be tied to evidence (not opinion).</a:t>
            </a:r>
            <a:endParaRPr b="0" sz="1600" u="none" strike="noStrike">
              <a:solidFill>
                <a:srgbClr val="000000"/>
              </a:solidFill>
              <a:latin typeface="Arial"/>
              <a:ea typeface="Arial"/>
              <a:cs typeface="Arial"/>
              <a:sym typeface="Arial"/>
            </a:endParaRPr>
          </a:p>
        </p:txBody>
      </p:sp>
      <p:sp>
        <p:nvSpPr>
          <p:cNvPr id="448" name="Google Shape;448;p17"/>
          <p:cNvSpPr/>
          <p:nvPr/>
        </p:nvSpPr>
        <p:spPr>
          <a:xfrm>
            <a:off x="594360" y="1874520"/>
            <a:ext cx="5668920" cy="4525920"/>
          </a:xfrm>
          <a:prstGeom prst="roundRect">
            <a:avLst>
              <a:gd fmla="val 16667" name="adj"/>
            </a:avLst>
          </a:prstGeom>
          <a:solidFill>
            <a:srgbClr val="FFFFFF"/>
          </a:solidFill>
          <a:ln cap="flat" cmpd="sng" w="12700">
            <a:solidFill>
              <a:srgbClr val="E5E7EB"/>
            </a:solidFill>
            <a:prstDash val="solid"/>
            <a:round/>
            <a:headEnd len="sm" w="sm" type="none"/>
            <a:tailEnd len="sm" w="sm" type="none"/>
          </a:ln>
          <a:effectLst>
            <a:outerShdw blurRad="28080" rotWithShape="0" algn="bl" dir="2700000" dist="19855">
              <a:srgbClr val="000000">
                <a:alpha val="15686"/>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449" name="Google Shape;449;p17"/>
          <p:cNvSpPr/>
          <p:nvPr/>
        </p:nvSpPr>
        <p:spPr>
          <a:xfrm>
            <a:off x="850320" y="2039040"/>
            <a:ext cx="5157000" cy="3196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600" u="none" strike="noStrike">
                <a:solidFill>
                  <a:srgbClr val="111827"/>
                </a:solidFill>
                <a:latin typeface="Calibri"/>
                <a:ea typeface="Calibri"/>
                <a:cs typeface="Calibri"/>
                <a:sym typeface="Calibri"/>
              </a:rPr>
              <a:t>Decision (fill)</a:t>
            </a:r>
            <a:endParaRPr b="0" sz="1600" u="none" strike="noStrike">
              <a:solidFill>
                <a:srgbClr val="000000"/>
              </a:solidFill>
              <a:latin typeface="Arial"/>
              <a:ea typeface="Arial"/>
              <a:cs typeface="Arial"/>
              <a:sym typeface="Arial"/>
            </a:endParaRPr>
          </a:p>
        </p:txBody>
      </p:sp>
      <p:sp>
        <p:nvSpPr>
          <p:cNvPr id="450" name="Google Shape;450;p17"/>
          <p:cNvSpPr/>
          <p:nvPr/>
        </p:nvSpPr>
        <p:spPr>
          <a:xfrm>
            <a:off x="850320" y="2377440"/>
            <a:ext cx="5157000" cy="3849120"/>
          </a:xfrm>
          <a:prstGeom prst="rect">
            <a:avLst/>
          </a:prstGeom>
          <a:noFill/>
          <a:ln>
            <a:noFill/>
          </a:ln>
        </p:spPr>
        <p:txBody>
          <a:bodyPr anchorCtr="0" anchor="t" bIns="45000" lIns="90000" spcFirstLastPara="1" rIns="90000" wrap="square" tIns="45000">
            <a:noAutofit/>
          </a:bodyPr>
          <a:lstStyle/>
          <a:p>
            <a:pPr indent="0" lvl="0" marL="0" marR="0" rtl="0" algn="l">
              <a:lnSpc>
                <a:spcPct val="110000"/>
              </a:lnSpc>
              <a:spcBef>
                <a:spcPts val="0"/>
              </a:spcBef>
              <a:spcAft>
                <a:spcPts val="0"/>
              </a:spcAft>
              <a:buNone/>
            </a:pPr>
            <a:r>
              <a:rPr b="0" lang="en-US" sz="1300" u="none" strike="noStrike">
                <a:solidFill>
                  <a:srgbClr val="4B5563"/>
                </a:solidFill>
                <a:latin typeface="Calibri"/>
                <a:ea typeface="Calibri"/>
                <a:cs typeface="Calibri"/>
                <a:sym typeface="Calibri"/>
              </a:rPr>
              <a:t>Decision: [GO / REFINE &amp; RE-TEST / PIVOT]</a:t>
            </a:r>
            <a:endParaRPr b="0" sz="1300" u="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None/>
            </a:pPr>
            <a:r>
              <a:t/>
            </a:r>
            <a:endParaRPr b="0" sz="1300" u="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None/>
            </a:pPr>
            <a:r>
              <a:rPr b="0" lang="en-US" sz="1300" u="none" strike="noStrike">
                <a:solidFill>
                  <a:srgbClr val="4B5563"/>
                </a:solidFill>
                <a:latin typeface="Calibri"/>
                <a:ea typeface="Calibri"/>
                <a:cs typeface="Calibri"/>
                <a:sym typeface="Calibri"/>
              </a:rPr>
              <a:t>Rationale (tie to metrics):</a:t>
            </a:r>
            <a:endParaRPr b="0" sz="1300" u="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None/>
            </a:pPr>
            <a:r>
              <a:rPr lang="en-US" sz="1300">
                <a:solidFill>
                  <a:srgbClr val="4B5563"/>
                </a:solidFill>
                <a:latin typeface="Calibri"/>
                <a:ea typeface="Calibri"/>
                <a:cs typeface="Calibri"/>
                <a:sym typeface="Calibri"/>
              </a:rPr>
              <a:t>• End-to-end workflow validated</a:t>
            </a:r>
            <a:br>
              <a:rPr lang="en-US" sz="1300">
                <a:solidFill>
                  <a:schemeClr val="dk1"/>
                </a:solidFill>
                <a:latin typeface="Calibri"/>
                <a:ea typeface="Calibri"/>
                <a:cs typeface="Calibri"/>
                <a:sym typeface="Calibri"/>
              </a:rPr>
            </a:br>
            <a:r>
              <a:rPr lang="en-US" sz="1300">
                <a:solidFill>
                  <a:srgbClr val="4B5563"/>
                </a:solidFill>
                <a:latin typeface="Calibri"/>
                <a:ea typeface="Calibri"/>
                <a:cs typeface="Calibri"/>
                <a:sym typeface="Calibri"/>
              </a:rPr>
              <a:t> • Positive pilot feedback</a:t>
            </a:r>
            <a:br>
              <a:rPr lang="en-US" sz="1300">
                <a:solidFill>
                  <a:schemeClr val="dk1"/>
                </a:solidFill>
                <a:latin typeface="Calibri"/>
                <a:ea typeface="Calibri"/>
                <a:cs typeface="Calibri"/>
                <a:sym typeface="Calibri"/>
              </a:rPr>
            </a:br>
            <a:r>
              <a:rPr lang="en-US" sz="1300">
                <a:solidFill>
                  <a:srgbClr val="4B5563"/>
                </a:solidFill>
                <a:latin typeface="Calibri"/>
                <a:ea typeface="Calibri"/>
                <a:cs typeface="Calibri"/>
                <a:sym typeface="Calibri"/>
              </a:rPr>
              <a:t> • Dealer collaboration confirmed</a:t>
            </a:r>
            <a:endParaRPr/>
          </a:p>
          <a:p>
            <a:pPr indent="0" lvl="0" marL="0" marR="0" rtl="0" algn="l">
              <a:lnSpc>
                <a:spcPct val="110000"/>
              </a:lnSpc>
              <a:spcBef>
                <a:spcPts val="0"/>
              </a:spcBef>
              <a:spcAft>
                <a:spcPts val="0"/>
              </a:spcAft>
              <a:buNone/>
            </a:pPr>
            <a:r>
              <a:t/>
            </a:r>
            <a:endParaRPr sz="1300">
              <a:solidFill>
                <a:srgbClr val="4B5563"/>
              </a:solidFill>
              <a:latin typeface="Calibri"/>
              <a:ea typeface="Calibri"/>
              <a:cs typeface="Calibri"/>
              <a:sym typeface="Calibri"/>
            </a:endParaRPr>
          </a:p>
          <a:p>
            <a:pPr indent="0" lvl="0" marL="0" marR="0" rtl="0" algn="l">
              <a:spcBef>
                <a:spcPts val="0"/>
              </a:spcBef>
              <a:spcAft>
                <a:spcPts val="0"/>
              </a:spcAft>
              <a:buNone/>
            </a:pPr>
            <a:r>
              <a:rPr lang="en-US" sz="1300">
                <a:solidFill>
                  <a:srgbClr val="4B5563"/>
                </a:solidFill>
                <a:latin typeface="Calibri"/>
                <a:ea typeface="Calibri"/>
                <a:cs typeface="Calibri"/>
                <a:sym typeface="Calibri"/>
              </a:rPr>
              <a:t>1.</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300">
                <a:solidFill>
                  <a:srgbClr val="4B5563"/>
                </a:solidFill>
                <a:latin typeface="Calibri"/>
                <a:ea typeface="Calibri"/>
                <a:cs typeface="Calibri"/>
                <a:sym typeface="Calibri"/>
              </a:rPr>
              <a:t>≥70% users completed at least one peer session successfully.</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300">
                <a:solidFill>
                  <a:srgbClr val="4B5563"/>
                </a:solidFill>
                <a:latin typeface="Calibri"/>
                <a:ea typeface="Calibri"/>
                <a:cs typeface="Calibri"/>
                <a:sym typeface="Calibri"/>
              </a:rPr>
              <a:t>2. Average session rating ≥4/5 from pilot users.</a:t>
            </a:r>
            <a:endParaRPr sz="1800">
              <a:solidFill>
                <a:schemeClr val="dk1"/>
              </a:solidFill>
              <a:latin typeface="Calibri"/>
              <a:ea typeface="Calibri"/>
              <a:cs typeface="Calibri"/>
              <a:sym typeface="Calibri"/>
            </a:endParaRPr>
          </a:p>
          <a:p>
            <a:pPr indent="0" lvl="0" marL="0" marR="0" rtl="0" algn="l">
              <a:lnSpc>
                <a:spcPct val="110000"/>
              </a:lnSpc>
              <a:spcBef>
                <a:spcPts val="0"/>
              </a:spcBef>
              <a:spcAft>
                <a:spcPts val="0"/>
              </a:spcAft>
              <a:buNone/>
            </a:pPr>
            <a:r>
              <a:rPr lang="en-US" sz="1300">
                <a:solidFill>
                  <a:srgbClr val="4B5563"/>
                </a:solidFill>
                <a:latin typeface="Calibri"/>
                <a:ea typeface="Calibri"/>
                <a:cs typeface="Calibri"/>
                <a:sym typeface="Calibri"/>
              </a:rPr>
              <a:t>3. Matching and session flow worked with &lt;5% technical issues.</a:t>
            </a:r>
            <a:endParaRPr sz="1800">
              <a:solidFill>
                <a:schemeClr val="dk1"/>
              </a:solidFill>
              <a:latin typeface="Calibri"/>
              <a:ea typeface="Calibri"/>
              <a:cs typeface="Calibri"/>
              <a:sym typeface="Calibri"/>
            </a:endParaRPr>
          </a:p>
        </p:txBody>
      </p:sp>
      <p:sp>
        <p:nvSpPr>
          <p:cNvPr id="451" name="Google Shape;451;p17"/>
          <p:cNvSpPr/>
          <p:nvPr/>
        </p:nvSpPr>
        <p:spPr>
          <a:xfrm>
            <a:off x="6537960" y="1874520"/>
            <a:ext cx="5348880" cy="4525920"/>
          </a:xfrm>
          <a:prstGeom prst="roundRect">
            <a:avLst>
              <a:gd fmla="val 16667" name="adj"/>
            </a:avLst>
          </a:prstGeom>
          <a:solidFill>
            <a:srgbClr val="FFFFFF"/>
          </a:solidFill>
          <a:ln cap="flat" cmpd="sng" w="12700">
            <a:solidFill>
              <a:srgbClr val="E5E7EB"/>
            </a:solidFill>
            <a:prstDash val="solid"/>
            <a:round/>
            <a:headEnd len="sm" w="sm" type="none"/>
            <a:tailEnd len="sm" w="sm" type="none"/>
          </a:ln>
          <a:effectLst>
            <a:outerShdw blurRad="28080" rotWithShape="0" algn="bl" dir="2700000" dist="19855">
              <a:srgbClr val="000000">
                <a:alpha val="15686"/>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452" name="Google Shape;452;p17"/>
          <p:cNvSpPr/>
          <p:nvPr/>
        </p:nvSpPr>
        <p:spPr>
          <a:xfrm>
            <a:off x="6793920" y="2039040"/>
            <a:ext cx="4836960" cy="3196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600" u="none" strike="noStrike">
                <a:solidFill>
                  <a:srgbClr val="111827"/>
                </a:solidFill>
                <a:latin typeface="Calibri"/>
                <a:ea typeface="Calibri"/>
                <a:cs typeface="Calibri"/>
                <a:sym typeface="Calibri"/>
              </a:rPr>
              <a:t>Next steps toward MVP (not MVP itself)</a:t>
            </a:r>
            <a:endParaRPr b="0" sz="1600" u="none" strike="noStrike">
              <a:solidFill>
                <a:srgbClr val="000000"/>
              </a:solidFill>
              <a:latin typeface="Arial"/>
              <a:ea typeface="Arial"/>
              <a:cs typeface="Arial"/>
              <a:sym typeface="Arial"/>
            </a:endParaRPr>
          </a:p>
        </p:txBody>
      </p:sp>
      <p:sp>
        <p:nvSpPr>
          <p:cNvPr id="453" name="Google Shape;453;p17"/>
          <p:cNvSpPr/>
          <p:nvPr/>
        </p:nvSpPr>
        <p:spPr>
          <a:xfrm>
            <a:off x="6793920" y="2377440"/>
            <a:ext cx="4836960" cy="3849120"/>
          </a:xfrm>
          <a:prstGeom prst="rect">
            <a:avLst/>
          </a:prstGeom>
          <a:noFill/>
          <a:ln>
            <a:noFill/>
          </a:ln>
        </p:spPr>
        <p:txBody>
          <a:bodyPr anchorCtr="0" anchor="t" bIns="45000" lIns="90000" spcFirstLastPara="1" rIns="90000" wrap="square" tIns="45000">
            <a:noAutofit/>
          </a:bodyPr>
          <a:lstStyle/>
          <a:p>
            <a:pPr indent="0" lvl="0" marL="0" marR="0" rtl="0" algn="l">
              <a:lnSpc>
                <a:spcPct val="110000"/>
              </a:lnSpc>
              <a:spcBef>
                <a:spcPts val="0"/>
              </a:spcBef>
              <a:spcAft>
                <a:spcPts val="0"/>
              </a:spcAft>
              <a:buNone/>
            </a:pPr>
            <a:r>
              <a:t/>
            </a:r>
            <a:endParaRPr b="0" sz="1300" u="none" strike="noStrike">
              <a:solidFill>
                <a:srgbClr val="4B5563"/>
              </a:solidFill>
              <a:latin typeface="Calibri"/>
              <a:ea typeface="Calibri"/>
              <a:cs typeface="Calibri"/>
              <a:sym typeface="Calibri"/>
            </a:endParaRPr>
          </a:p>
          <a:p>
            <a:pPr indent="0" lvl="0" marL="0" marR="0" rtl="0" algn="l">
              <a:spcBef>
                <a:spcPts val="0"/>
              </a:spcBef>
              <a:spcAft>
                <a:spcPts val="0"/>
              </a:spcAft>
              <a:buNone/>
            </a:pPr>
            <a:r>
              <a:rPr lang="en-US" sz="1300">
                <a:solidFill>
                  <a:srgbClr val="000000"/>
                </a:solidFill>
                <a:latin typeface="Calibri"/>
                <a:ea typeface="Calibri"/>
                <a:cs typeface="Calibri"/>
                <a:sym typeface="Calibri"/>
              </a:rPr>
              <a:t>List top 3 tasks you must complete before a real user pilot:</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300">
                <a:solidFill>
                  <a:srgbClr val="000000"/>
                </a:solidFill>
                <a:latin typeface="Calibri"/>
                <a:ea typeface="Calibri"/>
                <a:cs typeface="Calibri"/>
                <a:sym typeface="Calibri"/>
              </a:rPr>
              <a:t>1) Improve peer-matching algorithm based on skill level and feedback.</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300">
                <a:solidFill>
                  <a:srgbClr val="000000"/>
                </a:solidFill>
                <a:latin typeface="Calibri"/>
                <a:ea typeface="Calibri"/>
                <a:cs typeface="Calibri"/>
                <a:sym typeface="Calibri"/>
              </a:rPr>
              <a:t>2) Add basic moderation, reporting, and user verification features.</a:t>
            </a:r>
            <a:endParaRPr sz="1800">
              <a:solidFill>
                <a:schemeClr val="dk1"/>
              </a:solidFill>
              <a:latin typeface="Calibri"/>
              <a:ea typeface="Calibri"/>
              <a:cs typeface="Calibri"/>
              <a:sym typeface="Calibri"/>
            </a:endParaRPr>
          </a:p>
          <a:p>
            <a:pPr indent="0" lvl="0" marL="0" marR="0" rtl="0" algn="l">
              <a:lnSpc>
                <a:spcPct val="110000"/>
              </a:lnSpc>
              <a:spcBef>
                <a:spcPts val="0"/>
              </a:spcBef>
              <a:spcAft>
                <a:spcPts val="0"/>
              </a:spcAft>
              <a:buNone/>
            </a:pPr>
            <a:r>
              <a:rPr lang="en-US" sz="1300">
                <a:solidFill>
                  <a:srgbClr val="000000"/>
                </a:solidFill>
                <a:latin typeface="Calibri"/>
                <a:ea typeface="Calibri"/>
                <a:cs typeface="Calibri"/>
                <a:sym typeface="Calibri"/>
              </a:rPr>
              <a:t>3) Run a controlled pilot with 50–100 real users</a:t>
            </a:r>
            <a:endParaRPr sz="1800">
              <a:solidFill>
                <a:schemeClr val="dk1"/>
              </a:solidFill>
              <a:latin typeface="Calibri"/>
              <a:ea typeface="Calibri"/>
              <a:cs typeface="Calibri"/>
              <a:sym typeface="Calibri"/>
            </a:endParaRPr>
          </a:p>
          <a:p>
            <a:pPr indent="0" lvl="0" marL="0" marR="0" rtl="0" algn="l">
              <a:lnSpc>
                <a:spcPct val="110000"/>
              </a:lnSpc>
              <a:spcBef>
                <a:spcPts val="0"/>
              </a:spcBef>
              <a:spcAft>
                <a:spcPts val="0"/>
              </a:spcAft>
              <a:buNone/>
            </a:pPr>
            <a:r>
              <a:t/>
            </a:r>
            <a:endParaRPr sz="1300">
              <a:solidFill>
                <a:srgbClr val="000000"/>
              </a:solidFill>
              <a:latin typeface="Calibri"/>
              <a:ea typeface="Calibri"/>
              <a:cs typeface="Calibri"/>
              <a:sym typeface="Calibri"/>
            </a:endParaRPr>
          </a:p>
          <a:p>
            <a:pPr indent="0" lvl="0" marL="0" marR="0" rtl="0" algn="l">
              <a:lnSpc>
                <a:spcPct val="110000"/>
              </a:lnSpc>
              <a:spcBef>
                <a:spcPts val="0"/>
              </a:spcBef>
              <a:spcAft>
                <a:spcPts val="0"/>
              </a:spcAft>
              <a:buNone/>
            </a:pPr>
            <a:r>
              <a:t/>
            </a:r>
            <a:endParaRPr sz="1300">
              <a:solidFill>
                <a:srgbClr val="000000"/>
              </a:solidFill>
              <a:latin typeface="Calibri"/>
              <a:ea typeface="Calibri"/>
              <a:cs typeface="Calibri"/>
              <a:sym typeface="Calibri"/>
            </a:endParaRPr>
          </a:p>
          <a:p>
            <a:pPr indent="0" lvl="0" marL="0" marR="0" rtl="0" algn="l">
              <a:lnSpc>
                <a:spcPct val="110000"/>
              </a:lnSpc>
              <a:spcBef>
                <a:spcPts val="0"/>
              </a:spcBef>
              <a:spcAft>
                <a:spcPts val="0"/>
              </a:spcAft>
              <a:buNone/>
            </a:pPr>
            <a:r>
              <a:rPr b="0" lang="en-US" sz="1300" u="none" strike="noStrike">
                <a:solidFill>
                  <a:srgbClr val="4B5563"/>
                </a:solidFill>
                <a:latin typeface="Calibri"/>
                <a:ea typeface="Calibri"/>
                <a:cs typeface="Calibri"/>
                <a:sym typeface="Calibri"/>
              </a:rPr>
              <a:t>KPIs to carry forward:</a:t>
            </a:r>
            <a:endParaRPr b="0" sz="1300" u="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None/>
            </a:pPr>
            <a:r>
              <a:rPr lang="en-US" sz="1300">
                <a:solidFill>
                  <a:srgbClr val="4B5563"/>
                </a:solidFill>
                <a:latin typeface="Calibri"/>
                <a:ea typeface="Calibri"/>
                <a:cs typeface="Calibri"/>
                <a:sym typeface="Calibri"/>
              </a:rPr>
              <a:t>• Course completion rate</a:t>
            </a:r>
            <a:br>
              <a:rPr lang="en-US" sz="1300">
                <a:solidFill>
                  <a:schemeClr val="dk1"/>
                </a:solidFill>
                <a:latin typeface="Calibri"/>
                <a:ea typeface="Calibri"/>
                <a:cs typeface="Calibri"/>
                <a:sym typeface="Calibri"/>
              </a:rPr>
            </a:br>
            <a:r>
              <a:rPr lang="en-US" sz="1300">
                <a:solidFill>
                  <a:srgbClr val="4B5563"/>
                </a:solidFill>
                <a:latin typeface="Calibri"/>
                <a:ea typeface="Calibri"/>
                <a:cs typeface="Calibri"/>
                <a:sym typeface="Calibri"/>
              </a:rPr>
              <a:t> • Dealer conversion rate</a:t>
            </a:r>
            <a:br>
              <a:rPr lang="en-US" sz="1300">
                <a:solidFill>
                  <a:schemeClr val="dk1"/>
                </a:solidFill>
                <a:latin typeface="Calibri"/>
                <a:ea typeface="Calibri"/>
                <a:cs typeface="Calibri"/>
                <a:sym typeface="Calibri"/>
              </a:rPr>
            </a:br>
            <a:r>
              <a:rPr lang="en-US" sz="1300">
                <a:solidFill>
                  <a:srgbClr val="4B5563"/>
                </a:solidFill>
                <a:latin typeface="Calibri"/>
                <a:ea typeface="Calibri"/>
                <a:cs typeface="Calibri"/>
                <a:sym typeface="Calibri"/>
              </a:rPr>
              <a:t> • User satisfaction score</a:t>
            </a:r>
            <a:endParaRPr b="1" sz="1800">
              <a:solidFill>
                <a:schemeClr val="dk1"/>
              </a:solidFill>
              <a:latin typeface="Calibri"/>
              <a:ea typeface="Calibri"/>
              <a:cs typeface="Calibri"/>
              <a:sym typeface="Calibri"/>
            </a:endParaRPr>
          </a:p>
        </p:txBody>
      </p:sp>
      <p:sp>
        <p:nvSpPr>
          <p:cNvPr id="454" name="Google Shape;454;p17"/>
          <p:cNvSpPr/>
          <p:nvPr/>
        </p:nvSpPr>
        <p:spPr>
          <a:xfrm>
            <a:off x="594360" y="6236280"/>
            <a:ext cx="10972440" cy="2739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i="1" lang="en-US" sz="1100" u="none" strike="noStrike">
                <a:solidFill>
                  <a:srgbClr val="6B7280"/>
                </a:solidFill>
                <a:latin typeface="Calibri"/>
                <a:ea typeface="Calibri"/>
                <a:cs typeface="Calibri"/>
                <a:sym typeface="Calibri"/>
              </a:rPr>
              <a:t>Reminder: MVP stage = real end-user pilot + feedback loops. Prototype stage focuses on integration + controlled usability checks.</a:t>
            </a:r>
            <a:endParaRPr b="0" sz="1100" u="none" strike="noStrike">
              <a:solidFill>
                <a:srgbClr val="000000"/>
              </a:solidFill>
              <a:latin typeface="Arial"/>
              <a:ea typeface="Arial"/>
              <a:cs typeface="Arial"/>
              <a:sym typeface="Arial"/>
            </a:endParaRPr>
          </a:p>
        </p:txBody>
      </p:sp>
      <p:sp>
        <p:nvSpPr>
          <p:cNvPr id="455" name="Google Shape;455;p17"/>
          <p:cNvSpPr/>
          <p:nvPr/>
        </p:nvSpPr>
        <p:spPr>
          <a:xfrm>
            <a:off x="0" y="6565320"/>
            <a:ext cx="12191400" cy="29232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456" name="Google Shape;456;p17"/>
          <p:cNvSpPr/>
          <p:nvPr/>
        </p:nvSpPr>
        <p:spPr>
          <a:xfrm>
            <a:off x="594360" y="6620400"/>
            <a:ext cx="11002680" cy="200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000" u="none" strike="noStrike">
                <a:solidFill>
                  <a:srgbClr val="6B7280"/>
                </a:solidFill>
                <a:latin typeface="Calibri"/>
                <a:ea typeface="Calibri"/>
                <a:cs typeface="Calibri"/>
                <a:sym typeface="Calibri"/>
              </a:rPr>
              <a:t>SoI Prototype Stage — Submission Deck</a:t>
            </a:r>
            <a:endParaRPr b="0" sz="1000" u="none" strike="noStrike">
              <a:solidFill>
                <a:srgbClr val="000000"/>
              </a:solidFill>
              <a:latin typeface="Arial"/>
              <a:ea typeface="Arial"/>
              <a:cs typeface="Arial"/>
              <a:sym typeface="Arial"/>
            </a:endParaRPr>
          </a:p>
        </p:txBody>
      </p:sp>
      <p:sp>
        <p:nvSpPr>
          <p:cNvPr id="457" name="Google Shape;457;p17"/>
          <p:cNvSpPr/>
          <p:nvPr/>
        </p:nvSpPr>
        <p:spPr>
          <a:xfrm>
            <a:off x="10874828" y="6620400"/>
            <a:ext cx="722211" cy="23760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20/23</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8"/>
          <p:cNvSpPr/>
          <p:nvPr/>
        </p:nvSpPr>
        <p:spPr>
          <a:xfrm>
            <a:off x="0" y="0"/>
            <a:ext cx="12191400" cy="566640"/>
          </a:xfrm>
          <a:prstGeom prst="rect">
            <a:avLst/>
          </a:prstGeom>
          <a:solidFill>
            <a:srgbClr val="0B2E4A"/>
          </a:solidFill>
          <a:ln cap="flat" cmpd="sng" w="12700">
            <a:solidFill>
              <a:srgbClr val="0B2E4A"/>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464" name="Google Shape;464;p18"/>
          <p:cNvSpPr/>
          <p:nvPr/>
        </p:nvSpPr>
        <p:spPr>
          <a:xfrm>
            <a:off x="0" y="0"/>
            <a:ext cx="145800" cy="566640"/>
          </a:xfrm>
          <a:prstGeom prst="rect">
            <a:avLst/>
          </a:prstGeom>
          <a:solidFill>
            <a:srgbClr val="2F6FB3"/>
          </a:solidFill>
          <a:ln cap="flat" cmpd="sng" w="12700">
            <a:solidFill>
              <a:srgbClr val="2F6FB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465" name="Google Shape;465;p18"/>
          <p:cNvSpPr/>
          <p:nvPr/>
        </p:nvSpPr>
        <p:spPr>
          <a:xfrm>
            <a:off x="594360" y="109800"/>
            <a:ext cx="11002680" cy="319680"/>
          </a:xfrm>
          <a:prstGeom prst="rect">
            <a:avLst/>
          </a:prstGeom>
          <a:noFill/>
          <a:ln>
            <a:noFill/>
          </a:ln>
        </p:spPr>
        <p:txBody>
          <a:bodyPr anchorCtr="0" anchor="ctr" bIns="45000" lIns="90000" spcFirstLastPara="1" rIns="90000" wrap="square" tIns="45000">
            <a:noAutofit/>
          </a:bodyPr>
          <a:lstStyle/>
          <a:p>
            <a:pPr indent="0" lvl="0" marL="0" marR="0" rtl="0" algn="r">
              <a:lnSpc>
                <a:spcPct val="100000"/>
              </a:lnSpc>
              <a:spcBef>
                <a:spcPts val="0"/>
              </a:spcBef>
              <a:spcAft>
                <a:spcPts val="0"/>
              </a:spcAft>
              <a:buNone/>
            </a:pPr>
            <a:r>
              <a:rPr b="1" lang="en-US" sz="1400" u="none" strike="noStrike">
                <a:solidFill>
                  <a:srgbClr val="FFFFFF"/>
                </a:solidFill>
                <a:latin typeface="Calibri"/>
                <a:ea typeface="Calibri"/>
                <a:cs typeface="Calibri"/>
                <a:sym typeface="Calibri"/>
              </a:rPr>
              <a:t>SoI Innovation Pipeline</a:t>
            </a:r>
            <a:endParaRPr b="0" sz="1400" u="none" strike="noStrike">
              <a:solidFill>
                <a:srgbClr val="000000"/>
              </a:solidFill>
              <a:latin typeface="Arial"/>
              <a:ea typeface="Arial"/>
              <a:cs typeface="Arial"/>
              <a:sym typeface="Arial"/>
            </a:endParaRPr>
          </a:p>
        </p:txBody>
      </p:sp>
      <p:sp>
        <p:nvSpPr>
          <p:cNvPr id="466" name="Google Shape;466;p18"/>
          <p:cNvSpPr/>
          <p:nvPr/>
        </p:nvSpPr>
        <p:spPr>
          <a:xfrm>
            <a:off x="594360" y="658440"/>
            <a:ext cx="1919880" cy="292320"/>
          </a:xfrm>
          <a:prstGeom prst="roundRect">
            <a:avLst>
              <a:gd fmla="val 16667" name="adj"/>
            </a:avLst>
          </a:prstGeom>
          <a:solidFill>
            <a:srgbClr val="2F6FB3"/>
          </a:solidFill>
          <a:ln cap="flat" cmpd="sng" w="12700">
            <a:solidFill>
              <a:srgbClr val="2F6FB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467" name="Google Shape;467;p18"/>
          <p:cNvSpPr/>
          <p:nvPr/>
        </p:nvSpPr>
        <p:spPr>
          <a:xfrm>
            <a:off x="594360" y="704160"/>
            <a:ext cx="1919880" cy="2008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200" u="none" strike="noStrike">
                <a:solidFill>
                  <a:srgbClr val="FFFFFF"/>
                </a:solidFill>
                <a:latin typeface="Calibri"/>
                <a:ea typeface="Calibri"/>
                <a:cs typeface="Calibri"/>
                <a:sym typeface="Calibri"/>
              </a:rPr>
              <a:t>REFS</a:t>
            </a:r>
            <a:endParaRPr b="0" sz="1200" u="none" strike="noStrike">
              <a:solidFill>
                <a:srgbClr val="000000"/>
              </a:solidFill>
              <a:latin typeface="Arial"/>
              <a:ea typeface="Arial"/>
              <a:cs typeface="Arial"/>
              <a:sym typeface="Arial"/>
            </a:endParaRPr>
          </a:p>
        </p:txBody>
      </p:sp>
      <p:sp>
        <p:nvSpPr>
          <p:cNvPr id="468" name="Google Shape;468;p18"/>
          <p:cNvSpPr/>
          <p:nvPr/>
        </p:nvSpPr>
        <p:spPr>
          <a:xfrm>
            <a:off x="594360" y="822960"/>
            <a:ext cx="11002680" cy="5482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3200" u="none" strike="noStrike">
                <a:solidFill>
                  <a:srgbClr val="111827"/>
                </a:solidFill>
                <a:latin typeface="Calibri"/>
                <a:ea typeface="Calibri"/>
                <a:cs typeface="Calibri"/>
                <a:sym typeface="Calibri"/>
              </a:rPr>
              <a:t>References</a:t>
            </a:r>
            <a:endParaRPr b="0" sz="3200" u="none" strike="noStrike">
              <a:solidFill>
                <a:srgbClr val="000000"/>
              </a:solidFill>
              <a:latin typeface="Arial"/>
              <a:ea typeface="Arial"/>
              <a:cs typeface="Arial"/>
              <a:sym typeface="Arial"/>
            </a:endParaRPr>
          </a:p>
        </p:txBody>
      </p:sp>
      <p:sp>
        <p:nvSpPr>
          <p:cNvPr id="469" name="Google Shape;469;p18"/>
          <p:cNvSpPr/>
          <p:nvPr/>
        </p:nvSpPr>
        <p:spPr>
          <a:xfrm>
            <a:off x="594360" y="1417320"/>
            <a:ext cx="11002680" cy="3654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600" u="none" strike="noStrike">
                <a:solidFill>
                  <a:srgbClr val="4B5563"/>
                </a:solidFill>
                <a:latin typeface="Calibri"/>
                <a:ea typeface="Calibri"/>
                <a:cs typeface="Calibri"/>
                <a:sym typeface="Calibri"/>
              </a:rPr>
              <a:t>Cite datasets, papers, APIs, libraries, and external assets.</a:t>
            </a:r>
            <a:endParaRPr b="0" sz="1600" u="none" strike="noStrike">
              <a:solidFill>
                <a:srgbClr val="000000"/>
              </a:solidFill>
              <a:latin typeface="Arial"/>
              <a:ea typeface="Arial"/>
              <a:cs typeface="Arial"/>
              <a:sym typeface="Arial"/>
            </a:endParaRPr>
          </a:p>
        </p:txBody>
      </p:sp>
      <p:sp>
        <p:nvSpPr>
          <p:cNvPr id="470" name="Google Shape;470;p18"/>
          <p:cNvSpPr/>
          <p:nvPr/>
        </p:nvSpPr>
        <p:spPr>
          <a:xfrm>
            <a:off x="594360" y="1965960"/>
            <a:ext cx="10972440" cy="4480200"/>
          </a:xfrm>
          <a:prstGeom prst="roundRect">
            <a:avLst>
              <a:gd fmla="val 16667" name="adj"/>
            </a:avLst>
          </a:prstGeom>
          <a:solidFill>
            <a:srgbClr val="F8FAFC"/>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sz="1500">
              <a:solidFill>
                <a:srgbClr val="99C3FF"/>
              </a:solidFill>
              <a:highlight>
                <a:srgbClr val="1F1F1F"/>
              </a:highlight>
              <a:latin typeface="Calibri"/>
              <a:ea typeface="Calibri"/>
              <a:cs typeface="Calibri"/>
              <a:sym typeface="Calibri"/>
            </a:endParaRPr>
          </a:p>
          <a:p>
            <a:pPr indent="0" lvl="0" marL="0" marR="0" rtl="0" algn="l">
              <a:spcBef>
                <a:spcPts val="0"/>
              </a:spcBef>
              <a:spcAft>
                <a:spcPts val="0"/>
              </a:spcAft>
              <a:buNone/>
            </a:pPr>
            <a:r>
              <a:rPr lang="en-US" sz="1800" u="sng">
                <a:solidFill>
                  <a:schemeClr val="hlink"/>
                </a:solidFill>
                <a:latin typeface="Calibri"/>
                <a:ea typeface="Calibri"/>
                <a:cs typeface="Calibri"/>
                <a:sym typeface="Calibri"/>
                <a:hlinkClick r:id="rId3"/>
              </a:rPr>
              <a:t>https://quickbooks.intuit.com/global/resources/starting-a-business/how-to-start-a-business/</a:t>
            </a:r>
            <a:endParaRPr sz="1800">
              <a:solidFill>
                <a:srgbClr val="000000"/>
              </a:solidFill>
              <a:latin typeface="Calibri"/>
              <a:ea typeface="Calibri"/>
              <a:cs typeface="Calibri"/>
              <a:sym typeface="Calibri"/>
            </a:endParaRPr>
          </a:p>
          <a:p>
            <a:pPr indent="0" lvl="0" marL="0" marR="0" rtl="0" algn="l">
              <a:spcBef>
                <a:spcPts val="0"/>
              </a:spcBef>
              <a:spcAft>
                <a:spcPts val="0"/>
              </a:spcAft>
              <a:buNone/>
            </a:pPr>
            <a:r>
              <a:rPr lang="en-US" sz="1800" u="sng">
                <a:solidFill>
                  <a:schemeClr val="hlink"/>
                </a:solidFill>
                <a:latin typeface="Calibri"/>
                <a:ea typeface="Calibri"/>
                <a:cs typeface="Calibri"/>
                <a:sym typeface="Calibri"/>
                <a:hlinkClick r:id="rId4"/>
              </a:rPr>
              <a:t>https://stepbystepbusiness.com/</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1" name="Google Shape;471;p18"/>
          <p:cNvSpPr/>
          <p:nvPr/>
        </p:nvSpPr>
        <p:spPr>
          <a:xfrm>
            <a:off x="777240" y="2075760"/>
            <a:ext cx="10606680" cy="4260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2" name="Google Shape;472;p18"/>
          <p:cNvSpPr/>
          <p:nvPr/>
        </p:nvSpPr>
        <p:spPr>
          <a:xfrm>
            <a:off x="594360" y="6035040"/>
            <a:ext cx="10972440" cy="47520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Example:</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[1] A. Author, “Title,” Source, Year. URL (accessed 2025-12-26).</a:t>
            </a:r>
            <a:endParaRPr/>
          </a:p>
        </p:txBody>
      </p:sp>
      <p:sp>
        <p:nvSpPr>
          <p:cNvPr id="473" name="Google Shape;473;p18"/>
          <p:cNvSpPr/>
          <p:nvPr/>
        </p:nvSpPr>
        <p:spPr>
          <a:xfrm>
            <a:off x="0" y="6565320"/>
            <a:ext cx="12191400" cy="29232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474" name="Google Shape;474;p18"/>
          <p:cNvSpPr/>
          <p:nvPr/>
        </p:nvSpPr>
        <p:spPr>
          <a:xfrm>
            <a:off x="594360" y="6620400"/>
            <a:ext cx="11002680" cy="200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000" u="none" strike="noStrike">
                <a:solidFill>
                  <a:srgbClr val="6B7280"/>
                </a:solidFill>
                <a:latin typeface="Calibri"/>
                <a:ea typeface="Calibri"/>
                <a:cs typeface="Calibri"/>
                <a:sym typeface="Calibri"/>
              </a:rPr>
              <a:t>SoI Prototype Stage — Submission Deck</a:t>
            </a:r>
            <a:endParaRPr b="0" sz="1000" u="none" strike="noStrike">
              <a:solidFill>
                <a:srgbClr val="000000"/>
              </a:solidFill>
              <a:latin typeface="Arial"/>
              <a:ea typeface="Arial"/>
              <a:cs typeface="Arial"/>
              <a:sym typeface="Arial"/>
            </a:endParaRPr>
          </a:p>
        </p:txBody>
      </p:sp>
      <p:sp>
        <p:nvSpPr>
          <p:cNvPr id="475" name="Google Shape;475;p18"/>
          <p:cNvSpPr/>
          <p:nvPr/>
        </p:nvSpPr>
        <p:spPr>
          <a:xfrm>
            <a:off x="10961914" y="6620400"/>
            <a:ext cx="635126" cy="20088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21/23</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